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124799783f4ff8" /><Relationship Type="http://schemas.openxmlformats.org/officeDocument/2006/relationships/extended-properties" Target="/docProps/app.xml" Id="Rac2cc3126a104984" /><Relationship Type="http://schemas.openxmlformats.org/officeDocument/2006/relationships/officeDocument" Target="/ppt/presentation.xml" Id="R2eb740c180324f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a60edd01a741bf"/>
  </p:sldMasterIdLst>
  <p:notesMasterIdLst>
    <p:notesMasterId xmlns:r="http://schemas.openxmlformats.org/officeDocument/2006/relationships" r:id="Rca04b39f5b504146"/>
  </p:notesMasterIdLst>
  <p:sldIdLst>
    <p:sldId xmlns:r="http://schemas.openxmlformats.org/officeDocument/2006/relationships" id="256" r:id="Rd0c5020ba31a457d"/>
    <p:sldId xmlns:r="http://schemas.openxmlformats.org/officeDocument/2006/relationships" id="257" r:id="Re1d8641667504661"/>
    <p:sldId xmlns:r="http://schemas.openxmlformats.org/officeDocument/2006/relationships" id="258" r:id="R4965f12dc41743c2"/>
    <p:sldId xmlns:r="http://schemas.openxmlformats.org/officeDocument/2006/relationships" id="259" r:id="R0a56933d3d174f32"/>
    <p:sldId xmlns:r="http://schemas.openxmlformats.org/officeDocument/2006/relationships" id="260" r:id="Rcb9fa075a7f04e2e"/>
    <p:sldId xmlns:r="http://schemas.openxmlformats.org/officeDocument/2006/relationships" id="261" r:id="R65ba6f08c1644d58"/>
    <p:sldId xmlns:r="http://schemas.openxmlformats.org/officeDocument/2006/relationships" id="262" r:id="R9256fa0bb32147d0"/>
    <p:sldId xmlns:r="http://schemas.openxmlformats.org/officeDocument/2006/relationships" id="263" r:id="R44ea1566eb6a48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5c1eae092b4b6e" /><Relationship Type="http://schemas.openxmlformats.org/officeDocument/2006/relationships/slideMaster" Target="/ppt/slideMasters/slideMaster1.xml" Id="R5ba60edd01a741bf" /><Relationship Type="http://schemas.openxmlformats.org/officeDocument/2006/relationships/notesMaster" Target="/ppt/notesMasters/notesMaster1.xml" Id="Rca04b39f5b504146" /><Relationship Type="http://schemas.openxmlformats.org/officeDocument/2006/relationships/presProps" Target="/ppt/presProps.xml" Id="R1b7d21f2031041db" /><Relationship Type="http://schemas.openxmlformats.org/officeDocument/2006/relationships/tableStyles" Target="/ppt/tableStyles.xml" Id="Ra69c64d6081b46a4" /><Relationship Type="http://schemas.openxmlformats.org/officeDocument/2006/relationships/slide" Target="/ppt/slides/slide1.xml" Id="Rd0c5020ba31a457d" /><Relationship Type="http://schemas.openxmlformats.org/officeDocument/2006/relationships/slide" Target="/ppt/slides/slide2.xml" Id="Re1d8641667504661" /><Relationship Type="http://schemas.openxmlformats.org/officeDocument/2006/relationships/slide" Target="/ppt/slides/slide3.xml" Id="R4965f12dc41743c2" /><Relationship Type="http://schemas.openxmlformats.org/officeDocument/2006/relationships/slide" Target="/ppt/slides/slide4.xml" Id="R0a56933d3d174f32" /><Relationship Type="http://schemas.openxmlformats.org/officeDocument/2006/relationships/slide" Target="/ppt/slides/slide5.xml" Id="Rcb9fa075a7f04e2e" /><Relationship Type="http://schemas.openxmlformats.org/officeDocument/2006/relationships/slide" Target="/ppt/slides/slide6.xml" Id="R65ba6f08c1644d58" /><Relationship Type="http://schemas.openxmlformats.org/officeDocument/2006/relationships/slide" Target="/ppt/slides/slide7.xml" Id="R9256fa0bb32147d0" /><Relationship Type="http://schemas.openxmlformats.org/officeDocument/2006/relationships/slide" Target="/ppt/slides/slide8.xml" Id="R44ea1566eb6a48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b381e6b58a4e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d45c6e13d54e23" /><Relationship Type="http://schemas.openxmlformats.org/officeDocument/2006/relationships/notesMaster" Target="/ppt/notesMasters/notesMaster1.xml" Id="R9eeb81cff47a43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674ae71e474862" /><Relationship Type="http://schemas.openxmlformats.org/officeDocument/2006/relationships/notesMaster" Target="/ppt/notesMasters/notesMaster1.xml" Id="Rd10eb97f7b7c4a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f2eda9227448b3" /><Relationship Type="http://schemas.openxmlformats.org/officeDocument/2006/relationships/notesMaster" Target="/ppt/notesMasters/notesMaster1.xml" Id="Rbdb9ac914db74c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ba344541864517" /><Relationship Type="http://schemas.openxmlformats.org/officeDocument/2006/relationships/notesMaster" Target="/ppt/notesMasters/notesMaster1.xml" Id="Rb7637ece6fb346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fc412eac914b16" /><Relationship Type="http://schemas.openxmlformats.org/officeDocument/2006/relationships/notesMaster" Target="/ppt/notesMasters/notesMaster1.xml" Id="R6b1065fcd9fb4b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728ae417494371" /><Relationship Type="http://schemas.openxmlformats.org/officeDocument/2006/relationships/notesMaster" Target="/ppt/notesMasters/notesMaster1.xml" Id="R50685a86617844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027f6dfeaf48b9" /><Relationship Type="http://schemas.openxmlformats.org/officeDocument/2006/relationships/notesMaster" Target="/ppt/notesMasters/notesMaster1.xml" Id="R8ac28f8a7f594b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ee2f8957064364" /><Relationship Type="http://schemas.openxmlformats.org/officeDocument/2006/relationships/notesMaster" Target="/ppt/notesMasters/notesMaster1.xml" Id="R29dcf28503914e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ea1676ac144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d14413924e4259" /><Relationship Type="http://schemas.openxmlformats.org/officeDocument/2006/relationships/slideLayout" Target="/ppt/slideLayouts/slideLayout1.xml" Id="Re6b603e7c27443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b603e7c27443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7066111804893" /><Relationship Type="http://schemas.openxmlformats.org/officeDocument/2006/relationships/image" Target="/ppt/media/image.jpeg" Id="R4075dfebcff549f3" /><Relationship Type="http://schemas.openxmlformats.org/officeDocument/2006/relationships/notesSlide" Target="/ppt/notesSlides/notesSlide1.xml" Id="R449cc10613ad40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f16171b5449f0" /><Relationship Type="http://schemas.openxmlformats.org/officeDocument/2006/relationships/notesSlide" Target="/ppt/notesSlides/notesSlide2.xml" Id="Re30213b4e41247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d1999b25c41c9" /><Relationship Type="http://schemas.openxmlformats.org/officeDocument/2006/relationships/image" Target="/ppt/media/image2.jpeg" Id="Rfec104f17e794e4d" /><Relationship Type="http://schemas.openxmlformats.org/officeDocument/2006/relationships/image" Target="/ppt/media/image3.jpeg" Id="R24c790e460384b15" /><Relationship Type="http://schemas.openxmlformats.org/officeDocument/2006/relationships/image" Target="/ppt/media/image4.jpeg" Id="R9906d8d70cde48d8" /><Relationship Type="http://schemas.openxmlformats.org/officeDocument/2006/relationships/notesSlide" Target="/ppt/notesSlides/notesSlide3.xml" Id="R728ce90687274a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3607f16234069" /><Relationship Type="http://schemas.openxmlformats.org/officeDocument/2006/relationships/notesSlide" Target="/ppt/notesSlides/notesSlide4.xml" Id="R0ea1ffb8845d40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51fa66a2548dc" /><Relationship Type="http://schemas.openxmlformats.org/officeDocument/2006/relationships/image" Target="/ppt/media/image.png" Id="Re98939517dab4fae" /><Relationship Type="http://schemas.openxmlformats.org/officeDocument/2006/relationships/notesSlide" Target="/ppt/notesSlides/notesSlide5.xml" Id="Rd5bf571430a246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fc660c6464308" /><Relationship Type="http://schemas.openxmlformats.org/officeDocument/2006/relationships/image" Target="/ppt/media/image5.jpeg" Id="Rddf64afe98d944b3" /><Relationship Type="http://schemas.openxmlformats.org/officeDocument/2006/relationships/notesSlide" Target="/ppt/notesSlides/notesSlide6.xml" Id="R1d804d8f33704f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860a943c04c51" /><Relationship Type="http://schemas.openxmlformats.org/officeDocument/2006/relationships/image" Target="/ppt/media/image6.jpeg" Id="Rbc3aab68f76744ed" /><Relationship Type="http://schemas.openxmlformats.org/officeDocument/2006/relationships/notesSlide" Target="/ppt/notesSlides/notesSlide7.xml" Id="Rc8340e81fbd347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7c27cf5ff4642" /><Relationship Type="http://schemas.openxmlformats.org/officeDocument/2006/relationships/notesSlide" Target="/ppt/notesSlides/notesSlide8.xml" Id="Rb75f0d38347c47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5dfebcff549f3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60F14E5E-46E3-4C6E-88A1-B3A4B40B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00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" name="tag">
            <a:extLst xmlns:a="http://schemas.openxmlformats.org/drawingml/2006/main">
              <a:ext uri="{FF2B5EF4-FFF2-40B4-BE49-F238E27FC236}">
                <a16:creationId xmlns:a16="http://schemas.microsoft.com/office/drawing/2014/main" id="{8083FB96-825D-4459-8857-9AD0238B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9525">
            <a:solidFill>
              <a:srgbClr val="E85D2A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E6FD41F-1DA8-48C1-9004-253105AE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框架稿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30E74E1-FEA6-4046-80CB-594EFE43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Inspector 设施运维</a:t>
            </a:r>
          </a:p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AI 辅助闭环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A500ACC-DEF1-46F0-9B64-F61811B8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面向 B 端 AI 产品经理 / 智能楼宇 / 数字孪生岗位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用一个主案例证明：0-1 产品闭环、复杂流程拆解、AI 产品化边界。</a:t>
            </a:r>
          </a:p>
        </p:txBody>
      </p:sp>
      <p:sp>
        <p:nvSpPr>
          <p:cNvPr id="7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661295CA-067E-426B-B266-4130E0AB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7D7C76C-0509-439B-9CA5-3F431B62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场景</a:t>
            </a:r>
          </a:p>
        </p:txBody>
      </p:sp>
      <p:sp>
        <p:nvSpPr>
          <p:cNvPr id="9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7AC42D87-7853-405A-BF53-B0E15120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91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02C063E-1A4C-47FA-A1A1-AE0D07C8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434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底座</a:t>
            </a:r>
          </a:p>
        </p:txBody>
      </p:sp>
      <p:sp>
        <p:nvSpPr>
          <p:cNvPr id="11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790CA130-AECF-424D-9480-3F07660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91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59BBF63-E3BE-4325-99B8-D56A5B3E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434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闭环</a:t>
            </a:r>
          </a:p>
        </p:txBody>
      </p:sp>
      <p:sp>
        <p:nvSpPr>
          <p:cNvPr id="13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CFC118B9-85A1-4CA3-BE6B-91CBB289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91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089A0B6-855A-4CD9-8715-584EDFAB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434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AI</a:t>
            </a:r>
          </a:p>
        </p:txBody>
      </p:sp>
      <p:sp>
        <p:nvSpPr>
          <p:cNvPr id="15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06E9ADCB-1E95-4366-88B8-BA6BCE1D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91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03C88DC-DDAD-4E83-902A-E24F4399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434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验证</a:t>
            </a:r>
          </a:p>
        </p:txBody>
      </p:sp>
      <p:sp>
        <p:nvSpPr>
          <p:cNvPr id="17" name="evidence-slot">
            <a:extLst xmlns:a="http://schemas.openxmlformats.org/drawingml/2006/main">
              <a:ext uri="{FF2B5EF4-FFF2-40B4-BE49-F238E27FC236}">
                <a16:creationId xmlns:a16="http://schemas.microsoft.com/office/drawing/2014/main" id="{90F8D897-C814-4EE7-B3FE-A8A05349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tag">
            <a:extLst xmlns:a="http://schemas.openxmlformats.org/drawingml/2006/main">
              <a:ext uri="{FF2B5EF4-FFF2-40B4-BE49-F238E27FC236}">
                <a16:creationId xmlns:a16="http://schemas.microsoft.com/office/drawing/2014/main" id="{2F5E9F17-0950-4CF0-912F-12EA8897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F"/>
          </a:solidFill>
          <a:ln xmlns:a="http://schemas.openxmlformats.org/drawingml/2006/main" w="9525">
            <a:solidFill>
              <a:srgbClr val="2F5F9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9E48502-6283-40BC-A3BD-A1298482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待补证据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EB1902C-FCB9-4B01-9464-B6CAB58C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封面仍需补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C872D4A-5EDC-4FBD-ADD5-5C3C778F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44196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一句更强的岗位定位；可选：个人姓名/目标岗位，不放公司敏感信息。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567A384-9116-4D2D-900E-EA32EAA6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先看整体感觉：左侧是叙事，右侧是真实产品场景锚点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C2F0F4B-E4AA-44C7-AA87-33B7FB53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38671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B420172-7693-48F2-9D92-D405A72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设施运维的问题不是缺 AI，而是链路断裂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7213894-0778-43DC-8826-E9AEFC7D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这一页要展示你的问题定义能力，不是展示产品功能。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729C593-0244-4FF9-90BD-0B0ECBBB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Inspector 主案例框架稿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BDC44-E4CA-47E1-A521-42746A7C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A83C8838-6700-461F-9811-D4E72712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4572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20FAB3F-A10F-4027-9B73-9BEAA064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Before 流程断点</a:t>
            </a:r>
          </a:p>
        </p:txBody>
      </p:sp>
      <p:sp>
        <p:nvSpPr>
          <p:cNvPr id="7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B72F2467-A1ED-42B0-91C9-48274647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685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AC3E057-EB11-4FC5-A59D-3DFF8759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告警</a:t>
            </a:r>
          </a:p>
        </p:txBody>
      </p:sp>
      <p:sp>
        <p:nvSpPr>
          <p:cNvPr id="9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6E08C63C-4E52-4E3F-80E7-4A98751E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685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657350-21FF-44DC-9195-BA1C552D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查设备</a:t>
            </a:r>
          </a:p>
        </p:txBody>
      </p:sp>
      <p:sp>
        <p:nvSpPr>
          <p:cNvPr id="11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94C5DFD5-EE30-4205-A001-733599F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76500"/>
            <a:ext cx="685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D92DC91-F80B-4BD6-A71A-BD363E12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翻 SOP</a:t>
            </a:r>
          </a:p>
        </p:txBody>
      </p:sp>
      <p:sp>
        <p:nvSpPr>
          <p:cNvPr id="13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11C2EFCC-9B85-4766-805F-C83E2E2A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76500"/>
            <a:ext cx="685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7240131-4395-4E08-B365-83F45EC7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289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问专家</a:t>
            </a:r>
          </a:p>
        </p:txBody>
      </p:sp>
      <p:sp>
        <p:nvSpPr>
          <p:cNvPr id="15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FD289BA0-23EF-4636-98F5-014D76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76500"/>
            <a:ext cx="685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FB0D0B-B34B-45D6-A233-7A1780E9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289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手动建单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9875155-4F1A-47A7-8068-ED2EEA95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上下文分散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责任流转不清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处置经验难沉淀</a:t>
            </a:r>
          </a:p>
        </p:txBody>
      </p:sp>
      <p:sp>
        <p:nvSpPr>
          <p:cNvPr id="18" name="evidence-slot">
            <a:extLst xmlns:a="http://schemas.openxmlformats.org/drawingml/2006/main">
              <a:ext uri="{FF2B5EF4-FFF2-40B4-BE49-F238E27FC236}">
                <a16:creationId xmlns:a16="http://schemas.microsoft.com/office/drawing/2014/main" id="{3907470F-7272-450E-8850-097EA999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581150"/>
            <a:ext cx="27622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tag">
            <a:extLst xmlns:a="http://schemas.openxmlformats.org/drawingml/2006/main">
              <a:ext uri="{FF2B5EF4-FFF2-40B4-BE49-F238E27FC236}">
                <a16:creationId xmlns:a16="http://schemas.microsoft.com/office/drawing/2014/main" id="{EF4AFA27-1FC5-44A4-9825-69288AF2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200"/>
          </a:solidFill>
          <a:ln xmlns:a="http://schemas.openxmlformats.org/drawingml/2006/main" w="9525">
            <a:solidFill>
              <a:srgbClr val="9A6200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F78C50B-6D6F-4D2E-B562-81AC9A63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16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待补证据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E928813-A2DA-484A-8A21-CA62AA4C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955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补：需求拆解片段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650686D-A668-4BB2-AF5C-D0E85B9B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38400"/>
            <a:ext cx="24193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从 PRD 或分析文档截 1 小块：用户角色、痛点、业务断点。不要截整页。</a:t>
            </a:r>
          </a:p>
        </p:txBody>
      </p:sp>
      <p:sp>
        <p:nvSpPr>
          <p:cNvPr id="23" name="evidence-slot">
            <a:extLst xmlns:a="http://schemas.openxmlformats.org/drawingml/2006/main">
              <a:ext uri="{FF2B5EF4-FFF2-40B4-BE49-F238E27FC236}">
                <a16:creationId xmlns:a16="http://schemas.microsoft.com/office/drawing/2014/main" id="{ED35120A-92D0-499C-9466-37DCDE56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81150"/>
            <a:ext cx="27622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tag">
            <a:extLst xmlns:a="http://schemas.openxmlformats.org/drawingml/2006/main">
              <a:ext uri="{FF2B5EF4-FFF2-40B4-BE49-F238E27FC236}">
                <a16:creationId xmlns:a16="http://schemas.microsoft.com/office/drawing/2014/main" id="{DD59AD8A-EBD7-42DF-B9D2-DFE70417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145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F"/>
          </a:solidFill>
          <a:ln xmlns:a="http://schemas.openxmlformats.org/drawingml/2006/main" w="9525">
            <a:solidFill>
              <a:srgbClr val="2F5F9F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73425CE-F6B2-4181-8671-9B1AE3E8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716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待补证据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72AE7E0-C7E3-4C03-BF62-804728B1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补：竞品/行业取舍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09B27C8-E954-4591-815A-F2661DE3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38400"/>
            <a:ext cx="24193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只放结论：为什么不做普通 Chatbot，为什么要放进告警-工单闭环。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FE76420-4198-4ED8-B0EC-6207C48E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灰色区域 = 需要补的过程证据或待重绘图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4EBE718-BB04-4953-83FD-5191A512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177957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ADD6A938-7DE3-45E0-90F2-C61E40CD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产品底座让 AI 和工单不悬空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91B516F-8E57-4D95-8602-B72D10DB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用真实截图证明对象、位置、异常、状态都存在。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E739C57-D613-42CE-84C0-D94B46F9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Inspector 主案例框架稿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2F20B-7E9C-4F77-8591-88BA986F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104f17e794e4d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81150"/>
            <a:ext cx="4762500" cy="26860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790e460384b15"/>
          <a:srcRect xmlns:a="http://schemas.openxmlformats.org/drawingml/2006/main" l="368" t="0" r="3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1581150"/>
            <a:ext cx="2857500" cy="16192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6d8d70cde48d8"/>
          <a:srcRect xmlns:a="http://schemas.openxmlformats.org/drawingml/2006/main" l="368" t="0" r="3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448050"/>
            <a:ext cx="2857500" cy="1619250"/>
          </a:xfrm>
          <a:prstGeom xmlns:a="http://schemas.openxmlformats.org/drawingml/2006/main" prst="rect">
            <a:avLst/>
          </a:prstGeom>
        </p:spPr>
      </p:pic>
      <p:sp>
        <p:nvSpPr>
          <p:cNvPr id="8" name="evidence-slot">
            <a:extLst xmlns:a="http://schemas.openxmlformats.org/drawingml/2006/main">
              <a:ext uri="{FF2B5EF4-FFF2-40B4-BE49-F238E27FC236}">
                <a16:creationId xmlns:a16="http://schemas.microsoft.com/office/drawing/2014/main" id="{A6B29183-9DD0-4B28-AA1C-84A0E507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81150"/>
            <a:ext cx="27051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tag">
            <a:extLst xmlns:a="http://schemas.openxmlformats.org/drawingml/2006/main">
              <a:ext uri="{FF2B5EF4-FFF2-40B4-BE49-F238E27FC236}">
                <a16:creationId xmlns:a16="http://schemas.microsoft.com/office/drawing/2014/main" id="{BF293140-A878-4737-A74D-598052B8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145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200"/>
          </a:solidFill>
          <a:ln xmlns:a="http://schemas.openxmlformats.org/drawingml/2006/main" w="9525">
            <a:solidFill>
              <a:srgbClr val="9A6200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99C37D0-2F02-423E-8DE5-75DECEA4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716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待补证据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2E0DFE6-82AE-418F-BEE2-2FF49831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5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补：信息架构小图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7172B60-2697-45AD-B632-CE4F94A0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38400"/>
            <a:ext cx="2362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资产/设备、3D、告警、工单、知识库之间的关系。建议重绘，不贴复杂原图。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2B2EC37-E1F8-4BAC-908C-B1BB4FCB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能力点：系统化建模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F3DD324-C489-45D7-BD18-9E21443A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不是只做页面，而是把物理空间、设备对象、异常事件组织成可流转的业务上下文。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1B30190-27EB-4E03-868B-B0D7AD8D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灰色区域 = 需要补的过程证据或待重绘图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C6BB086-EADE-4CDB-839B-589ED0EF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9456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DEF15D8-1387-4A09-B1B2-E59D9F9B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核心闭环把截图变成产品经理案例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C7F7EC2-FC8B-4F1B-BC5A-9A2C1542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这一页要让面试官看懂你的端到端链路设计。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8B69D97-F5B1-4FF9-A149-6EF59F2D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Inspector 主案例框架稿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D7B45-5A14-4BE5-82A3-30C825EC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5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795B4BC2-FBCC-445C-96CF-9BD5B402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226344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48D329B-C850-4DE4-956F-1CEB33EF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107394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异常</a:t>
            </a:r>
          </a:p>
        </p:txBody>
      </p:sp>
      <p:sp>
        <p:nvSpPr>
          <p:cNvPr id="7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F0482AF5-A9F9-44ED-9DC4-40706119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244" y="1676400"/>
            <a:ext cx="1226344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D30F6E-CC71-4E13-A39F-D33368D6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444" y="1828800"/>
            <a:ext cx="107394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上下文</a:t>
            </a:r>
          </a:p>
        </p:txBody>
      </p:sp>
      <p:sp>
        <p:nvSpPr>
          <p:cNvPr id="9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12CAF43F-935B-4163-861A-A031D7EA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1226344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BC2B6FD-88CD-429E-B01C-BA843F2C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828800"/>
            <a:ext cx="107394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检索</a:t>
            </a:r>
          </a:p>
        </p:txBody>
      </p:sp>
      <p:sp>
        <p:nvSpPr>
          <p:cNvPr id="11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82B43C41-2239-45B8-B415-814932A5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431" y="1676400"/>
            <a:ext cx="1226344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B0BDBDD-65D5-4148-AFE7-798E6201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631" y="1828800"/>
            <a:ext cx="107394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建议</a:t>
            </a:r>
          </a:p>
        </p:txBody>
      </p:sp>
      <p:sp>
        <p:nvSpPr>
          <p:cNvPr id="13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CE7D084B-8C74-4109-9C04-DDD75172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676400"/>
            <a:ext cx="1226344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52273DF-E7AC-4278-A464-D37AD3C8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828800"/>
            <a:ext cx="107394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确认</a:t>
            </a:r>
          </a:p>
        </p:txBody>
      </p:sp>
      <p:sp>
        <p:nvSpPr>
          <p:cNvPr id="15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87494F53-70AB-43B8-A914-94C2152B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619" y="1676400"/>
            <a:ext cx="1226344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F0FD86A-9C96-4BB2-9A5D-970BD5A1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819" y="1828800"/>
            <a:ext cx="107394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工单</a:t>
            </a:r>
          </a:p>
        </p:txBody>
      </p:sp>
      <p:sp>
        <p:nvSpPr>
          <p:cNvPr id="17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54AEF4D5-E938-4434-B331-1E463AF7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213" y="1676400"/>
            <a:ext cx="1226344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260B270-02FC-4E56-B9EB-F5D6C6C4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13" y="1828800"/>
            <a:ext cx="107394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执行</a:t>
            </a:r>
          </a:p>
        </p:txBody>
      </p:sp>
      <p:sp>
        <p:nvSpPr>
          <p:cNvPr id="19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EEB33DFD-D154-423E-A04F-A64F87E8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806" y="1676400"/>
            <a:ext cx="1226344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C2A3AE9-36BD-4E9C-A533-0B7C9100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006" y="1828800"/>
            <a:ext cx="107394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沉淀</a:t>
            </a:r>
          </a:p>
        </p:txBody>
      </p:sp>
      <p:sp>
        <p:nvSpPr>
          <p:cNvPr id="21" name="evidence-slot">
            <a:extLst xmlns:a="http://schemas.openxmlformats.org/drawingml/2006/main">
              <a:ext uri="{FF2B5EF4-FFF2-40B4-BE49-F238E27FC236}">
                <a16:creationId xmlns:a16="http://schemas.microsoft.com/office/drawing/2014/main" id="{7ED186F0-9833-4499-88A4-1BBF1BB1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tag">
            <a:extLst xmlns:a="http://schemas.openxmlformats.org/drawingml/2006/main">
              <a:ext uri="{FF2B5EF4-FFF2-40B4-BE49-F238E27FC236}">
                <a16:creationId xmlns:a16="http://schemas.microsoft.com/office/drawing/2014/main" id="{7281FD61-DE1C-4FBD-9264-A8AB513D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200"/>
          </a:solidFill>
          <a:ln xmlns:a="http://schemas.openxmlformats.org/drawingml/2006/main" w="9525">
            <a:solidFill>
              <a:srgbClr val="9A6200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600A3CB-A13D-4C5C-8173-C3ED2CEA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待补证据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A6929B3-BD1F-4634-B137-694CA907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补：AI/工单闭环正式图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EEDCCBF-23B6-4275-90E3-5AA04F90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46101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根据现有 Mermaid 草图重绘，突出人工确认闸门和知识沉淀回流。</a:t>
            </a:r>
          </a:p>
        </p:txBody>
      </p:sp>
      <p:sp>
        <p:nvSpPr>
          <p:cNvPr id="26" name="evidence-slot">
            <a:extLst xmlns:a="http://schemas.openxmlformats.org/drawingml/2006/main">
              <a:ext uri="{FF2B5EF4-FFF2-40B4-BE49-F238E27FC236}">
                <a16:creationId xmlns:a16="http://schemas.microsoft.com/office/drawing/2014/main" id="{B519ED58-1E0E-434E-828E-10BE9C90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813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tag">
            <a:extLst xmlns:a="http://schemas.openxmlformats.org/drawingml/2006/main">
              <a:ext uri="{FF2B5EF4-FFF2-40B4-BE49-F238E27FC236}">
                <a16:creationId xmlns:a16="http://schemas.microsoft.com/office/drawing/2014/main" id="{20179834-B132-49C2-9F5F-97ABFCF3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F"/>
          </a:solidFill>
          <a:ln xmlns:a="http://schemas.openxmlformats.org/drawingml/2006/main" w="9525">
            <a:solidFill>
              <a:srgbClr val="2F5F9F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C597387-FA11-414F-9323-A0A53FB3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待补证据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A2047F8-C7A3-40A0-9ADF-DDCE7B1E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补：状态机或异常分支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63194CF-388A-4CF8-A6BF-69811BDE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46101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至少体现退回、改派、完成、验收这类 B 端复杂流程。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BB2C55A-8D05-4FFB-AADA-C2E045E5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我的判断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BED6095-1FD5-41C0-A065-EE662C16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AI 不直接派单或维修，它把分散信息组织成可审核建议，再进入人工确认后的工单流转。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90E601F-37FB-4BF3-8754-DA038FB1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灰色区域 = 需要补的过程证据或待重绘图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1FD5456-5233-4724-BF8A-DA78C1AA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37217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8AE726A8-CAC0-497A-81CD-2EA41E0C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AI 页要讲输入输出和风险边界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FC33D7C-AFBE-4A11-8B43-5BBB6901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单张 AI 截图不够，必须配产品化拆解。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39CDAB6-4201-42A5-8EEE-33B4DCF8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Inspector 主案例框架稿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0F611-B91A-4238-B146-95EC7CF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939517dab4fae"/>
          <a:stretch xmlns:a="http://schemas.openxmlformats.org/drawingml/2006/main"/>
        </p:blipFill>
        <p:spPr>
          <a:xfrm xmlns:a="http://schemas.openxmlformats.org/drawingml/2006/main">
            <a:off x="552450" y="1662113"/>
            <a:ext cx="4572000" cy="2486025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1ACC82F-50CE-4F3D-A350-82BE5E28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现有截图：可作为证据，但不独立承担 AI 产品化证明</a:t>
            </a:r>
          </a:p>
        </p:txBody>
      </p:sp>
      <p:sp>
        <p:nvSpPr>
          <p:cNvPr id="7" name="evidence-slot">
            <a:extLst xmlns:a="http://schemas.openxmlformats.org/drawingml/2006/main">
              <a:ext uri="{FF2B5EF4-FFF2-40B4-BE49-F238E27FC236}">
                <a16:creationId xmlns:a16="http://schemas.microsoft.com/office/drawing/2014/main" id="{CFA1CEBE-4062-4B65-9899-59539C4B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19250"/>
            <a:ext cx="2705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tag">
            <a:extLst xmlns:a="http://schemas.openxmlformats.org/drawingml/2006/main">
              <a:ext uri="{FF2B5EF4-FFF2-40B4-BE49-F238E27FC236}">
                <a16:creationId xmlns:a16="http://schemas.microsoft.com/office/drawing/2014/main" id="{1800FA34-4331-41A8-9F3E-71656F75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526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200"/>
          </a:solidFill>
          <a:ln xmlns:a="http://schemas.openxmlformats.org/drawingml/2006/main" w="9525">
            <a:solidFill>
              <a:srgbClr val="9A6200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80974D-D9AB-4EB8-AADC-BAE77A30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097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待补证据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AA73D99-3283-43A1-91BE-E0D99B1B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336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补：AI 结果卡片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5EC470B-7AEC-4C3E-9F07-02EA50A8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76500"/>
            <a:ext cx="23622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原因、依据、建议、引用来源、风险提示、确认按钮。</a:t>
            </a:r>
          </a:p>
        </p:txBody>
      </p:sp>
      <p:sp>
        <p:nvSpPr>
          <p:cNvPr id="12" name="evidence-slot">
            <a:extLst xmlns:a="http://schemas.openxmlformats.org/drawingml/2006/main">
              <a:ext uri="{FF2B5EF4-FFF2-40B4-BE49-F238E27FC236}">
                <a16:creationId xmlns:a16="http://schemas.microsoft.com/office/drawing/2014/main" id="{80D6FD6E-1A7C-4BCC-B36C-2062DA9A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19250"/>
            <a:ext cx="2705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tag">
            <a:extLst xmlns:a="http://schemas.openxmlformats.org/drawingml/2006/main">
              <a:ext uri="{FF2B5EF4-FFF2-40B4-BE49-F238E27FC236}">
                <a16:creationId xmlns:a16="http://schemas.microsoft.com/office/drawing/2014/main" id="{5C8C1ADE-1C03-48BD-A89C-D24C5914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526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F"/>
          </a:solidFill>
          <a:ln xmlns:a="http://schemas.openxmlformats.org/drawingml/2006/main" w="9525">
            <a:solidFill>
              <a:srgbClr val="2F5F9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D29B4F1-77E6-4E7F-94E9-405D820A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待补证据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BD8186F-6B04-485C-B121-BB3A2EB3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补：输入输出表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EBEA548-23F8-4CBD-A931-6A71EE1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3622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输入：SOP/手册/历史工单/设备/告警；输出：原因、步骤、草稿、风险。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000271E-0F45-43CA-BFDD-E1873FD5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能力点：AI 产品化边界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DDEE983-2F06-4498-9872-E1DF3814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48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你负责定义 AI 在业务流里的位置，而不是声称自己训练模型。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C9BAE1F-E877-4B9C-9AAA-2D2EDFCB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灰色区域 = 需要补的过程证据或待重绘图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A9A224B-D9CE-4959-B612-F3580F9C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5109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D12EB6BB-7EC2-4C75-BCB1-3153A421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工单闭环页最能证明你的产品能力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CF8C29A-EEA6-4A09-97E0-61AA3E79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这一页是样板页：产品截图 + 状态机 + PRD片段 + 取舍。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5CBBEEF-FE06-4292-ACA5-60B16AB4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Inspector 主案例框架稿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62C89-665A-41EB-95C9-2AC183C7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64afe98d944b3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81150"/>
            <a:ext cx="4191000" cy="23622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367BFB1-12CE-477D-97C7-D666D72B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结果截图：告警进入工单任务</a:t>
            </a:r>
          </a:p>
        </p:txBody>
      </p:sp>
      <p:sp>
        <p:nvSpPr>
          <p:cNvPr id="7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868B8F78-0EA1-4BED-95C7-D63F2E51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72151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CC6B8E-E27E-4150-ACCE-6FD8205E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71650"/>
            <a:ext cx="56911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创建</a:t>
            </a:r>
          </a:p>
        </p:txBody>
      </p:sp>
      <p:sp>
        <p:nvSpPr>
          <p:cNvPr id="9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8D8D0081-79DB-449F-8371-0831DB4D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019" y="1619250"/>
            <a:ext cx="72151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C95CB9A-C619-41C6-A2B4-2641349F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219" y="1771650"/>
            <a:ext cx="56911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分派</a:t>
            </a:r>
          </a:p>
        </p:txBody>
      </p:sp>
      <p:sp>
        <p:nvSpPr>
          <p:cNvPr id="11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94EC0683-6CD5-4314-998C-1ABFCFF7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8" y="1619250"/>
            <a:ext cx="72151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CF5431E-580C-460C-AB90-37B02E71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988" y="1771650"/>
            <a:ext cx="56911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执行</a:t>
            </a:r>
          </a:p>
        </p:txBody>
      </p:sp>
      <p:sp>
        <p:nvSpPr>
          <p:cNvPr id="13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53C89BE5-4052-4974-9371-3844256B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556" y="1619250"/>
            <a:ext cx="72151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20DF2CF-211E-4EDE-AFB9-68028F57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756" y="1771650"/>
            <a:ext cx="56911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退回</a:t>
            </a:r>
          </a:p>
        </p:txBody>
      </p:sp>
      <p:sp>
        <p:nvSpPr>
          <p:cNvPr id="15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DF2FA3A7-7D7F-4A00-B84E-2B691ACD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619250"/>
            <a:ext cx="72151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E52C7AC-9D5C-4B07-92F7-DF97C0C5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771650"/>
            <a:ext cx="56911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改派</a:t>
            </a:r>
          </a:p>
        </p:txBody>
      </p:sp>
      <p:sp>
        <p:nvSpPr>
          <p:cNvPr id="17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7B2D2135-121C-4A68-AFFF-C752EACF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094" y="1619250"/>
            <a:ext cx="72151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178A62C-A148-4895-8C74-582EFB44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294" y="1771650"/>
            <a:ext cx="56911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完成</a:t>
            </a:r>
          </a:p>
        </p:txBody>
      </p:sp>
      <p:sp>
        <p:nvSpPr>
          <p:cNvPr id="19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27E70075-6EDE-448A-A159-DEB35D7F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863" y="1619250"/>
            <a:ext cx="72151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803C3D2-B95B-4A30-B337-6FDDE723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063" y="1771650"/>
            <a:ext cx="56911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验收</a:t>
            </a:r>
          </a:p>
        </p:txBody>
      </p:sp>
      <p:sp>
        <p:nvSpPr>
          <p:cNvPr id="21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B1A8C23A-292A-47FA-AAD7-FE36943B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5631" y="1619250"/>
            <a:ext cx="72151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1F6364E-BC08-49B5-AD6B-2CB5F93A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1831" y="1771650"/>
            <a:ext cx="56911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评价</a:t>
            </a:r>
          </a:p>
        </p:txBody>
      </p:sp>
      <p:sp>
        <p:nvSpPr>
          <p:cNvPr id="23" name="evidence-slot">
            <a:extLst xmlns:a="http://schemas.openxmlformats.org/drawingml/2006/main">
              <a:ext uri="{FF2B5EF4-FFF2-40B4-BE49-F238E27FC236}">
                <a16:creationId xmlns:a16="http://schemas.microsoft.com/office/drawing/2014/main" id="{558BA2A6-6753-47B2-9CF1-E23087CB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3840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tag">
            <a:extLst xmlns:a="http://schemas.openxmlformats.org/drawingml/2006/main">
              <a:ext uri="{FF2B5EF4-FFF2-40B4-BE49-F238E27FC236}">
                <a16:creationId xmlns:a16="http://schemas.microsoft.com/office/drawing/2014/main" id="{531D9773-443C-4B11-ABB3-0F29D8F8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200"/>
          </a:solidFill>
          <a:ln xmlns:a="http://schemas.openxmlformats.org/drawingml/2006/main" w="9525">
            <a:solidFill>
              <a:srgbClr val="9A6200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90EF998-23B9-4117-8904-791EAA2B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289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待补证据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AB79551-4BAC-41F4-90F4-A8F1CCD0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527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补：PRD 片段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1A18165-A30E-4D04-96D3-80149A3D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2705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截用户故事/验收标准/字段说明。只要 1 小块，证明你把需求写成可开发规则。</a:t>
            </a:r>
          </a:p>
        </p:txBody>
      </p:sp>
      <p:sp>
        <p:nvSpPr>
          <p:cNvPr id="28" name="evidence-slot">
            <a:extLst xmlns:a="http://schemas.openxmlformats.org/drawingml/2006/main">
              <a:ext uri="{FF2B5EF4-FFF2-40B4-BE49-F238E27FC236}">
                <a16:creationId xmlns:a16="http://schemas.microsoft.com/office/drawing/2014/main" id="{222CE325-6B34-46D5-ABAA-0A8AB8DE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3067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tag">
            <a:extLst xmlns:a="http://schemas.openxmlformats.org/drawingml/2006/main">
              <a:ext uri="{FF2B5EF4-FFF2-40B4-BE49-F238E27FC236}">
                <a16:creationId xmlns:a16="http://schemas.microsoft.com/office/drawing/2014/main" id="{A93505FB-7B40-4D8B-847A-24E1F512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F"/>
          </a:solidFill>
          <a:ln xmlns:a="http://schemas.openxmlformats.org/drawingml/2006/main" w="9525">
            <a:solidFill>
              <a:srgbClr val="2F5F9F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D176D624-65E1-41D2-A7E4-DC178C37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289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待补证据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3836DD1-DF51-4487-A180-97F9556F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补：异常分支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26679C9-BEA3-4149-B167-E38A326F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95650"/>
            <a:ext cx="2724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退回、改派、SLA、评价、移动端/离线执行，任选最能证明复杂度的 1-2 个。</a:t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41D7B674-4DFF-44B5-A5F4-8CB7C9A2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43450"/>
            <a:ext cx="6438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3E66797F-4AAC-40FF-A359-60C65AEC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76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200"/>
                </a:solidFill>
              </a:defRPr>
            </a:pPr>
            <a:r>
              <a:rPr sz="1350" b="1">
                <a:solidFill>
                  <a:srgbClr val="9A6200"/>
                </a:solidFill>
              </a:rPr>
              <a:t>我的取舍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800146C1-9584-4E9A-92A9-277D0497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76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不把告警停留在“看到”，而是进入责任明确、状态可追踪、异常可回退的处置流程。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7DDC96C-350F-46D8-95D2-EE2F416D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优先补这一页的材料，它会立刻把作品集从产品介绍变成能力展示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E41695D8-FD93-43FE-9449-F95FC6BD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10383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D51A1CE4-3462-4911-8513-16F8F809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现场执行页证明闭环没有停在后台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7828FFC-F3B2-4675-9F93-D08A53DC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展示移动端/现场/离线/反馈这些真实执行约束。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B7349B1-533D-48A8-B2FF-47AE3F5D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Inspector 主案例框架稿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79842-008E-4144-9FC3-9C8E36AD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aab68f76744ed"/>
          <a:stretch xmlns:a="http://schemas.openxmlformats.org/drawingml/2006/main"/>
        </p:blipFill>
        <p:spPr>
          <a:xfrm xmlns:a="http://schemas.openxmlformats.org/drawingml/2006/main">
            <a:off x="742950" y="2227659"/>
            <a:ext cx="3390900" cy="1907381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3A2C177-A672-4C91-BDA2-D55AD81D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F2D2D"/>
                </a:solidFill>
              </a:defRPr>
            </a:pPr>
            <a:r>
              <a:rPr sz="1350" b="1">
                <a:solidFill>
                  <a:srgbClr val="9F2D2D"/>
                </a:solidFill>
              </a:rPr>
              <a:t>现有图需要裁切或套手机框</a:t>
            </a:r>
          </a:p>
        </p:txBody>
      </p:sp>
      <p:sp>
        <p:nvSpPr>
          <p:cNvPr id="7" name="evidence-slot">
            <a:extLst xmlns:a="http://schemas.openxmlformats.org/drawingml/2006/main">
              <a:ext uri="{FF2B5EF4-FFF2-40B4-BE49-F238E27FC236}">
                <a16:creationId xmlns:a16="http://schemas.microsoft.com/office/drawing/2014/main" id="{28D55491-F6C1-4C7F-B30D-0828896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3105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tag">
            <a:extLst xmlns:a="http://schemas.openxmlformats.org/drawingml/2006/main">
              <a:ext uri="{FF2B5EF4-FFF2-40B4-BE49-F238E27FC236}">
                <a16:creationId xmlns:a16="http://schemas.microsoft.com/office/drawing/2014/main" id="{C210048C-A3CB-471E-A6D7-DFF9F528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145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200"/>
          </a:solidFill>
          <a:ln xmlns:a="http://schemas.openxmlformats.org/drawingml/2006/main" w="9525">
            <a:solidFill>
              <a:srgbClr val="9A6200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94808EF-069A-4A59-9227-3A26B6D4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716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待补证据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282070E-CCA3-4AA7-AA54-61C00E3F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补：原型验证说明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589124E-DE12-4777-A65F-8CF12CBB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38400"/>
            <a:ext cx="27622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这张图验证了什么？接单、查看上下文、执行、提交、验收中的哪一步。</a:t>
            </a:r>
          </a:p>
        </p:txBody>
      </p:sp>
      <p:sp>
        <p:nvSpPr>
          <p:cNvPr id="12" name="evidence-slot">
            <a:extLst xmlns:a="http://schemas.openxmlformats.org/drawingml/2006/main">
              <a:ext uri="{FF2B5EF4-FFF2-40B4-BE49-F238E27FC236}">
                <a16:creationId xmlns:a16="http://schemas.microsoft.com/office/drawing/2014/main" id="{1505EDA1-5B2A-42C3-9F7E-CCCFC989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81150"/>
            <a:ext cx="3105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tag">
            <a:extLst xmlns:a="http://schemas.openxmlformats.org/drawingml/2006/main">
              <a:ext uri="{FF2B5EF4-FFF2-40B4-BE49-F238E27FC236}">
                <a16:creationId xmlns:a16="http://schemas.microsoft.com/office/drawing/2014/main" id="{150C8B0D-1CBC-4093-B127-DBD3E135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F"/>
          </a:solidFill>
          <a:ln xmlns:a="http://schemas.openxmlformats.org/drawingml/2006/main" w="9525">
            <a:solidFill>
              <a:srgbClr val="2F5F9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B188AFE-81DD-4EAC-B68C-0F2DD7BC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716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待补证据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A656C54-5879-4AF5-9C8C-BE880C6A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补：现场约束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2F1A4A7-8BB5-4463-9058-F37B0BC2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27622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离线、剧本/AR/3D资源、设备详情工单 Tab；没有截图就用流程小图。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F242CC2-C36C-4A80-BA3E-EBE9D898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灰色区域 = 需要补的过程证据或待重绘图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E8EA990-FACD-4584-B56D-832D8468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363679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AFC1CE8-EEFA-4C37-AD06-82237B4F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最后一页把能力归因到你身上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78E304C-8E23-4E98-825D-A2F30926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避免只证明产品好，要证明你为什么适合目标岗位。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8E03A26-7E5F-41B2-9BC7-C838D1F7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Inspector 主案例框架稿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D8685-EED5-4C9E-8B78-F26A2795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00D683C7-6229-4C78-A7C7-01D19FA2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CCDC86-A305-4144-8DF5-88FC4E11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主导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5CE2B70-0F46-4141-AFBF-F0EB6B27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95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设施运维 0-1 产品闭环、PRD/流程/状态机/页面结构沉淀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BF588A99-A59E-4AA4-961C-0B2919E2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AEAB617-D836-4B32-889E-B928F248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负责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C2C7B5D-62C0-4C9E-B558-99226BF2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76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工单闭环、告警/资产/3D 与运维流程的信息架构串联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DC42D974-497E-47D2-A758-4FC6A25A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4BF6246-E2FD-4F70-8F85-FEC3DD57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参与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F000668-BB31-439D-9D53-EC49186F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575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AI Agent/RAG 的产品化表达、输入输出、风险边界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E8816778-D6DB-4738-A8A9-757354BB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E339A65-690D-4828-82D8-07DE57DF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方法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A22CFF0-9F20-4126-9294-40BCEF66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38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用 AI 工具辅助 PRD 结构化、流程图/状态机、原型验证</a:t>
            </a:r>
          </a:p>
        </p:txBody>
      </p:sp>
      <p:sp>
        <p:nvSpPr>
          <p:cNvPr id="17" name="evidence-slot">
            <a:extLst xmlns:a="http://schemas.openxmlformats.org/drawingml/2006/main">
              <a:ext uri="{FF2B5EF4-FFF2-40B4-BE49-F238E27FC236}">
                <a16:creationId xmlns:a16="http://schemas.microsoft.com/office/drawing/2014/main" id="{0196CE46-7EB1-42CA-8355-6F14E9C5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00600"/>
            <a:ext cx="266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tag">
            <a:extLst xmlns:a="http://schemas.openxmlformats.org/drawingml/2006/main">
              <a:ext uri="{FF2B5EF4-FFF2-40B4-BE49-F238E27FC236}">
                <a16:creationId xmlns:a16="http://schemas.microsoft.com/office/drawing/2014/main" id="{B42265EF-BD33-4219-8395-87521C05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339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200"/>
          </a:solidFill>
          <a:ln xmlns:a="http://schemas.openxmlformats.org/drawingml/2006/main" w="9525">
            <a:solidFill>
              <a:srgbClr val="9A6200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AB260DA-E816-4734-9F53-78F0552E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91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待补证据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5DA11F8-7BF3-4C99-A133-63916B80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149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补：贡献证据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FFD7781-18D4-479E-B745-C6011FA6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57850"/>
            <a:ext cx="232410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可放确认版贡献分层、PRD目录、评审记录、原型验证结果。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5998ABA-1713-4E4F-923A-BE587E93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不写虚构 ROI、准确率、自动派单。重点写：方案沉淀、Demo/原型验证、可复用业务闭环。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9BA14B1-A731-4F7B-983C-DB09E2DC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这一页用于面试追问，不要堆结果，要讲清贡献边界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1FEF044-C8FD-424C-AA46-ED053E7A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6656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2026-07-08T03:27:27.5170000Z</dcterms:created>
  <dcterms:modified xsi:type="dcterms:W3CDTF">2026-07-08T03:27:27.5170000Z</dcterms:modified>
</coreProperties>
</file>