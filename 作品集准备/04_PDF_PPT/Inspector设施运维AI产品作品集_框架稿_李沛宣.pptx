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a9bf4c9186422d" /><Relationship Type="http://schemas.openxmlformats.org/officeDocument/2006/relationships/extended-properties" Target="/docProps/app.xml" Id="Rd1d24a196ec74c1a" /><Relationship Type="http://schemas.openxmlformats.org/officeDocument/2006/relationships/officeDocument" Target="/ppt/presentation.xml" Id="R8dfbbf5e134845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cb6d639af14b9e"/>
  </p:sldMasterIdLst>
  <p:notesMasterIdLst>
    <p:notesMasterId xmlns:r="http://schemas.openxmlformats.org/officeDocument/2006/relationships" r:id="Ra0d4d20b3a2e4ef0"/>
  </p:notesMasterIdLst>
  <p:sldIdLst>
    <p:sldId xmlns:r="http://schemas.openxmlformats.org/officeDocument/2006/relationships" id="256" r:id="Rede7e80c6f7540c2"/>
    <p:sldId xmlns:r="http://schemas.openxmlformats.org/officeDocument/2006/relationships" id="257" r:id="Recd5438cc05c4ec5"/>
    <p:sldId xmlns:r="http://schemas.openxmlformats.org/officeDocument/2006/relationships" id="258" r:id="Rc54a017a48684547"/>
    <p:sldId xmlns:r="http://schemas.openxmlformats.org/officeDocument/2006/relationships" id="259" r:id="R1daf71bdcf7848f8"/>
    <p:sldId xmlns:r="http://schemas.openxmlformats.org/officeDocument/2006/relationships" id="260" r:id="R8fbc6c1de0fa42b6"/>
    <p:sldId xmlns:r="http://schemas.openxmlformats.org/officeDocument/2006/relationships" id="261" r:id="R3038935c3ab64b07"/>
    <p:sldId xmlns:r="http://schemas.openxmlformats.org/officeDocument/2006/relationships" id="262" r:id="R32f093128c604ec4"/>
    <p:sldId xmlns:r="http://schemas.openxmlformats.org/officeDocument/2006/relationships" id="263" r:id="R5aa9af966ebc4e83"/>
    <p:sldId xmlns:r="http://schemas.openxmlformats.org/officeDocument/2006/relationships" id="264" r:id="Re5a30c3b55524eb4"/>
    <p:sldId xmlns:r="http://schemas.openxmlformats.org/officeDocument/2006/relationships" id="265" r:id="Rfa137e98d3ff4fb3"/>
    <p:sldId xmlns:r="http://schemas.openxmlformats.org/officeDocument/2006/relationships" id="266" r:id="Rb1ebabdca1f644db"/>
    <p:sldId xmlns:r="http://schemas.openxmlformats.org/officeDocument/2006/relationships" id="267" r:id="R681e67e0c6cd4d06"/>
    <p:sldId xmlns:r="http://schemas.openxmlformats.org/officeDocument/2006/relationships" id="268" r:id="R03a72c14bbff4521"/>
    <p:sldId xmlns:r="http://schemas.openxmlformats.org/officeDocument/2006/relationships" id="269" r:id="R83c6f80495ff4836"/>
    <p:sldId xmlns:r="http://schemas.openxmlformats.org/officeDocument/2006/relationships" id="270" r:id="Rb7b24d584ce34a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c6a1ae9b5b4490" /><Relationship Type="http://schemas.openxmlformats.org/officeDocument/2006/relationships/slideMaster" Target="/ppt/slideMasters/slideMaster1.xml" Id="R6ecb6d639af14b9e" /><Relationship Type="http://schemas.openxmlformats.org/officeDocument/2006/relationships/notesMaster" Target="/ppt/notesMasters/notesMaster1.xml" Id="Ra0d4d20b3a2e4ef0" /><Relationship Type="http://schemas.openxmlformats.org/officeDocument/2006/relationships/presProps" Target="/ppt/presProps.xml" Id="Rd5abfa826a844190" /><Relationship Type="http://schemas.openxmlformats.org/officeDocument/2006/relationships/tableStyles" Target="/ppt/tableStyles.xml" Id="R046c067f7508489b" /><Relationship Type="http://schemas.openxmlformats.org/officeDocument/2006/relationships/slide" Target="/ppt/slides/slide1.xml" Id="Rede7e80c6f7540c2" /><Relationship Type="http://schemas.openxmlformats.org/officeDocument/2006/relationships/slide" Target="/ppt/slides/slide2.xml" Id="Recd5438cc05c4ec5" /><Relationship Type="http://schemas.openxmlformats.org/officeDocument/2006/relationships/slide" Target="/ppt/slides/slide3.xml" Id="Rc54a017a48684547" /><Relationship Type="http://schemas.openxmlformats.org/officeDocument/2006/relationships/slide" Target="/ppt/slides/slide4.xml" Id="R1daf71bdcf7848f8" /><Relationship Type="http://schemas.openxmlformats.org/officeDocument/2006/relationships/slide" Target="/ppt/slides/slide5.xml" Id="R8fbc6c1de0fa42b6" /><Relationship Type="http://schemas.openxmlformats.org/officeDocument/2006/relationships/slide" Target="/ppt/slides/slide6.xml" Id="R3038935c3ab64b07" /><Relationship Type="http://schemas.openxmlformats.org/officeDocument/2006/relationships/slide" Target="/ppt/slides/slide7.xml" Id="R32f093128c604ec4" /><Relationship Type="http://schemas.openxmlformats.org/officeDocument/2006/relationships/slide" Target="/ppt/slides/slide8.xml" Id="R5aa9af966ebc4e83" /><Relationship Type="http://schemas.openxmlformats.org/officeDocument/2006/relationships/slide" Target="/ppt/slides/slide9.xml" Id="Re5a30c3b55524eb4" /><Relationship Type="http://schemas.openxmlformats.org/officeDocument/2006/relationships/slide" Target="/ppt/slides/slide10.xml" Id="Rfa137e98d3ff4fb3" /><Relationship Type="http://schemas.openxmlformats.org/officeDocument/2006/relationships/slide" Target="/ppt/slides/slide11.xml" Id="Rb1ebabdca1f644db" /><Relationship Type="http://schemas.openxmlformats.org/officeDocument/2006/relationships/slide" Target="/ppt/slides/slide12.xml" Id="R681e67e0c6cd4d06" /><Relationship Type="http://schemas.openxmlformats.org/officeDocument/2006/relationships/slide" Target="/ppt/slides/slide13.xml" Id="R03a72c14bbff4521" /><Relationship Type="http://schemas.openxmlformats.org/officeDocument/2006/relationships/slide" Target="/ppt/slides/slide14.xml" Id="R83c6f80495ff4836" /><Relationship Type="http://schemas.openxmlformats.org/officeDocument/2006/relationships/slide" Target="/ppt/slides/slide15.xml" Id="Rb7b24d584ce34a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29cec843d646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71e6e4f3a54c70" /><Relationship Type="http://schemas.openxmlformats.org/officeDocument/2006/relationships/notesMaster" Target="/ppt/notesMasters/notesMaster1.xml" Id="Raf41c8385b114b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b0b0bb7b57430b" /><Relationship Type="http://schemas.openxmlformats.org/officeDocument/2006/relationships/notesMaster" Target="/ppt/notesMasters/notesMaster1.xml" Id="R4addccc85f934b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919eae97234e5a" /><Relationship Type="http://schemas.openxmlformats.org/officeDocument/2006/relationships/notesMaster" Target="/ppt/notesMasters/notesMaster1.xml" Id="Rcfd7fe8f962744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feede85dbf4bc2" /><Relationship Type="http://schemas.openxmlformats.org/officeDocument/2006/relationships/notesMaster" Target="/ppt/notesMasters/notesMaster1.xml" Id="Rdbb600cbc15241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e678edf47744e0" /><Relationship Type="http://schemas.openxmlformats.org/officeDocument/2006/relationships/notesMaster" Target="/ppt/notesMasters/notesMaster1.xml" Id="Rc2bae3b756e445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f811350e324761" /><Relationship Type="http://schemas.openxmlformats.org/officeDocument/2006/relationships/notesMaster" Target="/ppt/notesMasters/notesMaster1.xml" Id="R7b0bc1fea6354b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60ecc3426b49a2" /><Relationship Type="http://schemas.openxmlformats.org/officeDocument/2006/relationships/notesMaster" Target="/ppt/notesMasters/notesMaster1.xml" Id="R1458bf7244be4d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d8cce464094607" /><Relationship Type="http://schemas.openxmlformats.org/officeDocument/2006/relationships/notesMaster" Target="/ppt/notesMasters/notesMaster1.xml" Id="R2c4befa8be1d4b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72d1b59c8e48c6" /><Relationship Type="http://schemas.openxmlformats.org/officeDocument/2006/relationships/notesMaster" Target="/ppt/notesMasters/notesMaster1.xml" Id="R93dc25e485ca4f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a743e3d3c246e4" /><Relationship Type="http://schemas.openxmlformats.org/officeDocument/2006/relationships/notesMaster" Target="/ppt/notesMasters/notesMaster1.xml" Id="R8f71d7d357d44a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5ec9e1e435413e" /><Relationship Type="http://schemas.openxmlformats.org/officeDocument/2006/relationships/notesMaster" Target="/ppt/notesMasters/notesMaster1.xml" Id="R7444a993681a42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d6ea14f6b1407f" /><Relationship Type="http://schemas.openxmlformats.org/officeDocument/2006/relationships/notesMaster" Target="/ppt/notesMasters/notesMaster1.xml" Id="Rc179ece96e0b45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5771916c8543f2" /><Relationship Type="http://schemas.openxmlformats.org/officeDocument/2006/relationships/notesMaster" Target="/ppt/notesMasters/notesMaster1.xml" Id="R7f4ee22680144b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849941c6b84b0e" /><Relationship Type="http://schemas.openxmlformats.org/officeDocument/2006/relationships/notesMaster" Target="/ppt/notesMasters/notesMaster1.xml" Id="R3303cb8a881647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3e03689f594f8b" /><Relationship Type="http://schemas.openxmlformats.org/officeDocument/2006/relationships/notesMaster" Target="/ppt/notesMasters/notesMaster1.xml" Id="Rf544dec352d249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55e7daf1b642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e5dab7757340ee" /><Relationship Type="http://schemas.openxmlformats.org/officeDocument/2006/relationships/slideLayout" Target="/ppt/slideLayouts/slideLayout1.xml" Id="Re763c8dfb85940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63c8dfb85940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0891f5db8435c" /><Relationship Type="http://schemas.openxmlformats.org/officeDocument/2006/relationships/notesSlide" Target="/ppt/notesSlides/notesSlide1.xml" Id="Rfa9ef0299a1842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181129bee431b" /><Relationship Type="http://schemas.openxmlformats.org/officeDocument/2006/relationships/notesSlide" Target="/ppt/notesSlides/notesSlide2.xml" Id="R61e5e22562094f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157c430124f42" /><Relationship Type="http://schemas.openxmlformats.org/officeDocument/2006/relationships/notesSlide" Target="/ppt/notesSlides/notesSlide3.xml" Id="R040b0cae6efe49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4cec4caaa4932" /><Relationship Type="http://schemas.openxmlformats.org/officeDocument/2006/relationships/notesSlide" Target="/ppt/notesSlides/notesSlide4.xml" Id="R718bc4b6b61447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dc608ee854d83" /><Relationship Type="http://schemas.openxmlformats.org/officeDocument/2006/relationships/notesSlide" Target="/ppt/notesSlides/notesSlide5.xml" Id="Rc8fad2c7b57f47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6d00ef7894596" /><Relationship Type="http://schemas.openxmlformats.org/officeDocument/2006/relationships/notesSlide" Target="/ppt/notesSlides/notesSlide6.xml" Id="R74a1a00225414b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90b582e87481e" /><Relationship Type="http://schemas.openxmlformats.org/officeDocument/2006/relationships/notesSlide" Target="/ppt/notesSlides/notesSlide7.xml" Id="R582efed57aec45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d96bd4b3e4336" /><Relationship Type="http://schemas.openxmlformats.org/officeDocument/2006/relationships/notesSlide" Target="/ppt/notesSlides/notesSlide8.xml" Id="Rc08553a4052641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db9ef004f4bc5" /><Relationship Type="http://schemas.openxmlformats.org/officeDocument/2006/relationships/notesSlide" Target="/ppt/notesSlides/notesSlide9.xml" Id="Rabce2d88820f44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2daa0edb34bbc" /><Relationship Type="http://schemas.openxmlformats.org/officeDocument/2006/relationships/notesSlide" Target="/ppt/notesSlides/notesSlide10.xml" Id="Re1477306b62142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22f9d9f4e446e" /><Relationship Type="http://schemas.openxmlformats.org/officeDocument/2006/relationships/notesSlide" Target="/ppt/notesSlides/notesSlide11.xml" Id="R769dbe5aeaf24f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d163dd31e4f92" /><Relationship Type="http://schemas.openxmlformats.org/officeDocument/2006/relationships/notesSlide" Target="/ppt/notesSlides/notesSlide12.xml" Id="R321525825c2546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7a41413864874" /><Relationship Type="http://schemas.openxmlformats.org/officeDocument/2006/relationships/notesSlide" Target="/ppt/notesSlides/notesSlide13.xml" Id="R514d4da57e264c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9a304ac2f42ef" /><Relationship Type="http://schemas.openxmlformats.org/officeDocument/2006/relationships/notesSlide" Target="/ppt/notesSlides/notesSlide14.xml" Id="R8ca7ec09d3354c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f367f510e4620" /><Relationship Type="http://schemas.openxmlformats.org/officeDocument/2006/relationships/notesSlide" Target="/ppt/notesSlides/notesSlide15.xml" Id="Rd1f9aeafc9f242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6E1C6C-ACE7-4747-8485-96CBE94B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AD5E2"/>
                </a:solidFill>
              </a:defRPr>
            </a:pPr>
            <a:r>
              <a:rPr sz="1050" b="1">
                <a:solidFill>
                  <a:srgbClr val="CAD5E2"/>
                </a:solidFill>
              </a:rPr>
              <a:t>CASE STUDY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FC2EB-F875-4282-B4FB-51829E12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04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Inspector 设施运维 AI 产品案例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06307-6B6D-4A6E-9904-6E5059E5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AD5E2"/>
                </a:solidFill>
              </a:defRPr>
            </a:pPr>
            <a:r>
              <a:rPr sz="1650" b="0">
                <a:solidFill>
                  <a:srgbClr val="CAD5E2"/>
                </a:solidFill>
              </a:rPr>
              <a:t>作品集框架：面向 AI 产品经理 / 数字孪生产品经理的案例研究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FEF6A-79F8-49C0-91F1-9D09E461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7334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36080-852C-4513-81BA-D4B7C17D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99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核心主线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87FC2-8A4E-4748-8BA7-363FEC60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以 Inspector 为主案例，呈现从业务问题定义、产品定位、数据建模、流程设计到 AI 能力规划的完整产品工作链路。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9FA9C-1FFC-43D7-8158-D16EFA0F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238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62456"/>
          </a:solidFill>
          <a:ln xmlns:a="http://schemas.openxmlformats.org/drawingml/2006/main" w="9525">
            <a:solidFill>
              <a:srgbClr val="1447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85493-D62A-4A57-89B4-48248316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案例范围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FC1DE-C9CF-4AB0-BECF-C6DBA5E9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Inspector 设施运维：告警、资产、工单、SOP、3D 场景与 AI 辅助处置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97E22-1804-4FD3-8325-27C93D1B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29150"/>
            <a:ext cx="3238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47A10-B7E2-4EE6-BD7B-04E096CD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8155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目标岗位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03E00-0EE3-4526-B223-45F4C45A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435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AI 产品经理 / 数字孪生产品经理 / B 端产品经理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0FF9B-01E9-4A73-8FCD-A968FB61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29150"/>
            <a:ext cx="3238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91454-B271-4B76-9FDE-C9B1AE41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8155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证据策略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645C4-1A18-4BCD-822D-26EBC56B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435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每页围绕一个产品经理动作，匹配需求文档、流程图、数据表、原型或验收材料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50EB4-0B7B-4FF4-AFB8-2325B57E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A1B9"/>
                </a:solidFill>
              </a:defRPr>
            </a:pPr>
            <a:r>
              <a:rPr sz="975" b="1">
                <a:solidFill>
                  <a:srgbClr val="90A1B9"/>
                </a:solidFill>
              </a:rPr>
              <a:t>李沛宣 Jane · B 端 / AI / 数字孪生产品经理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667D6-EE22-46D0-8642-322F552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0A1B9"/>
                </a:solidFill>
              </a:defRPr>
            </a:pPr>
            <a:r>
              <a:rPr sz="975" b="1">
                <a:solidFill>
                  <a:srgbClr val="90A1B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169768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EB48B6-E3D5-4E40-A240-41BF0E04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02 · MATERIAL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7DF1B-2712-4769-8BC0-F880FB02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材料组织：围绕产品能力而非功能截图展开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2D246-C13B-4E86-A7B7-B0C7A080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将现有材料映射到产品工作链路：需求识别、定位判断、架构协同、数据建模、流程设计、原型验证与验收交付。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80145-52B7-4B28-B68F-84ED694D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Inspector Product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1C86F-1DF0-4613-B843-F6C8EE7C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DCB59-1727-45C6-BC90-5B7EF3C3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A6CCA-CC4C-4957-A55E-EA8D76AD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456"/>
                </a:solidFill>
              </a:defRPr>
            </a:pPr>
            <a:r>
              <a:rPr sz="1500" b="1">
                <a:solidFill>
                  <a:srgbClr val="162456"/>
                </a:solidFill>
              </a:rPr>
              <a:t>证明的产品经理能力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3DBFF-9F9A-4541-9849-31C36FC6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B"/>
                </a:solidFill>
              </a:defRPr>
            </a:pPr>
            <a:r>
              <a:rPr sz="1425" b="0">
                <a:solidFill>
                  <a:srgbClr val="0F172B"/>
                </a:solidFill>
              </a:rPr>
              <a:t>证据组织与案例表达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0A282-D209-4FE2-AB03-252CC338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7658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6B913-92A8-4B73-83BF-9DFD5D34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案例叙事重点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56FC0-5626-439C-BC5C-BC34FF29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731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本页说明作品集的阅读方式：每类材料都对应一个明确的产品经理动作，避免变成产品介绍或截图堆叠。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58B0A-DBA7-4024-A482-F0DF28F6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D2C64-A929-4105-A733-3747D4DC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4F3B"/>
                </a:solidFill>
              </a:defRPr>
            </a:pPr>
            <a:r>
              <a:rPr sz="1500" b="1">
                <a:solidFill>
                  <a:srgbClr val="004F3B"/>
                </a:solidFill>
              </a:rPr>
              <a:t>已有证据材料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B1CC3-63D6-4D67-9B7D-B1F2810E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需求文档、架构图、竞品分析表、产品间流程图、原型图、主数据表、主数据流图、功能清单、Vibe Coding 原型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E27C2-DAEF-41A4-9B92-D01519B0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C1369-4790-415E-A320-F1D30F52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3306"/>
                </a:solidFill>
              </a:defRPr>
            </a:pPr>
            <a:r>
              <a:rPr sz="1500" b="1">
                <a:solidFill>
                  <a:srgbClr val="7B3306"/>
                </a:solidFill>
              </a:rPr>
              <a:t>待补强材料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35F4F-F499-4DD3-AD97-950FD526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93D"/>
                </a:solidFill>
              </a:defRPr>
            </a:pPr>
            <a:r>
              <a:rPr sz="1350" b="0">
                <a:solidFill>
                  <a:srgbClr val="1D293D"/>
                </a:solidFill>
              </a:rPr>
              <a:t>补充 AI Prompt / Agent 设计、人机协同规则、AI 评测指标，以及已落地 / MVP / 规划中的边界说明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FA24D-48ED-4188-92F4-81E64E89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E"/>
                </a:solidFill>
              </a:defRPr>
            </a:pPr>
            <a:r>
              <a:rPr sz="1275" b="0">
                <a:solidFill>
                  <a:srgbClr val="62748E"/>
                </a:solidFill>
              </a:rPr>
              <a:t>材料呈现建议：后续将对应截图或表格裁切放在本页下半区，并保留一行关键结论。</a:t>
            </a:r>
          </a:p>
        </p:txBody>
      </p:sp>
    </p:spTree>
    <p:extLst>
      <p:ext uri="{BB962C8B-B14F-4D97-AF65-F5344CB8AC3E}">
        <p14:creationId xmlns:p14="http://schemas.microsoft.com/office/powerpoint/2010/main" val="1777067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EEC3F5-B69D-49B1-A7F7-3D828237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03 · BUSINESS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52E2A-0FA9-42B3-A541-A94F8CAD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业务背景：从被动维修到闭环运维管理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F6AD1-5710-40F4-A69C-ABBDED8F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设施运维场景的核心矛盾不是系统缺失，而是告警、资产、工单、SOP 与现场执行之间缺少可追踪闭环。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C5BBE-2305-4BF6-97DF-507235C9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Inspector Product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D874F-8A86-4572-9843-70676481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BEFA8-26EE-40D9-B926-BDC750BD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5C488-402C-476F-BF15-273F27CC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456"/>
                </a:solidFill>
              </a:defRPr>
            </a:pPr>
            <a:r>
              <a:rPr sz="1500" b="1">
                <a:solidFill>
                  <a:srgbClr val="162456"/>
                </a:solidFill>
              </a:rPr>
              <a:t>证明的产品经理能力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9D092-88C5-4B67-B0C4-7DBC5CE6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B"/>
                </a:solidFill>
              </a:defRPr>
            </a:pPr>
            <a:r>
              <a:rPr sz="1425" b="0">
                <a:solidFill>
                  <a:srgbClr val="0F172B"/>
                </a:solidFill>
              </a:rPr>
              <a:t>复杂业务理解与问题定义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ED6DD-AB43-40C6-83FC-640AB86F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7658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8BD5A-E5E7-4208-B329-5EDDE8B9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案例叙事重点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08545-6B52-4725-9F4C-7B7DF8F0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731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通过业务现状归纳运维断点：告警不可处置、资产脱离现场、工单流转割裂、经验难以沉淀。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2B4D5-EC13-40C2-8587-B32A2308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193EC-59DB-4F4C-AB35-42F67E81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4F3B"/>
                </a:solidFill>
              </a:defRPr>
            </a:pPr>
            <a:r>
              <a:rPr sz="1500" b="1">
                <a:solidFill>
                  <a:srgbClr val="004F3B"/>
                </a:solidFill>
              </a:rPr>
              <a:t>已有证据材料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0A672-39B9-487A-BC7C-DECA4DD5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需求文档：客户场景、痛点归纳、Inspector 8.0 概要设计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4112E-0AFF-4E0C-A757-8CD4DD2C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C3416C-9055-4994-B599-448D7F8C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3306"/>
                </a:solidFill>
              </a:defRPr>
            </a:pPr>
            <a:r>
              <a:rPr sz="1500" b="1">
                <a:solidFill>
                  <a:srgbClr val="7B3306"/>
                </a:solidFill>
              </a:rPr>
              <a:t>待补强材料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CC7AE-662F-4B69-97B9-1A09E54F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93D"/>
                </a:solidFill>
              </a:defRPr>
            </a:pPr>
            <a:r>
              <a:rPr sz="1350" b="0">
                <a:solidFill>
                  <a:srgbClr val="1D293D"/>
                </a:solidFill>
              </a:rPr>
              <a:t>客户访谈摘要、旧流程痛点截图、现有系统割裂示意，以及关键角色的作业链路说明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F89C0-6EA0-4B6B-86B9-6C09D963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E"/>
                </a:solidFill>
              </a:defRPr>
            </a:pPr>
            <a:r>
              <a:rPr sz="1275" b="0">
                <a:solidFill>
                  <a:srgbClr val="62748E"/>
                </a:solidFill>
              </a:rPr>
              <a:t>材料呈现建议：后续将对应截图或表格裁切放在本页下半区，并保留一行关键结论。</a:t>
            </a:r>
          </a:p>
        </p:txBody>
      </p:sp>
    </p:spTree>
    <p:extLst>
      <p:ext uri="{BB962C8B-B14F-4D97-AF65-F5344CB8AC3E}">
        <p14:creationId xmlns:p14="http://schemas.microsoft.com/office/powerpoint/2010/main" val="361449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FAC425-8BA0-46AE-A58C-34F0230B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04 · MARKET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11D2E-036F-4ACD-9E6B-282D936D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产品定位：面向闭环处置的设施运维平台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6032F-069E-4F24-B093-CC4A903C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基于竞品与场景判断，产品切口不是纯 CMMS 或 3D 大屏，而是告警、资产、工单与 SOP 的闭环协同。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BAE7E-9234-4C09-9162-42E571A0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Inspector Product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034B8-626F-4024-8A93-BF79C120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34CDD-58DB-4D63-904E-E7104A7A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CE7FD-8604-400B-BF26-B0D98825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456"/>
                </a:solidFill>
              </a:defRPr>
            </a:pPr>
            <a:r>
              <a:rPr sz="1500" b="1">
                <a:solidFill>
                  <a:srgbClr val="162456"/>
                </a:solidFill>
              </a:rPr>
              <a:t>证明的产品经理能力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9C66A-E5A2-4139-9452-AF48699D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B"/>
                </a:solidFill>
              </a:defRPr>
            </a:pPr>
            <a:r>
              <a:rPr sz="1425" b="0">
                <a:solidFill>
                  <a:srgbClr val="0F172B"/>
                </a:solidFill>
              </a:rPr>
              <a:t>竞品分析与产品定位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20FE7-D997-4D15-BF76-D81E959D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7658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F7D29-976C-4C80-B8D6-CE4F433A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案例叙事重点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1109C-349A-4BDA-9B12-55EABB81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731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通过能力矩阵沉淀定位结论：同类产品分别强在工单、资产、楼控或可视化，机会点在跨系统闭环与 AI 辅助处置。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E33CB-0CE7-4BE8-9DB1-0A847124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4CD92-8AE0-4011-9BDE-569EBB99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4F3B"/>
                </a:solidFill>
              </a:defRPr>
            </a:pPr>
            <a:r>
              <a:rPr sz="1500" b="1">
                <a:solidFill>
                  <a:srgbClr val="004F3B"/>
                </a:solidFill>
              </a:rPr>
              <a:t>已有证据材料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0F7DD-A68C-4823-9E65-75406221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竞品分析表：能力矩阵、差异点、机会点、功能优先级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2963FC-57B8-4306-BD0C-F879361B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DB5E4-3D95-4152-A19E-A75F8D68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3306"/>
                </a:solidFill>
              </a:defRPr>
            </a:pPr>
            <a:r>
              <a:rPr sz="1500" b="1">
                <a:solidFill>
                  <a:srgbClr val="7B3306"/>
                </a:solidFill>
              </a:rPr>
              <a:t>待补强材料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86D24-A971-4DCD-A641-0451FBA8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93D"/>
                </a:solidFill>
              </a:defRPr>
            </a:pPr>
            <a:r>
              <a:rPr sz="1350" b="0">
                <a:solidFill>
                  <a:srgbClr val="1D293D"/>
                </a:solidFill>
              </a:rPr>
              <a:t>将完整竞品表压缩为 3-5 条结论，并补充差异化定位与第一阶段取舍依据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2D697-27C0-4BA0-898A-4858B959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E"/>
                </a:solidFill>
              </a:defRPr>
            </a:pPr>
            <a:r>
              <a:rPr sz="1275" b="0">
                <a:solidFill>
                  <a:srgbClr val="62748E"/>
                </a:solidFill>
              </a:rPr>
              <a:t>材料呈现建议：后续将对应截图或表格裁切放在本页下半区，并保留一行关键结论。</a:t>
            </a:r>
          </a:p>
        </p:txBody>
      </p:sp>
    </p:spTree>
    <p:extLst>
      <p:ext uri="{BB962C8B-B14F-4D97-AF65-F5344CB8AC3E}">
        <p14:creationId xmlns:p14="http://schemas.microsoft.com/office/powerpoint/2010/main" val="2464248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366048-7A99-400C-8174-78F35A9C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05 · MVP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F27AE-316B-441F-8AE0-110EAA60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MVP 定义：先验证最短可交付闭环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07B64-4F07-4513-BC83-C308FA78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第一阶段聚焦告警识别、人工确认、生成 / 关联工单、执行回写与 SOP 沉淀，避免过早承诺全自动智能运维。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03B52-0501-422F-824E-069E3270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Inspector Product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51F2E-64C4-4360-B8AA-64FB7459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8D8D2-34C2-4CBD-9F01-885AB60A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EB94E-8139-4FBC-8AAC-08C3CAAB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456"/>
                </a:solidFill>
              </a:defRPr>
            </a:pPr>
            <a:r>
              <a:rPr sz="1500" b="1">
                <a:solidFill>
                  <a:srgbClr val="162456"/>
                </a:solidFill>
              </a:rPr>
              <a:t>证明的产品经理能力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6D025-884C-4B6A-AF3B-80BC7D95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B"/>
                </a:solidFill>
              </a:defRPr>
            </a:pPr>
            <a:r>
              <a:rPr sz="1425" b="0">
                <a:solidFill>
                  <a:srgbClr val="0F172B"/>
                </a:solidFill>
              </a:rPr>
              <a:t>MVP 范围管理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6A21B-3A1C-444D-9EE2-4845BD68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7658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04829-D886-4BB5-81A4-4CA54D95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案例叙事重点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DE7D5-D749-4DB0-9D54-852CEB99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731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本页突出范围判断：AI 产品第一阶段的关键不是全自动，而是让业务闭环可运行、可验收、可持续迭代。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01B9F-E0F8-46C8-A5BA-15E81902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7669D-6509-4D65-8DD2-074FD54C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4F3B"/>
                </a:solidFill>
              </a:defRPr>
            </a:pPr>
            <a:r>
              <a:rPr sz="1500" b="1">
                <a:solidFill>
                  <a:srgbClr val="004F3B"/>
                </a:solidFill>
              </a:rPr>
              <a:t>已有证据材料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7EE89-D678-4454-9C59-FD9AA793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功能清单、P0/P1/P2、Roadmap、需求文档目录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A9253-A6FC-48A1-B7E8-1ED2D112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AD8DA-E4D9-46D4-9259-9EC7A553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3306"/>
                </a:solidFill>
              </a:defRPr>
            </a:pPr>
            <a:r>
              <a:rPr sz="1500" b="1">
                <a:solidFill>
                  <a:srgbClr val="7B3306"/>
                </a:solidFill>
              </a:rPr>
              <a:t>待补强材料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E8BB5E-6F46-44F8-99D3-367A4951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93D"/>
                </a:solidFill>
              </a:defRPr>
            </a:pPr>
            <a:r>
              <a:rPr sz="1350" b="0">
                <a:solidFill>
                  <a:srgbClr val="1D293D"/>
                </a:solidFill>
              </a:rPr>
              <a:t>补充范围取舍清单，例如暂缓自动派单、全自动关单、预测性维护大模型化等能力的原因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A6592-5353-44E5-AE87-CD53E97F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E"/>
                </a:solidFill>
              </a:defRPr>
            </a:pPr>
            <a:r>
              <a:rPr sz="1275" b="0">
                <a:solidFill>
                  <a:srgbClr val="62748E"/>
                </a:solidFill>
              </a:rPr>
              <a:t>材料呈现建议：后续将对应截图或表格裁切放在本页下半区，并保留一行关键结论。</a:t>
            </a:r>
          </a:p>
        </p:txBody>
      </p:sp>
    </p:spTree>
    <p:extLst>
      <p:ext uri="{BB962C8B-B14F-4D97-AF65-F5344CB8AC3E}">
        <p14:creationId xmlns:p14="http://schemas.microsoft.com/office/powerpoint/2010/main" val="5724145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D5904D-CF10-4791-A62E-452FAFFA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06 · SOLUTION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8B8EA-9263-4574-AD66-A92DA1EF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方案架构：多系统协同下的运维业务流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EC8A3-F57F-40FB-84FA-0C5C1DE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Inspector 不是孤立应用，需要与外部告警、BMS / IoT、工单系统、3D 场景和资产主数据协作。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06687-6D3F-4EA0-BEF8-C93EE8F1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Inspector Product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3995C-3014-497C-B995-C69206A9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C3B57-7211-493B-B74B-9E2176F1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0518D-D91D-4CF5-8156-5E9F01AC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456"/>
                </a:solidFill>
              </a:defRPr>
            </a:pPr>
            <a:r>
              <a:rPr sz="1500" b="1">
                <a:solidFill>
                  <a:srgbClr val="162456"/>
                </a:solidFill>
              </a:rPr>
              <a:t>证明的产品经理能力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0F8BF-A967-48CA-985D-5FDA28ED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B"/>
                </a:solidFill>
              </a:defRPr>
            </a:pPr>
            <a:r>
              <a:rPr sz="1425" b="0">
                <a:solidFill>
                  <a:srgbClr val="0F172B"/>
                </a:solidFill>
              </a:rPr>
              <a:t>系统边界与跨产品协同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14BB7-2DC4-44AC-A9C9-E108CC6B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7658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D5C88-A967-467B-94A5-285AE760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案例叙事重点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F796F-C711-4900-B28D-1A25DE91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731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本页呈现产品边界判断：哪些系统提供数据，哪些模块消费数据，哪些状态需要同步，以及哪些责任不应混入本产品。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5D097-BFE8-47FE-9A3E-267C4E9E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40B6E-0C69-45E4-B9DC-A1ABAEED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4F3B"/>
                </a:solidFill>
              </a:defRPr>
            </a:pPr>
            <a:r>
              <a:rPr sz="1500" b="1">
                <a:solidFill>
                  <a:srgbClr val="004F3B"/>
                </a:solidFill>
              </a:rPr>
              <a:t>已有证据材料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86203-6F0C-4827-8B97-B9EE76DF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架构图、产品间流程图、外部系统对接说明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2AECD-1BC0-4033-A36D-0A2C5910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9DD74-5D4D-4B80-B473-2A36950B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3306"/>
                </a:solidFill>
              </a:defRPr>
            </a:pPr>
            <a:r>
              <a:rPr sz="1500" b="1">
                <a:solidFill>
                  <a:srgbClr val="7B3306"/>
                </a:solidFill>
              </a:rPr>
              <a:t>待补强材料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33576-B36A-4EB9-BFCB-02AD7E6F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93D"/>
                </a:solidFill>
              </a:defRPr>
            </a:pPr>
            <a:r>
              <a:rPr sz="1350" b="0">
                <a:solidFill>
                  <a:srgbClr val="1D293D"/>
                </a:solidFill>
              </a:rPr>
              <a:t>补充系统责任边界表，区分产品定义、研发实现、外部系统依赖与客户现场配置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B1EA6-7E7F-43B2-9927-99F2A061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E"/>
                </a:solidFill>
              </a:defRPr>
            </a:pPr>
            <a:r>
              <a:rPr sz="1275" b="0">
                <a:solidFill>
                  <a:srgbClr val="62748E"/>
                </a:solidFill>
              </a:rPr>
              <a:t>材料呈现建议：后续将对应截图或表格裁切放在本页下半区，并保留一行关键结论。</a:t>
            </a:r>
          </a:p>
        </p:txBody>
      </p:sp>
    </p:spTree>
    <p:extLst>
      <p:ext uri="{BB962C8B-B14F-4D97-AF65-F5344CB8AC3E}">
        <p14:creationId xmlns:p14="http://schemas.microsoft.com/office/powerpoint/2010/main" val="17915078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4A5189-FDC2-448D-BB7C-AD15AEE9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07 · MASTER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B7377-3A33-4E5D-886D-FD49188D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主数据设计：空间、设备、告警、工单与知识对象建模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7A1F0-6F42-46E2-AED8-03196C09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AI 与数字孪生能力的基础，是资产、空间、设备、告警、工单和 SOP 对象能够被结构化关联。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CE0B4-DF84-43B9-B34C-77D9EA2E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Inspector Product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7CE81-F16C-4F47-9EFC-070C23D4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4B9F5-47DC-4728-B1DA-83972538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D0B23-3857-4D2F-A4D0-22A49279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456"/>
                </a:solidFill>
              </a:defRPr>
            </a:pPr>
            <a:r>
              <a:rPr sz="1500" b="1">
                <a:solidFill>
                  <a:srgbClr val="162456"/>
                </a:solidFill>
              </a:rPr>
              <a:t>证明的产品经理能力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8DE27-6599-4523-9B61-99DC3A0B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B"/>
                </a:solidFill>
              </a:defRPr>
            </a:pPr>
            <a:r>
              <a:rPr sz="1425" b="0">
                <a:solidFill>
                  <a:srgbClr val="0F172B"/>
                </a:solidFill>
              </a:rPr>
              <a:t>主数据建模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73F66-8B05-4AEE-BB83-5A18080E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7658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071CC-8522-47D0-A8C3-7785EEE1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案例叙事重点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F9DBF-A6C8-4F22-A0CC-E9F67DA0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731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本页将主数据解释为 AI 和数字孪生的底座：设备 ID 串联位置、状态、告警、工单和知识记录。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7B6DC-67B0-45CF-844D-570113F6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319FA-C19B-42A5-8319-A7A02973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4F3B"/>
                </a:solidFill>
              </a:defRPr>
            </a:pPr>
            <a:r>
              <a:rPr sz="1500" b="1">
                <a:solidFill>
                  <a:srgbClr val="004F3B"/>
                </a:solidFill>
              </a:rPr>
              <a:t>已有证据材料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F80E1-3BF5-4906-962D-273FB4A4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主数据设计表格、主数据流图、资产/告警/工单字段定义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86402-17C9-41EA-A8C6-7B309368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3E8FB-B869-419A-9D78-7280502A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3306"/>
                </a:solidFill>
              </a:defRPr>
            </a:pPr>
            <a:r>
              <a:rPr sz="1500" b="1">
                <a:solidFill>
                  <a:srgbClr val="7B3306"/>
                </a:solidFill>
              </a:rPr>
              <a:t>待补强材料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9C7D4-1AC6-478F-86B2-7E153F2C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93D"/>
                </a:solidFill>
              </a:defRPr>
            </a:pPr>
            <a:r>
              <a:rPr sz="1350" b="0">
                <a:solidFill>
                  <a:srgbClr val="1D293D"/>
                </a:solidFill>
              </a:rPr>
              <a:t>补充简化对象关系图：空间、设备、告警、工单、SOP、人员、剧本之间的关键关联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418DE9-635E-4221-8E5D-594390A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E"/>
                </a:solidFill>
              </a:defRPr>
            </a:pPr>
            <a:r>
              <a:rPr sz="1275" b="0">
                <a:solidFill>
                  <a:srgbClr val="62748E"/>
                </a:solidFill>
              </a:rPr>
              <a:t>材料呈现建议：后续将对应截图或表格裁切放在本页下半区，并保留一行关键结论。</a:t>
            </a:r>
          </a:p>
        </p:txBody>
      </p:sp>
    </p:spTree>
    <p:extLst>
      <p:ext uri="{BB962C8B-B14F-4D97-AF65-F5344CB8AC3E}">
        <p14:creationId xmlns:p14="http://schemas.microsoft.com/office/powerpoint/2010/main" val="12607593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BDDA82-BD46-42FC-A01C-753841E7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08 · PROCESS MODELING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77EAB-46DC-4AAF-9995-CDDCDDEA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流程设计：从告警触发到工单处置的状态联动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1ADA5-6C72-491B-A4CC-933122CD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复杂 B 端产品的关键不是增加入口，而是定义状态、异常分支、关闭条件和跨系统回写规则。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8AF15-BE55-4C00-B894-D8194393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Inspector Product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6FB24-54EC-4E01-9C61-836FD0FB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E9A42-5F78-45BA-9DB1-9E8367AB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7D099-BF83-44B8-A368-A7E8C13C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456"/>
                </a:solidFill>
              </a:defRPr>
            </a:pPr>
            <a:r>
              <a:rPr sz="1500" b="1">
                <a:solidFill>
                  <a:srgbClr val="162456"/>
                </a:solidFill>
              </a:rPr>
              <a:t>证明的产品经理能力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FACAA-FA92-4904-8CFC-4A736D1C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B"/>
                </a:solidFill>
              </a:defRPr>
            </a:pPr>
            <a:r>
              <a:rPr sz="1425" b="0">
                <a:solidFill>
                  <a:srgbClr val="0F172B"/>
                </a:solidFill>
              </a:rPr>
              <a:t>流程建模与状态机设计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6A82A-9110-4AC6-8EE5-AC727E6D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7658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95D78-B707-425C-B93D-52A79B90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案例叙事重点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6A835-03EA-4B17-A6BB-3318DF02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731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本页聚焦告警转工单：生成 / 关联只是入口，真正难点在状态如何联动、何时关闭、由谁确认。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AA36F-18E0-4E9A-B9DE-C59D3098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AD8C2-A078-4489-9418-E772B291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4F3B"/>
                </a:solidFill>
              </a:defRPr>
            </a:pPr>
            <a:r>
              <a:rPr sz="1500" b="1">
                <a:solidFill>
                  <a:srgbClr val="004F3B"/>
                </a:solidFill>
              </a:rPr>
              <a:t>已有证据材料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705E1E-9E5B-4107-A3C6-C81D9680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产品间流程图、工单流程图、告警状态联动规则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3F9D1-20EC-45CC-AC05-C5B4AB35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47E99-D970-4361-B56D-B05DC5ED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3306"/>
                </a:solidFill>
              </a:defRPr>
            </a:pPr>
            <a:r>
              <a:rPr sz="1500" b="1">
                <a:solidFill>
                  <a:srgbClr val="7B3306"/>
                </a:solidFill>
              </a:rPr>
              <a:t>待补强材料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8177F-CD48-49F8-A7C0-BDE76C8F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93D"/>
                </a:solidFill>
              </a:defRPr>
            </a:pPr>
            <a:r>
              <a:rPr sz="1350" b="0">
                <a:solidFill>
                  <a:srgbClr val="1D293D"/>
                </a:solidFill>
              </a:rPr>
              <a:t>补充异常分支示例，例如多工单关联、工单驳回、设备信号未恢复、外部系统回写失败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935C41-5000-44A2-9B53-EBE5F163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E"/>
                </a:solidFill>
              </a:defRPr>
            </a:pPr>
            <a:r>
              <a:rPr sz="1275" b="0">
                <a:solidFill>
                  <a:srgbClr val="62748E"/>
                </a:solidFill>
              </a:rPr>
              <a:t>材料呈现建议：后续将对应截图或表格裁切放在本页下半区，并保留一行关键结论。</a:t>
            </a:r>
          </a:p>
        </p:txBody>
      </p:sp>
    </p:spTree>
    <p:extLst>
      <p:ext uri="{BB962C8B-B14F-4D97-AF65-F5344CB8AC3E}">
        <p14:creationId xmlns:p14="http://schemas.microsoft.com/office/powerpoint/2010/main" val="705795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D6107C-4F6F-4E3E-89C9-988C1134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09 · ALERT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A2E1B-97B6-4762-AE53-2D9FC4D0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告警模型：从通知消息到可处置事件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0A67C-9A15-4765-84D9-55DBFAF5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告警不仅用于展示，还需要支持溯源、合并、下钻、转工单、处置记录与审计追踪。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E3653-54E8-4AAC-A160-E3D7AE7D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Inspector Product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34DFF-54E0-41B4-864F-436DD512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73F12-52A6-4AB4-9650-65D8FAD7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D40FE-65F1-4769-A25F-AE99F529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456"/>
                </a:solidFill>
              </a:defRPr>
            </a:pPr>
            <a:r>
              <a:rPr sz="1500" b="1">
                <a:solidFill>
                  <a:srgbClr val="162456"/>
                </a:solidFill>
              </a:rPr>
              <a:t>证明的产品经理能力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C75B8-4F90-423C-A1A9-C87943CB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B"/>
                </a:solidFill>
              </a:defRPr>
            </a:pPr>
            <a:r>
              <a:rPr sz="1425" b="0">
                <a:solidFill>
                  <a:srgbClr val="0F172B"/>
                </a:solidFill>
              </a:rPr>
              <a:t>业务对象抽象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1DF77-B25A-43BC-87C8-70C1A18B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7658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881F9-2722-489C-8C62-A8459B27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案例叙事重点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C0B51-5CE8-440B-9532-BD9B0811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731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本页体现对象抽象能力：通过外联 ID、JSON 扩展数据、合并规则和历史记录，让告警具备处置属性。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D6E90-D8A2-4D88-9333-BA30F6DD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653D0-71C5-48B8-B7A4-B9EE88DE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4F3B"/>
                </a:solidFill>
              </a:defRPr>
            </a:pPr>
            <a:r>
              <a:rPr sz="1500" b="1">
                <a:solidFill>
                  <a:srgbClr val="004F3B"/>
                </a:solidFill>
              </a:rPr>
              <a:t>已有证据材料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AA61C-4ABD-4F5B-A168-9B9569C7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告警管理需求文档、JSON 扩展数据、告警合并机制、外联 ID 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F9C65-DF3B-4133-B008-0FA28F24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56E724-FCCC-497F-9FA5-86CC5719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3306"/>
                </a:solidFill>
              </a:defRPr>
            </a:pPr>
            <a:r>
              <a:rPr sz="1500" b="1">
                <a:solidFill>
                  <a:srgbClr val="7B3306"/>
                </a:solidFill>
              </a:rPr>
              <a:t>待补强材料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9128F-8A20-4066-A1D3-EF89B8AA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93D"/>
                </a:solidFill>
              </a:defRPr>
            </a:pPr>
            <a:r>
              <a:rPr sz="1350" b="0">
                <a:solidFill>
                  <a:srgbClr val="1D293D"/>
                </a:solidFill>
              </a:rPr>
              <a:t>补充告警详情原型、告警卡片 / 抽屉截图，以及字段与处置动作的对应说明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2EB4A-A8FE-4FB9-9A57-30EAAE21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E"/>
                </a:solidFill>
              </a:defRPr>
            </a:pPr>
            <a:r>
              <a:rPr sz="1275" b="0">
                <a:solidFill>
                  <a:srgbClr val="62748E"/>
                </a:solidFill>
              </a:rPr>
              <a:t>材料呈现建议：后续将对应截图或表格裁切放在本页下半区，并保留一行关键结论。</a:t>
            </a:r>
          </a:p>
        </p:txBody>
      </p:sp>
    </p:spTree>
    <p:extLst>
      <p:ext uri="{BB962C8B-B14F-4D97-AF65-F5344CB8AC3E}">
        <p14:creationId xmlns:p14="http://schemas.microsoft.com/office/powerpoint/2010/main" val="3327712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C371C3-2447-4855-B9CE-92C54570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10 · WORK ORDER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CB9C0-26CD-4D1A-9276-60E164D5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工单模型：多来源任务的统一承接与执行管理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1917C-31FB-4F76-A1DC-EDA2265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手动创建、告警转入、故障提报、点巡检和预防性维护任务，统一进入派发、执行、验收、回写链路。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456FF-68E8-4361-A8BD-78793653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Inspector Product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39440-0A5D-4F61-8393-AF2A6D71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F300D-6044-47C2-8676-A692F71A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8A64B-CB47-489A-97B6-2F5C2AC9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456"/>
                </a:solidFill>
              </a:defRPr>
            </a:pPr>
            <a:r>
              <a:rPr sz="1500" b="1">
                <a:solidFill>
                  <a:srgbClr val="162456"/>
                </a:solidFill>
              </a:rPr>
              <a:t>证明的产品经理能力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7FA15-0DA8-4D21-A53B-D7077785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B"/>
                </a:solidFill>
              </a:defRPr>
            </a:pPr>
            <a:r>
              <a:rPr sz="1425" b="0">
                <a:solidFill>
                  <a:srgbClr val="0F172B"/>
                </a:solidFill>
              </a:rPr>
              <a:t>复杂入口归一化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F9B01-A58A-4976-AE63-4D59837E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7658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63737-ABE1-4203-89A7-29D83D95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案例叙事重点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69390-BD39-48ED-8D17-22F9411D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731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本页用流程图说明入口归一：任务来源可以不同，但执行模型必须统一，否则一线执行和后续分析都会断裂。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C30DB-5BBF-4B6A-8177-462BBE6C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A9770-6F63-4A5B-8988-0A990A57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4F3B"/>
                </a:solidFill>
              </a:defRPr>
            </a:pPr>
            <a:r>
              <a:rPr sz="1500" b="1">
                <a:solidFill>
                  <a:srgbClr val="004F3B"/>
                </a:solidFill>
              </a:rPr>
              <a:t>已有证据材料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4AE58-FAAA-4E25-BBE8-B817B114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工单管理流程图、工单管理需求文档、执行端流程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DA454-4C4E-40C4-A013-DD42ED86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36C5B-333B-45E9-B39E-675709E0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3306"/>
                </a:solidFill>
              </a:defRPr>
            </a:pPr>
            <a:r>
              <a:rPr sz="1500" b="1">
                <a:solidFill>
                  <a:srgbClr val="7B3306"/>
                </a:solidFill>
              </a:rPr>
              <a:t>待补强材料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D837B-24AD-4EAF-8CF7-43237B42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93D"/>
                </a:solidFill>
              </a:defRPr>
            </a:pPr>
            <a:r>
              <a:rPr sz="1350" b="0">
                <a:solidFill>
                  <a:srgbClr val="1D293D"/>
                </a:solidFill>
              </a:rPr>
              <a:t>将现有工单流程图裁切为两段展示：任务来源与生成、一线执行与验收回写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EE87B-36AB-4BA1-8B66-833F86E8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E"/>
                </a:solidFill>
              </a:defRPr>
            </a:pPr>
            <a:r>
              <a:rPr sz="1275" b="0">
                <a:solidFill>
                  <a:srgbClr val="62748E"/>
                </a:solidFill>
              </a:rPr>
              <a:t>材料呈现建议：后续将对应截图或表格裁切放在本页下半区，并保留一行关键结论。</a:t>
            </a:r>
          </a:p>
        </p:txBody>
      </p:sp>
    </p:spTree>
    <p:extLst>
      <p:ext uri="{BB962C8B-B14F-4D97-AF65-F5344CB8AC3E}">
        <p14:creationId xmlns:p14="http://schemas.microsoft.com/office/powerpoint/2010/main" val="2664366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D9BCD5-790E-4982-8A94-BA5E3706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11 · DIGITAL TWIN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2CD7B-E95F-446F-85D8-F78440A1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数字孪生场景：面向现场处置的空间上下文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38C8A-0F1D-434D-9F01-4DF0AD20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3D 场景的价值不是展示大屏，而是帮助定位设备、理解空间关系、查看运行监测并关联处置记录。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CA22E-5FEF-4177-9934-3545BCB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Inspector Product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822E9-3A7A-4C43-A4FD-F829E06B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B4F23-6C8B-463D-A15D-54B2A28B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36BAE-9AC5-4045-9E8D-8E11AA8E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456"/>
                </a:solidFill>
              </a:defRPr>
            </a:pPr>
            <a:r>
              <a:rPr sz="1500" b="1">
                <a:solidFill>
                  <a:srgbClr val="162456"/>
                </a:solidFill>
              </a:rPr>
              <a:t>证明的产品经理能力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4EAEF-49A4-4548-B819-647B6CC4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B"/>
                </a:solidFill>
              </a:defRPr>
            </a:pPr>
            <a:r>
              <a:rPr sz="1425" b="0">
                <a:solidFill>
                  <a:srgbClr val="0F172B"/>
                </a:solidFill>
              </a:rPr>
              <a:t>数字孪生业务价值判断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47B23-4246-4B90-9B9B-3531A8F5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7658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355B1-8C85-4518-B1DD-96D74B6B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案例叙事重点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5EBA6-63C7-42B4-A616-A2EC2BA1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731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本页面向数字孪生岗位突出业务判断：让告警和工单拥有空间上下文，而不是把 3D 作为单独展示层。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F0A38-B3E7-456D-9986-ED696737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ED9FD-43AC-4F4D-A236-2F193EEE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4F3B"/>
                </a:solidFill>
              </a:defRPr>
            </a:pPr>
            <a:r>
              <a:rPr sz="1500" b="1">
                <a:solidFill>
                  <a:srgbClr val="004F3B"/>
                </a:solidFill>
              </a:rPr>
              <a:t>已有证据材料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4249D-58B6-49AC-A44B-67DF3ADD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原型图、资产详情、3D 定位、设备关系、运行监测、视频流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5A278-97F5-4FAB-AF09-7FD6DFDD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43EAA-8FBE-4695-A900-DC68BD58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3306"/>
                </a:solidFill>
              </a:defRPr>
            </a:pPr>
            <a:r>
              <a:rPr sz="1500" b="1">
                <a:solidFill>
                  <a:srgbClr val="7B3306"/>
                </a:solidFill>
              </a:rPr>
              <a:t>待补强材料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290AC-C7CA-4459-923F-31A5BB8E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93D"/>
                </a:solidFill>
              </a:defRPr>
            </a:pPr>
            <a:r>
              <a:rPr sz="1350" b="0">
                <a:solidFill>
                  <a:srgbClr val="1D293D"/>
                </a:solidFill>
              </a:rPr>
              <a:t>补充设备详情页截图、3D 聚焦截图、资产-工单 Tab 截图，并标注它们服务的处置动作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D9CAF-A6F7-41FD-9981-8FEA9012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E"/>
                </a:solidFill>
              </a:defRPr>
            </a:pPr>
            <a:r>
              <a:rPr sz="1275" b="0">
                <a:solidFill>
                  <a:srgbClr val="62748E"/>
                </a:solidFill>
              </a:rPr>
              <a:t>材料呈现建议：后续将对应截图或表格裁切放在本页下半区，并保留一行关键结论。</a:t>
            </a:r>
          </a:p>
        </p:txBody>
      </p:sp>
    </p:spTree>
    <p:extLst>
      <p:ext uri="{BB962C8B-B14F-4D97-AF65-F5344CB8AC3E}">
        <p14:creationId xmlns:p14="http://schemas.microsoft.com/office/powerpoint/2010/main" val="21153425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AD23DB-EE6B-45D5-B660-10B789BB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12 · KNOWLEDGE ASSET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EB9FC-895F-4922-9181-066E966C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SOP 模板库：维修经验的标准化与资产化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A5887-D341-450E-A372-4E6197B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闭环的终点不是关单，而是将有效步骤、检查项和处置剧本沉淀为可复用模板。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1D064-A03C-47A1-A5A2-6AEDCF04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Inspector Product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B12C9-D948-4EE7-9DB8-6A7DFFD5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C3287-1982-4D1C-A8A3-51C4E2F0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461F4-1A42-413F-9EFF-E64FF47A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456"/>
                </a:solidFill>
              </a:defRPr>
            </a:pPr>
            <a:r>
              <a:rPr sz="1500" b="1">
                <a:solidFill>
                  <a:srgbClr val="162456"/>
                </a:solidFill>
              </a:rPr>
              <a:t>证明的产品经理能力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C5674-8113-42BD-AD47-9CDB9FE6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B"/>
                </a:solidFill>
              </a:defRPr>
            </a:pPr>
            <a:r>
              <a:rPr sz="1425" b="0">
                <a:solidFill>
                  <a:srgbClr val="0F172B"/>
                </a:solidFill>
              </a:rPr>
              <a:t>产品化与标品沉淀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52718-F2A8-4AB1-8856-7B3B884D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7658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E7ACE-D1BC-4679-ACCD-1DE8BEDA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案例叙事重点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C2592-C916-48C2-B074-6B0266FF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731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本页体现产品化能力：将项目制交付中的一次性经验沉淀为模板库，减少重复填写和专家经验流失。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48024-AC14-4991-89F5-EAE8AF5C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69B51-6C6C-4EA9-A629-6B3A0651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4F3B"/>
                </a:solidFill>
              </a:defRPr>
            </a:pPr>
            <a:r>
              <a:rPr sz="1500" b="1">
                <a:solidFill>
                  <a:srgbClr val="004F3B"/>
                </a:solidFill>
              </a:rPr>
              <a:t>已有证据材料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60820-8577-4C66-BB8D-21689635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SOP 模板库需求、版本控制、Copy on Write、工单沉淀逻辑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3CF07-6F2E-44C2-A07F-2A43EC98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66608-B460-4924-B7F1-F52A0816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3306"/>
                </a:solidFill>
              </a:defRPr>
            </a:pPr>
            <a:r>
              <a:rPr sz="1500" b="1">
                <a:solidFill>
                  <a:srgbClr val="7B3306"/>
                </a:solidFill>
              </a:rPr>
              <a:t>待补强材料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037A44-F1DA-45AE-8F90-C0DEAF89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93D"/>
                </a:solidFill>
              </a:defRPr>
            </a:pPr>
            <a:r>
              <a:rPr sz="1350" b="0">
                <a:solidFill>
                  <a:srgbClr val="1D293D"/>
                </a:solidFill>
              </a:rPr>
              <a:t>补充模板库原型图、优质工单转模板示意，以及模板更新与版本管理规则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C185F-7364-4FFC-896E-63468BA0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E"/>
                </a:solidFill>
              </a:defRPr>
            </a:pPr>
            <a:r>
              <a:rPr sz="1275" b="0">
                <a:solidFill>
                  <a:srgbClr val="62748E"/>
                </a:solidFill>
              </a:rPr>
              <a:t>材料呈现建议：后续将对应截图或表格裁切放在本页下半区，并保留一行关键结论。</a:t>
            </a:r>
          </a:p>
        </p:txBody>
      </p:sp>
    </p:spTree>
    <p:extLst>
      <p:ext uri="{BB962C8B-B14F-4D97-AF65-F5344CB8AC3E}">
        <p14:creationId xmlns:p14="http://schemas.microsoft.com/office/powerpoint/2010/main" val="2114862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4E6B19-208C-43CF-A52F-1679C1E0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13 · PROTOTYPE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B53DE-149D-409C-BEE9-1B39C0C4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原型验证：基于 Vibe Coding 的流程可用性验证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23EE1-3C09-43F3-9B5F-796379B5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Vibe Coding 用于提前暴露字段缺失、状态遗漏和交互断点，辅助 PRD 修订与产研评审。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9E8D9-51DB-4F2A-9E7F-A02B545B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Inspector Product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CCE68-826F-4DD0-8A41-BD6FEFA1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9F9CF-B973-4D9F-B3D5-068E9F2B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2D50D-71E1-42D8-BC18-3A0FE0FC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456"/>
                </a:solidFill>
              </a:defRPr>
            </a:pPr>
            <a:r>
              <a:rPr sz="1500" b="1">
                <a:solidFill>
                  <a:srgbClr val="162456"/>
                </a:solidFill>
              </a:rPr>
              <a:t>证明的产品经理能力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6C39D-5F0C-4DE6-995B-6AE7C85D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B"/>
                </a:solidFill>
              </a:defRPr>
            </a:pPr>
            <a:r>
              <a:rPr sz="1425" b="0">
                <a:solidFill>
                  <a:srgbClr val="0F172B"/>
                </a:solidFill>
              </a:rPr>
              <a:t>原型验证与产研沟通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75E3C-C091-469E-A423-96A7F286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7658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49611-C93D-480C-AAA4-069588EA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案例叙事重点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B9124-3463-402F-AF5E-A9990CE6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731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本页不单纯展示页面，而是说明原型验证发现的问题，例如字段不足、状态不闭环、执行端路径过长。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781A0-B8DF-449E-8438-AB54A9B5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003C1-F6A3-432E-891B-8731FE45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4F3B"/>
                </a:solidFill>
              </a:defRPr>
            </a:pPr>
            <a:r>
              <a:rPr sz="1500" b="1">
                <a:solidFill>
                  <a:srgbClr val="004F3B"/>
                </a:solidFill>
              </a:rPr>
              <a:t>已有证据材料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7D61A-8503-49C0-B175-FBC2B7FD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Vibe Coding 原型页面、原型操作录屏/截图、PRD 修订记录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80047-2841-4892-AD46-87C1A62A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43345-93D9-4A7E-964A-FAD1B31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3306"/>
                </a:solidFill>
              </a:defRPr>
            </a:pPr>
            <a:r>
              <a:rPr sz="1500" b="1">
                <a:solidFill>
                  <a:srgbClr val="7B3306"/>
                </a:solidFill>
              </a:rPr>
              <a:t>待补强材料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9B6C6-6C62-4125-A5A9-64524337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93D"/>
                </a:solidFill>
              </a:defRPr>
            </a:pPr>
            <a:r>
              <a:rPr sz="1350" b="0">
                <a:solidFill>
                  <a:srgbClr val="1D293D"/>
                </a:solidFill>
              </a:rPr>
              <a:t>补充复盘表：原型发现的问题、PRD 如何调整、影响哪些角色与流程节点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AFF42-230D-491F-BD59-FBF32F1F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E"/>
                </a:solidFill>
              </a:defRPr>
            </a:pPr>
            <a:r>
              <a:rPr sz="1275" b="0">
                <a:solidFill>
                  <a:srgbClr val="62748E"/>
                </a:solidFill>
              </a:rPr>
              <a:t>材料呈现建议：后续将对应截图或表格裁切放在本页下半区，并保留一行关键结论。</a:t>
            </a:r>
          </a:p>
        </p:txBody>
      </p:sp>
    </p:spTree>
    <p:extLst>
      <p:ext uri="{BB962C8B-B14F-4D97-AF65-F5344CB8AC3E}">
        <p14:creationId xmlns:p14="http://schemas.microsoft.com/office/powerpoint/2010/main" val="3420805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018DFD-CA27-416F-9A18-644B5E59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14 · AI CAPABILITY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0FD18-1C81-43CE-B5CD-833451DB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AI 能力规划：人机协同的诊断、建议与处置辅助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E96CF-5919-4FB3-8DBB-DDB4DDC0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AI 设计重点不是堆叠 Prompt，而是明确输入输出、责任边界、人工兜底和验收指标。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07B70-CC8A-4BC3-ADD0-ECF095E0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Inspector Product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22368-3ACD-4AFA-A301-94D5BF4A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356F6-ED5C-4E01-9CB8-F2A85D67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619FA-CFED-4DB2-85E3-066906B0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456"/>
                </a:solidFill>
              </a:defRPr>
            </a:pPr>
            <a:r>
              <a:rPr sz="1500" b="1">
                <a:solidFill>
                  <a:srgbClr val="162456"/>
                </a:solidFill>
              </a:rPr>
              <a:t>证明的产品经理能力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3B8D3-8231-45C0-AB97-B91DFAE2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B"/>
                </a:solidFill>
              </a:defRPr>
            </a:pPr>
            <a:r>
              <a:rPr sz="1425" b="0">
                <a:solidFill>
                  <a:srgbClr val="0F172B"/>
                </a:solidFill>
              </a:rPr>
              <a:t>AI 产品设计与风险边界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2BD23-7F4A-4E1D-B04E-D9DC551E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7658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A3623-8408-4F34-9E8C-2FBFEA60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案例叙事重点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E8424-BD8D-4911-A2BD-CBA058E8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731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本页规划四类补充材料：Agent 分工图、Prompt 输入输出样例、人机协同规则、AI 验收指标。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F38A7-FDA8-40D8-8FB4-0EA067F6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63011-421C-4E2E-A6BC-5D5EF932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4F3B"/>
                </a:solidFill>
              </a:defRPr>
            </a:pPr>
            <a:r>
              <a:rPr sz="1500" b="1">
                <a:solidFill>
                  <a:srgbClr val="004F3B"/>
                </a:solidFill>
              </a:rPr>
              <a:t>已有证据材料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4AC65-FF21-4755-A2A9-D5C54933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可从人机协同预测性维护 MD、告警/工单/SOP 材料中提炼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29DE8E-F42D-4625-A10D-AC775BDB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47A47-0675-4CC7-B1D1-B8483F62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3306"/>
                </a:solidFill>
              </a:defRPr>
            </a:pPr>
            <a:r>
              <a:rPr sz="1500" b="1">
                <a:solidFill>
                  <a:srgbClr val="7B3306"/>
                </a:solidFill>
              </a:rPr>
              <a:t>待补强材料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E00D8-004B-4ABF-86A6-292FC602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93D"/>
                </a:solidFill>
              </a:defRPr>
            </a:pPr>
            <a:r>
              <a:rPr sz="1350" b="0">
                <a:solidFill>
                  <a:srgbClr val="1D293D"/>
                </a:solidFill>
              </a:rPr>
              <a:t>补充低置信人工复核、高风险不自动执行、引用来源、前三命中率、字段完整率、误建议率等规则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90E1D-5A14-4B14-8C45-69EA95EA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E"/>
                </a:solidFill>
              </a:defRPr>
            </a:pPr>
            <a:r>
              <a:rPr sz="1275" b="0">
                <a:solidFill>
                  <a:srgbClr val="62748E"/>
                </a:solidFill>
              </a:rPr>
              <a:t>材料呈现建议：后续将对应截图或表格裁切放在本页下半区，并保留一行关键结论。</a:t>
            </a:r>
          </a:p>
        </p:txBody>
      </p:sp>
    </p:spTree>
    <p:extLst>
      <p:ext uri="{BB962C8B-B14F-4D97-AF65-F5344CB8AC3E}">
        <p14:creationId xmlns:p14="http://schemas.microsoft.com/office/powerpoint/2010/main" val="11738494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E925B2-A0C4-4EE0-B0DB-569FA2F6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15 · CAPABILITY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532B5-DE3D-4953-842B-1B0E6F63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能力总结：从复杂业务到 AI 产品闭环落地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AC88B-82D3-4ACC-858A-2E5C3B8C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通过 Inspector 案例证明复杂问题定义、数据与流程建模、原型验证、AI 边界设计和版本交付能力。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080AA-6C26-46DA-B82A-0073D079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Inspector Product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DF34A-82F4-47F9-9BA2-B0B6AD5B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0D584-2D31-476F-918E-46B3F5F4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408FF-30AE-4B23-93EE-752BFB62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456"/>
                </a:solidFill>
              </a:defRPr>
            </a:pPr>
            <a:r>
              <a:rPr sz="1500" b="1">
                <a:solidFill>
                  <a:srgbClr val="162456"/>
                </a:solidFill>
              </a:rPr>
              <a:t>证明的产品经理能力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A4C42-B9FC-4418-BDF6-BADF99E3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B"/>
                </a:solidFill>
              </a:defRPr>
            </a:pPr>
            <a:r>
              <a:rPr sz="1425" b="0">
                <a:solidFill>
                  <a:srgbClr val="0F172B"/>
                </a:solidFill>
              </a:rPr>
              <a:t>面试收束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E9984-88A3-487A-A632-7C5FE100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7658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F2785-6EC2-4051-9187-662B2043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案例叙事重点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49CD3-AF9E-4BE1-8306-BF726E02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731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结尾将案例收束为岗位匹配：能够把 AI 能力嵌入真实 B 端业务闭环，而不是停留在概念层。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3976C-5E44-443A-9476-D60C2914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F5372-AF72-4A49-809C-592049F3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4F3B"/>
                </a:solidFill>
              </a:defRPr>
            </a:pPr>
            <a:r>
              <a:rPr sz="1500" b="1">
                <a:solidFill>
                  <a:srgbClr val="004F3B"/>
                </a:solidFill>
              </a:rPr>
              <a:t>已有证据材料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82991-5EAD-4355-AF9D-9F975340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前 14 页材料汇总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9A0C0-6EC7-4492-A32C-A6CC6AEF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257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4F69D-7A2E-4263-BF42-22D693C6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3306"/>
                </a:solidFill>
              </a:defRPr>
            </a:pPr>
            <a:r>
              <a:rPr sz="1500" b="1">
                <a:solidFill>
                  <a:srgbClr val="7B3306"/>
                </a:solidFill>
              </a:rPr>
              <a:t>待补强材料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A1B27-0A53-4A95-AA2B-30DA41DE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93D"/>
                </a:solidFill>
              </a:defRPr>
            </a:pPr>
            <a:r>
              <a:rPr sz="1350" b="0">
                <a:solidFill>
                  <a:srgbClr val="1D293D"/>
                </a:solidFill>
              </a:rPr>
              <a:t>补充阶段成果与诚实边界，清晰区分已完成、Demo / MVP、待验证指标与后续规划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9F8CB-2DD9-48B6-9C4D-6B830954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E"/>
                </a:solidFill>
              </a:defRPr>
            </a:pPr>
            <a:r>
              <a:rPr sz="1275" b="0">
                <a:solidFill>
                  <a:srgbClr val="62748E"/>
                </a:solidFill>
              </a:rPr>
              <a:t>材料呈现建议：后续将对应截图或表格裁切放在本页下半区，并保留一行关键结论。</a:t>
            </a:r>
          </a:p>
        </p:txBody>
      </p:sp>
    </p:spTree>
    <p:extLst>
      <p:ext uri="{BB962C8B-B14F-4D97-AF65-F5344CB8AC3E}">
        <p14:creationId xmlns:p14="http://schemas.microsoft.com/office/powerpoint/2010/main" val="425814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2026-06-21T13:54:12.5550000Z</dcterms:created>
  <dcterms:modified xsi:type="dcterms:W3CDTF">2026-06-21T13:54:12.5550000Z</dcterms:modified>
</coreProperties>
</file>