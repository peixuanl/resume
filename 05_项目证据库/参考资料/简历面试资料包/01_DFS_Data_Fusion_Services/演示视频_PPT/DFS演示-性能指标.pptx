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716" r:id="rId3"/>
  </p:sldMasterIdLst>
  <p:notesMasterIdLst>
    <p:notesMasterId r:id="rId10"/>
  </p:notesMasterIdLst>
  <p:sldIdLst>
    <p:sldId id="256" r:id="rId4"/>
    <p:sldId id="257" r:id="rId5"/>
    <p:sldId id="261" r:id="rId6"/>
    <p:sldId id="259" r:id="rId7"/>
    <p:sldId id="260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958" autoAdjust="0"/>
  </p:normalViewPr>
  <p:slideViewPr>
    <p:cSldViewPr snapToGrid="0">
      <p:cViewPr varScale="1">
        <p:scale>
          <a:sx n="63" d="100"/>
          <a:sy n="63" d="100"/>
        </p:scale>
        <p:origin x="8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41D3E6-1651-48AF-B2C6-C09A8C3DB229}" type="doc">
      <dgm:prSet loTypeId="urn:microsoft.com/office/officeart/2005/8/layout/hList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2C2A78AB-4A94-4E06-B655-66633DE0A428}">
      <dgm:prSet phldrT="[文本]"/>
      <dgm:spPr/>
      <dgm:t>
        <a:bodyPr/>
        <a:lstStyle/>
        <a:p>
          <a:r>
            <a: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场景一</a:t>
          </a:r>
        </a:p>
      </dgm:t>
    </dgm:pt>
    <dgm:pt modelId="{D55395EE-7004-47D3-BEA3-0E4D7B9580B8}" type="parTrans" cxnId="{17838F6F-D2B0-4362-B327-ADEBE2D82D02}">
      <dgm:prSet/>
      <dgm:spPr/>
      <dgm:t>
        <a:bodyPr/>
        <a:lstStyle/>
        <a:p>
          <a:endParaRPr lang="zh-CN" altLang="en-US"/>
        </a:p>
      </dgm:t>
    </dgm:pt>
    <dgm:pt modelId="{1F133BF6-A2DD-4E49-9B4E-1EB581597DF0}" type="sibTrans" cxnId="{17838F6F-D2B0-4362-B327-ADEBE2D82D02}">
      <dgm:prSet/>
      <dgm:spPr/>
      <dgm:t>
        <a:bodyPr/>
        <a:lstStyle/>
        <a:p>
          <a:endParaRPr lang="zh-CN" altLang="en-US"/>
        </a:p>
      </dgm:t>
    </dgm:pt>
    <dgm:pt modelId="{7EFF483E-2CF5-4D94-9DB8-8AE2256FB2C2}">
      <dgm:prSet phldrT="[文本]" custT="1"/>
      <dgm:spPr/>
      <dgm:t>
        <a:bodyPr/>
        <a:lstStyle/>
        <a:p>
          <a:endParaRPr lang="zh-CN" altLang="en-US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1501EBE-E50A-4A6B-9584-38E2E2FE5F39}" type="parTrans" cxnId="{B7A30A98-8D5F-48BC-8A3C-4FEEF4A643DE}">
      <dgm:prSet/>
      <dgm:spPr/>
      <dgm:t>
        <a:bodyPr/>
        <a:lstStyle/>
        <a:p>
          <a:endParaRPr lang="zh-CN" altLang="en-US"/>
        </a:p>
      </dgm:t>
    </dgm:pt>
    <dgm:pt modelId="{5C31099F-0639-4A07-A9A8-FBD31B0ADC67}" type="sibTrans" cxnId="{B7A30A98-8D5F-48BC-8A3C-4FEEF4A643DE}">
      <dgm:prSet/>
      <dgm:spPr/>
      <dgm:t>
        <a:bodyPr/>
        <a:lstStyle/>
        <a:p>
          <a:endParaRPr lang="zh-CN" altLang="en-US"/>
        </a:p>
      </dgm:t>
    </dgm:pt>
    <dgm:pt modelId="{58665E3E-1A18-4AA0-8DB6-BB58A1177C92}">
      <dgm:prSet phldrT="[文本]"/>
      <dgm:spPr/>
      <dgm:t>
        <a:bodyPr/>
        <a:lstStyle/>
        <a:p>
          <a:r>
            <a: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rPr>
            <a:t>场景二</a:t>
          </a:r>
        </a:p>
      </dgm:t>
    </dgm:pt>
    <dgm:pt modelId="{008D328F-AF1B-4D9C-ACC3-71D263832FFC}" type="parTrans" cxnId="{D079CACE-0715-4CCF-A119-378C948289EE}">
      <dgm:prSet/>
      <dgm:spPr/>
      <dgm:t>
        <a:bodyPr/>
        <a:lstStyle/>
        <a:p>
          <a:endParaRPr lang="zh-CN" altLang="en-US"/>
        </a:p>
      </dgm:t>
    </dgm:pt>
    <dgm:pt modelId="{1F030502-2B0F-45DC-91CD-557FD7B24784}" type="sibTrans" cxnId="{D079CACE-0715-4CCF-A119-378C948289EE}">
      <dgm:prSet/>
      <dgm:spPr/>
      <dgm:t>
        <a:bodyPr/>
        <a:lstStyle/>
        <a:p>
          <a:endParaRPr lang="zh-CN" altLang="en-US"/>
        </a:p>
      </dgm:t>
    </dgm:pt>
    <dgm:pt modelId="{19B887FA-244D-4BD0-A46E-3DF78C22C868}">
      <dgm:prSet phldrT="[文本]" custT="1"/>
      <dgm:spPr/>
      <dgm:t>
        <a:bodyPr/>
        <a:lstStyle/>
        <a:p>
          <a:pPr>
            <a:buClrTx/>
            <a:buSzTx/>
            <a:buFont typeface="Arial" panose="020B0604020202020204" pitchFamily="34" charset="0"/>
            <a:buNone/>
          </a:pPr>
          <a:endParaRPr lang="zh-CN" altLang="en-US" sz="1600" dirty="0"/>
        </a:p>
      </dgm:t>
    </dgm:pt>
    <dgm:pt modelId="{74531EE9-9FC0-48B3-8F8C-C60683AC5B74}" type="parTrans" cxnId="{0D16FDD0-228B-4351-BC00-1DD5458785AD}">
      <dgm:prSet/>
      <dgm:spPr/>
      <dgm:t>
        <a:bodyPr/>
        <a:lstStyle/>
        <a:p>
          <a:endParaRPr lang="zh-CN" altLang="en-US"/>
        </a:p>
      </dgm:t>
    </dgm:pt>
    <dgm:pt modelId="{CC80864E-E983-4076-8C7D-EFDE69B082A9}" type="sibTrans" cxnId="{0D16FDD0-228B-4351-BC00-1DD5458785AD}">
      <dgm:prSet/>
      <dgm:spPr/>
      <dgm:t>
        <a:bodyPr/>
        <a:lstStyle/>
        <a:p>
          <a:endParaRPr lang="zh-CN" altLang="en-US"/>
        </a:p>
      </dgm:t>
    </dgm:pt>
    <dgm:pt modelId="{077D68CD-DCC6-473A-B4D1-41303474D594}">
      <dgm:prSet custT="1"/>
      <dgm:spPr/>
      <dgm:t>
        <a:bodyPr/>
        <a:lstStyle/>
        <a:p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6EC61A5-8623-4CCD-B1D8-5AE3C2092072}" type="parTrans" cxnId="{21BF7AA0-8ADF-4012-90C0-254894BDDF95}">
      <dgm:prSet/>
      <dgm:spPr/>
      <dgm:t>
        <a:bodyPr/>
        <a:lstStyle/>
        <a:p>
          <a:endParaRPr lang="zh-CN" altLang="en-US"/>
        </a:p>
      </dgm:t>
    </dgm:pt>
    <dgm:pt modelId="{2A6CDCCD-BFCB-4251-AE4F-C5867424B5A0}" type="sibTrans" cxnId="{21BF7AA0-8ADF-4012-90C0-254894BDDF95}">
      <dgm:prSet/>
      <dgm:spPr/>
      <dgm:t>
        <a:bodyPr/>
        <a:lstStyle/>
        <a:p>
          <a:endParaRPr lang="zh-CN" altLang="en-US"/>
        </a:p>
      </dgm:t>
    </dgm:pt>
    <dgm:pt modelId="{DF87F3FF-D65E-4483-89A3-8E1A54C8764B}">
      <dgm:prSet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通过建立数据探索任务对业务数据进行实时监控（来一批数据跑一次数据探索任务），按照指导手册或业务经验制定业务预警规则，及时发现异常情况。</a:t>
          </a:r>
          <a:endParaRPr lang="en-US" altLang="zh-CN" sz="16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6BDC2EF-B37D-42C5-BE75-C9A9C9CE40D1}" type="parTrans" cxnId="{3090B745-55C1-4B51-B7E2-4CF78CB5EAE3}">
      <dgm:prSet/>
      <dgm:spPr/>
      <dgm:t>
        <a:bodyPr/>
        <a:lstStyle/>
        <a:p>
          <a:endParaRPr lang="zh-CN" altLang="en-US"/>
        </a:p>
      </dgm:t>
    </dgm:pt>
    <dgm:pt modelId="{807D131E-1E15-42E0-B54B-2CA63FD6B22B}" type="sibTrans" cxnId="{3090B745-55C1-4B51-B7E2-4CF78CB5EAE3}">
      <dgm:prSet/>
      <dgm:spPr/>
      <dgm:t>
        <a:bodyPr/>
        <a:lstStyle/>
        <a:p>
          <a:endParaRPr lang="zh-CN" altLang="en-US"/>
        </a:p>
      </dgm:t>
    </dgm:pt>
    <dgm:pt modelId="{09506FE0-75EE-484E-B705-C7C658F6362E}">
      <dgm:prSet custT="1"/>
      <dgm:spPr/>
      <dgm:t>
        <a:bodyPr/>
        <a:lstStyle/>
        <a:p>
          <a:endParaRPr kumimoji="0" lang="zh-CN" altLang="en-US" sz="1600" b="1" i="0" u="none" strike="noStrike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D038E34E-7A60-41E7-B389-C34DBF177C4E}" type="parTrans" cxnId="{9339F8F4-FE0E-4A54-AE75-DC572955DC5B}">
      <dgm:prSet/>
      <dgm:spPr/>
      <dgm:t>
        <a:bodyPr/>
        <a:lstStyle/>
        <a:p>
          <a:endParaRPr lang="zh-CN" altLang="en-US"/>
        </a:p>
      </dgm:t>
    </dgm:pt>
    <dgm:pt modelId="{D73281E0-1C1B-44BE-BF2F-0287C7D79A4D}" type="sibTrans" cxnId="{9339F8F4-FE0E-4A54-AE75-DC572955DC5B}">
      <dgm:prSet/>
      <dgm:spPr/>
      <dgm:t>
        <a:bodyPr/>
        <a:lstStyle/>
        <a:p>
          <a:endParaRPr lang="zh-CN" altLang="en-US"/>
        </a:p>
      </dgm:t>
    </dgm:pt>
    <dgm:pt modelId="{E9FC7969-9DDE-40B4-BF43-B99F50888BF8}">
      <dgm:prSet custT="1"/>
      <dgm:spPr/>
      <dgm:t>
        <a:bodyPr/>
        <a:lstStyle/>
        <a:p>
          <a:r>
            <a:rPr kumimoji="0" lang="zh-CN" altLang="en-US" sz="1600" b="1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rPr>
            <a:t>在实时监控的情况下，数据未触发预警，但实际已出现异常表现。同时，在回溯问题数据时，仅依靠基本的数据分析方法无法发现异常产生的原因。为解决此类复杂问题，需要利用机器学习模型辅助分析过往大量历史数据，以发现异常原因。同时将该模型方法积累下来，用做日常业务监控，避免再次出现此类问题。</a:t>
          </a:r>
        </a:p>
      </dgm:t>
    </dgm:pt>
    <dgm:pt modelId="{8B185242-968E-46C5-BE33-FF388BE049F2}" type="parTrans" cxnId="{BD00A220-A726-4AFC-8815-9871B6619DB7}">
      <dgm:prSet/>
      <dgm:spPr/>
      <dgm:t>
        <a:bodyPr/>
        <a:lstStyle/>
        <a:p>
          <a:endParaRPr lang="zh-CN" altLang="en-US"/>
        </a:p>
      </dgm:t>
    </dgm:pt>
    <dgm:pt modelId="{DAD93ED7-5414-4DA3-8755-4D47EBDA46C3}" type="sibTrans" cxnId="{BD00A220-A726-4AFC-8815-9871B6619DB7}">
      <dgm:prSet/>
      <dgm:spPr/>
      <dgm:t>
        <a:bodyPr/>
        <a:lstStyle/>
        <a:p>
          <a:endParaRPr lang="zh-CN" altLang="en-US"/>
        </a:p>
      </dgm:t>
    </dgm:pt>
    <dgm:pt modelId="{86562B9C-4F79-41DF-A4B2-7045C28D3FD0}">
      <dgm:prSet custT="1"/>
      <dgm:spPr/>
      <dgm:t>
        <a:bodyPr/>
        <a:lstStyle/>
        <a:p>
          <a:endParaRPr kumimoji="0" lang="zh-CN" altLang="en-US" sz="1600" b="0" i="0" u="none" strike="noStrike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Arial" panose="020B0604020202020204"/>
            <a:ea typeface="微软雅黑" panose="020B0503020204020204" pitchFamily="34" charset="-122"/>
            <a:cs typeface="+mn-cs"/>
          </a:endParaRPr>
        </a:p>
      </dgm:t>
    </dgm:pt>
    <dgm:pt modelId="{BF73FDE8-EFD6-4CD1-BED7-62C7B019B8C4}" type="parTrans" cxnId="{25DEB107-372A-4223-983E-B8C11C6D3327}">
      <dgm:prSet/>
      <dgm:spPr/>
      <dgm:t>
        <a:bodyPr/>
        <a:lstStyle/>
        <a:p>
          <a:endParaRPr lang="zh-CN" altLang="en-US"/>
        </a:p>
      </dgm:t>
    </dgm:pt>
    <dgm:pt modelId="{22C07486-2DF6-4F0C-9231-892E4BE073C0}" type="sibTrans" cxnId="{25DEB107-372A-4223-983E-B8C11C6D3327}">
      <dgm:prSet/>
      <dgm:spPr/>
      <dgm:t>
        <a:bodyPr/>
        <a:lstStyle/>
        <a:p>
          <a:endParaRPr lang="zh-CN" altLang="en-US"/>
        </a:p>
      </dgm:t>
    </dgm:pt>
    <dgm:pt modelId="{FA5BBFDA-3B91-487D-9607-478FCDC0FAF3}" type="pres">
      <dgm:prSet presAssocID="{B241D3E6-1651-48AF-B2C6-C09A8C3DB229}" presName="Name0" presStyleCnt="0">
        <dgm:presLayoutVars>
          <dgm:dir/>
          <dgm:animLvl val="lvl"/>
          <dgm:resizeHandles val="exact"/>
        </dgm:presLayoutVars>
      </dgm:prSet>
      <dgm:spPr/>
    </dgm:pt>
    <dgm:pt modelId="{6ACFB983-AAAD-487D-BDB4-E1544BB2AD13}" type="pres">
      <dgm:prSet presAssocID="{2C2A78AB-4A94-4E06-B655-66633DE0A428}" presName="composite" presStyleCnt="0"/>
      <dgm:spPr/>
    </dgm:pt>
    <dgm:pt modelId="{7BA77A71-3BFF-48C7-BC57-E544D9CD2112}" type="pres">
      <dgm:prSet presAssocID="{2C2A78AB-4A94-4E06-B655-66633DE0A428}" presName="parTx" presStyleLbl="alignNode1" presStyleIdx="0" presStyleCnt="2" custScaleX="75132" custScaleY="75132" custLinFactNeighborX="6652" custLinFactNeighborY="-3515">
        <dgm:presLayoutVars>
          <dgm:chMax val="0"/>
          <dgm:chPref val="0"/>
          <dgm:bulletEnabled val="1"/>
        </dgm:presLayoutVars>
      </dgm:prSet>
      <dgm:spPr/>
    </dgm:pt>
    <dgm:pt modelId="{8B464997-B4CA-4E8B-B486-9583E91F6954}" type="pres">
      <dgm:prSet presAssocID="{2C2A78AB-4A94-4E06-B655-66633DE0A428}" presName="desTx" presStyleLbl="alignAccFollowNode1" presStyleIdx="0" presStyleCnt="2">
        <dgm:presLayoutVars>
          <dgm:bulletEnabled val="1"/>
        </dgm:presLayoutVars>
      </dgm:prSet>
      <dgm:spPr/>
    </dgm:pt>
    <dgm:pt modelId="{83A04D10-C166-4A87-A288-AFB84C8A0786}" type="pres">
      <dgm:prSet presAssocID="{1F133BF6-A2DD-4E49-9B4E-1EB581597DF0}" presName="space" presStyleCnt="0"/>
      <dgm:spPr/>
    </dgm:pt>
    <dgm:pt modelId="{8EF344A1-2A60-43C0-A3A9-C62027DE829B}" type="pres">
      <dgm:prSet presAssocID="{58665E3E-1A18-4AA0-8DB6-BB58A1177C92}" presName="composite" presStyleCnt="0"/>
      <dgm:spPr/>
    </dgm:pt>
    <dgm:pt modelId="{C1495D55-FC40-45E2-8558-D0A986022AB9}" type="pres">
      <dgm:prSet presAssocID="{58665E3E-1A18-4AA0-8DB6-BB58A1177C92}" presName="parTx" presStyleLbl="alignNode1" presStyleIdx="1" presStyleCnt="2" custScaleX="75132" custScaleY="75132" custLinFactNeighborX="21470" custLinFactNeighborY="-5861">
        <dgm:presLayoutVars>
          <dgm:chMax val="0"/>
          <dgm:chPref val="0"/>
          <dgm:bulletEnabled val="1"/>
        </dgm:presLayoutVars>
      </dgm:prSet>
      <dgm:spPr/>
    </dgm:pt>
    <dgm:pt modelId="{17CC44DF-4040-4697-BE6E-5E1A5CD6E008}" type="pres">
      <dgm:prSet presAssocID="{58665E3E-1A18-4AA0-8DB6-BB58A1177C9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25DEB107-372A-4223-983E-B8C11C6D3327}" srcId="{19B887FA-244D-4BD0-A46E-3DF78C22C868}" destId="{86562B9C-4F79-41DF-A4B2-7045C28D3FD0}" srcOrd="2" destOrd="0" parTransId="{BF73FDE8-EFD6-4CD1-BED7-62C7B019B8C4}" sibTransId="{22C07486-2DF6-4F0C-9231-892E4BE073C0}"/>
    <dgm:cxn modelId="{BD00A220-A726-4AFC-8815-9871B6619DB7}" srcId="{19B887FA-244D-4BD0-A46E-3DF78C22C868}" destId="{E9FC7969-9DDE-40B4-BF43-B99F50888BF8}" srcOrd="1" destOrd="0" parTransId="{8B185242-968E-46C5-BE33-FF388BE049F2}" sibTransId="{DAD93ED7-5414-4DA3-8755-4D47EBDA46C3}"/>
    <dgm:cxn modelId="{3ECC5134-6D28-47C2-A4EB-5D12B3F4F87B}" type="presOf" srcId="{2C2A78AB-4A94-4E06-B655-66633DE0A428}" destId="{7BA77A71-3BFF-48C7-BC57-E544D9CD2112}" srcOrd="0" destOrd="0" presId="urn:microsoft.com/office/officeart/2005/8/layout/hList1"/>
    <dgm:cxn modelId="{3090B745-55C1-4B51-B7E2-4CF78CB5EAE3}" srcId="{2C2A78AB-4A94-4E06-B655-66633DE0A428}" destId="{DF87F3FF-D65E-4483-89A3-8E1A54C8764B}" srcOrd="2" destOrd="0" parTransId="{A6BDC2EF-B37D-42C5-BE75-C9A9C9CE40D1}" sibTransId="{807D131E-1E15-42E0-B54B-2CA63FD6B22B}"/>
    <dgm:cxn modelId="{CD1A006A-4851-4A06-ACE0-CAF2AA9B7C14}" type="presOf" srcId="{09506FE0-75EE-484E-B705-C7C658F6362E}" destId="{17CC44DF-4040-4697-BE6E-5E1A5CD6E008}" srcOrd="0" destOrd="1" presId="urn:microsoft.com/office/officeart/2005/8/layout/hList1"/>
    <dgm:cxn modelId="{17838F6F-D2B0-4362-B327-ADEBE2D82D02}" srcId="{B241D3E6-1651-48AF-B2C6-C09A8C3DB229}" destId="{2C2A78AB-4A94-4E06-B655-66633DE0A428}" srcOrd="0" destOrd="0" parTransId="{D55395EE-7004-47D3-BEA3-0E4D7B9580B8}" sibTransId="{1F133BF6-A2DD-4E49-9B4E-1EB581597DF0}"/>
    <dgm:cxn modelId="{DD6D4C71-8521-416C-97F8-F7BE05883AAA}" type="presOf" srcId="{077D68CD-DCC6-473A-B4D1-41303474D594}" destId="{8B464997-B4CA-4E8B-B486-9583E91F6954}" srcOrd="0" destOrd="1" presId="urn:microsoft.com/office/officeart/2005/8/layout/hList1"/>
    <dgm:cxn modelId="{677B8A54-F374-4B44-B8AB-3705B87D2115}" type="presOf" srcId="{E9FC7969-9DDE-40B4-BF43-B99F50888BF8}" destId="{17CC44DF-4040-4697-BE6E-5E1A5CD6E008}" srcOrd="0" destOrd="2" presId="urn:microsoft.com/office/officeart/2005/8/layout/hList1"/>
    <dgm:cxn modelId="{561DA185-E003-4BB4-A7BB-2A4E66D52F0C}" type="presOf" srcId="{58665E3E-1A18-4AA0-8DB6-BB58A1177C92}" destId="{C1495D55-FC40-45E2-8558-D0A986022AB9}" srcOrd="0" destOrd="0" presId="urn:microsoft.com/office/officeart/2005/8/layout/hList1"/>
    <dgm:cxn modelId="{FF6AED88-8B0A-49CC-8BAD-0CF2E23462F6}" type="presOf" srcId="{7EFF483E-2CF5-4D94-9DB8-8AE2256FB2C2}" destId="{8B464997-B4CA-4E8B-B486-9583E91F6954}" srcOrd="0" destOrd="0" presId="urn:microsoft.com/office/officeart/2005/8/layout/hList1"/>
    <dgm:cxn modelId="{741A0E8C-EE15-4807-91A3-1D1AF9F40321}" type="presOf" srcId="{86562B9C-4F79-41DF-A4B2-7045C28D3FD0}" destId="{17CC44DF-4040-4697-BE6E-5E1A5CD6E008}" srcOrd="0" destOrd="3" presId="urn:microsoft.com/office/officeart/2005/8/layout/hList1"/>
    <dgm:cxn modelId="{B7A30A98-8D5F-48BC-8A3C-4FEEF4A643DE}" srcId="{2C2A78AB-4A94-4E06-B655-66633DE0A428}" destId="{7EFF483E-2CF5-4D94-9DB8-8AE2256FB2C2}" srcOrd="0" destOrd="0" parTransId="{61501EBE-E50A-4A6B-9584-38E2E2FE5F39}" sibTransId="{5C31099F-0639-4A07-A9A8-FBD31B0ADC67}"/>
    <dgm:cxn modelId="{21BF7AA0-8ADF-4012-90C0-254894BDDF95}" srcId="{2C2A78AB-4A94-4E06-B655-66633DE0A428}" destId="{077D68CD-DCC6-473A-B4D1-41303474D594}" srcOrd="1" destOrd="0" parTransId="{26EC61A5-8623-4CCD-B1D8-5AE3C2092072}" sibTransId="{2A6CDCCD-BFCB-4251-AE4F-C5867424B5A0}"/>
    <dgm:cxn modelId="{3E70E4A5-AAEF-4F60-A4C0-7071B9DA8662}" type="presOf" srcId="{DF87F3FF-D65E-4483-89A3-8E1A54C8764B}" destId="{8B464997-B4CA-4E8B-B486-9583E91F6954}" srcOrd="0" destOrd="2" presId="urn:microsoft.com/office/officeart/2005/8/layout/hList1"/>
    <dgm:cxn modelId="{D079CACE-0715-4CCF-A119-378C948289EE}" srcId="{B241D3E6-1651-48AF-B2C6-C09A8C3DB229}" destId="{58665E3E-1A18-4AA0-8DB6-BB58A1177C92}" srcOrd="1" destOrd="0" parTransId="{008D328F-AF1B-4D9C-ACC3-71D263832FFC}" sibTransId="{1F030502-2B0F-45DC-91CD-557FD7B24784}"/>
    <dgm:cxn modelId="{0D16FDD0-228B-4351-BC00-1DD5458785AD}" srcId="{58665E3E-1A18-4AA0-8DB6-BB58A1177C92}" destId="{19B887FA-244D-4BD0-A46E-3DF78C22C868}" srcOrd="0" destOrd="0" parTransId="{74531EE9-9FC0-48B3-8F8C-C60683AC5B74}" sibTransId="{CC80864E-E983-4076-8C7D-EFDE69B082A9}"/>
    <dgm:cxn modelId="{2EB0ACD6-814F-48E7-BF40-FB59237229E5}" type="presOf" srcId="{B241D3E6-1651-48AF-B2C6-C09A8C3DB229}" destId="{FA5BBFDA-3B91-487D-9607-478FCDC0FAF3}" srcOrd="0" destOrd="0" presId="urn:microsoft.com/office/officeart/2005/8/layout/hList1"/>
    <dgm:cxn modelId="{A0B524E8-CD41-43E7-87FC-634487070DB3}" type="presOf" srcId="{19B887FA-244D-4BD0-A46E-3DF78C22C868}" destId="{17CC44DF-4040-4697-BE6E-5E1A5CD6E008}" srcOrd="0" destOrd="0" presId="urn:microsoft.com/office/officeart/2005/8/layout/hList1"/>
    <dgm:cxn modelId="{9339F8F4-FE0E-4A54-AE75-DC572955DC5B}" srcId="{19B887FA-244D-4BD0-A46E-3DF78C22C868}" destId="{09506FE0-75EE-484E-B705-C7C658F6362E}" srcOrd="0" destOrd="0" parTransId="{D038E34E-7A60-41E7-B389-C34DBF177C4E}" sibTransId="{D73281E0-1C1B-44BE-BF2F-0287C7D79A4D}"/>
    <dgm:cxn modelId="{A59B1CB8-C9BA-4A67-B98A-3C70A79319BA}" type="presParOf" srcId="{FA5BBFDA-3B91-487D-9607-478FCDC0FAF3}" destId="{6ACFB983-AAAD-487D-BDB4-E1544BB2AD13}" srcOrd="0" destOrd="0" presId="urn:microsoft.com/office/officeart/2005/8/layout/hList1"/>
    <dgm:cxn modelId="{D314442C-CD52-4C04-8A8D-2285861DC421}" type="presParOf" srcId="{6ACFB983-AAAD-487D-BDB4-E1544BB2AD13}" destId="{7BA77A71-3BFF-48C7-BC57-E544D9CD2112}" srcOrd="0" destOrd="0" presId="urn:microsoft.com/office/officeart/2005/8/layout/hList1"/>
    <dgm:cxn modelId="{6345E6E7-CDC8-4E42-AA71-C86A531C5E0A}" type="presParOf" srcId="{6ACFB983-AAAD-487D-BDB4-E1544BB2AD13}" destId="{8B464997-B4CA-4E8B-B486-9583E91F6954}" srcOrd="1" destOrd="0" presId="urn:microsoft.com/office/officeart/2005/8/layout/hList1"/>
    <dgm:cxn modelId="{04B3CF2A-6DF7-4134-A3B8-CE5B401645EA}" type="presParOf" srcId="{FA5BBFDA-3B91-487D-9607-478FCDC0FAF3}" destId="{83A04D10-C166-4A87-A288-AFB84C8A0786}" srcOrd="1" destOrd="0" presId="urn:microsoft.com/office/officeart/2005/8/layout/hList1"/>
    <dgm:cxn modelId="{3BA0EDA8-61AD-48CB-B838-F997ADBFBBDC}" type="presParOf" srcId="{FA5BBFDA-3B91-487D-9607-478FCDC0FAF3}" destId="{8EF344A1-2A60-43C0-A3A9-C62027DE829B}" srcOrd="2" destOrd="0" presId="urn:microsoft.com/office/officeart/2005/8/layout/hList1"/>
    <dgm:cxn modelId="{0F77F325-33DD-4B80-A446-37C362DC90C5}" type="presParOf" srcId="{8EF344A1-2A60-43C0-A3A9-C62027DE829B}" destId="{C1495D55-FC40-45E2-8558-D0A986022AB9}" srcOrd="0" destOrd="0" presId="urn:microsoft.com/office/officeart/2005/8/layout/hList1"/>
    <dgm:cxn modelId="{BF099240-31B4-40E4-981F-C1742AA8B774}" type="presParOf" srcId="{8EF344A1-2A60-43C0-A3A9-C62027DE829B}" destId="{17CC44DF-4040-4697-BE6E-5E1A5CD6E00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77A71-3BFF-48C7-BC57-E544D9CD2112}">
      <dsp:nvSpPr>
        <dsp:cNvPr id="0" name=""/>
        <dsp:cNvSpPr/>
      </dsp:nvSpPr>
      <dsp:spPr bwMode="white">
        <a:xfrm>
          <a:off x="800264" y="34190"/>
          <a:ext cx="3150236" cy="12600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712" tIns="207264" rIns="362712" bIns="20726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场景一</a:t>
          </a:r>
        </a:p>
      </dsp:txBody>
      <dsp:txXfrm>
        <a:off x="800264" y="34190"/>
        <a:ext cx="3150236" cy="1260094"/>
      </dsp:txXfrm>
    </dsp:sp>
    <dsp:sp modelId="{8B464997-B4CA-4E8B-B486-9583E91F6954}">
      <dsp:nvSpPr>
        <dsp:cNvPr id="0" name=""/>
        <dsp:cNvSpPr/>
      </dsp:nvSpPr>
      <dsp:spPr bwMode="white">
        <a:xfrm>
          <a:off x="0" y="1561777"/>
          <a:ext cx="4192935" cy="3291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 sz="1600" b="1" kern="1200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altLang="zh-CN" sz="1600" b="1" kern="1200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1" kern="1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通过建立数据探索任务对业务数据进行实时监控（来一批数据跑一次数据探索任务），按照指导手册或业务经验制定业务预警规则，及时发现异常情况。</a:t>
          </a:r>
          <a:endParaRPr lang="en-US" altLang="zh-CN" sz="1600" b="1" kern="1200" dirty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561777"/>
        <a:ext cx="4192935" cy="3291205"/>
      </dsp:txXfrm>
    </dsp:sp>
    <dsp:sp modelId="{C1495D55-FC40-45E2-8558-D0A986022AB9}">
      <dsp:nvSpPr>
        <dsp:cNvPr id="0" name=""/>
        <dsp:cNvSpPr/>
      </dsp:nvSpPr>
      <dsp:spPr bwMode="white">
        <a:xfrm>
          <a:off x="5822645" y="0"/>
          <a:ext cx="3150236" cy="12600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712" tIns="207264" rIns="362712" bIns="20726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场景二</a:t>
          </a:r>
        </a:p>
      </dsp:txBody>
      <dsp:txXfrm>
        <a:off x="5822645" y="0"/>
        <a:ext cx="3150236" cy="1260094"/>
      </dsp:txXfrm>
    </dsp:sp>
    <dsp:sp modelId="{17CC44DF-4040-4697-BE6E-5E1A5CD6E008}">
      <dsp:nvSpPr>
        <dsp:cNvPr id="0" name=""/>
        <dsp:cNvSpPr/>
      </dsp:nvSpPr>
      <dsp:spPr bwMode="white">
        <a:xfrm>
          <a:off x="4779946" y="1561777"/>
          <a:ext cx="4192935" cy="3291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 typeface="Arial" panose="020B0604020202020204" pitchFamily="34" charset="0"/>
            <a:buNone/>
          </a:pPr>
          <a:endParaRPr lang="zh-CN" altLang="en-US" sz="1600" kern="1200" dirty="0">
            <a:solidFill>
              <a:schemeClr val="dk1"/>
            </a:solidFill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kumimoji="0" lang="zh-CN" altLang="en-US" sz="1600" b="1" i="0" u="none" strike="noStrike" kern="1200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Arial" panose="020B0604020202020204"/>
            <a:ea typeface="微软雅黑" panose="020B0503020204020204" pitchFamily="34" charset="-122"/>
            <a:cs typeface="+mn-cs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rPr>
            <a:t>在实时监控的情况下，数据未触发预警，但实际已出现异常表现。同时，在回溯问题数据时，仅依靠基本的数据分析方法无法发现异常产生的原因。为解决此类复杂问题，需要利用机器学习模型辅助分析过往大量历史数据，以发现异常原因。同时将该模型方法积累下来，用做日常业务监控，避免再次出现此类问题。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kumimoji="0" lang="zh-CN" altLang="en-US" sz="1600" b="0" i="0" u="none" strike="noStrike" kern="1200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Arial" panose="020B0604020202020204"/>
            <a:ea typeface="微软雅黑" panose="020B0503020204020204" pitchFamily="34" charset="-122"/>
            <a:cs typeface="+mn-cs"/>
          </a:endParaRPr>
        </a:p>
      </dsp:txBody>
      <dsp:txXfrm>
        <a:off x="4779946" y="1561777"/>
        <a:ext cx="4192935" cy="32912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8ED9C-7BBC-4398-A5B7-A377B2146003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36F9D-3E69-463B-BBD3-3F95FE636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36F9D-3E69-463B-BBD3-3F95FE6369E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 err="1"/>
              <a:t>Ameco</a:t>
            </a:r>
            <a:r>
              <a:rPr lang="zh-CN" altLang="en-US" dirty="0"/>
              <a:t>为实时监控</a:t>
            </a:r>
            <a:r>
              <a:rPr lang="en-US" altLang="zh-CN" dirty="0"/>
              <a:t>APU</a:t>
            </a:r>
            <a:r>
              <a:rPr lang="zh-CN" altLang="en-US" dirty="0"/>
              <a:t>（辅助动力装置）的运行情况，同时避免由于温度过高导致</a:t>
            </a:r>
            <a:r>
              <a:rPr lang="en-US" altLang="zh-CN" dirty="0"/>
              <a:t>APU</a:t>
            </a:r>
            <a:r>
              <a:rPr lang="zh-CN" altLang="en-US" dirty="0"/>
              <a:t>过热，增加故障产生的风险。需要监控</a:t>
            </a:r>
            <a:r>
              <a:rPr lang="en-US" altLang="zh-CN" dirty="0"/>
              <a:t>APU EGT</a:t>
            </a:r>
            <a:r>
              <a:rPr lang="zh-CN" altLang="en-US" dirty="0"/>
              <a:t>（辅助动力装置的排气温度）和</a:t>
            </a:r>
            <a:r>
              <a:rPr lang="en-US" altLang="zh-CN" dirty="0"/>
              <a:t>APU</a:t>
            </a:r>
            <a:r>
              <a:rPr lang="zh-CN" altLang="en-US" dirty="0"/>
              <a:t>开始启动到达到稳定运行状态所需的时间。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36F9D-3E69-463B-BBD3-3F95FE6369E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36F9D-3E69-463B-BBD3-3F95FE6369E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36F9D-3E69-463B-BBD3-3F95FE6369E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6683" t="2597" r="-4086"/>
          <a:stretch>
            <a:fillRect/>
          </a:stretch>
        </p:blipFill>
        <p:spPr>
          <a:xfrm>
            <a:off x="0" y="0"/>
            <a:ext cx="11551113" cy="685800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917824" y="2777534"/>
            <a:ext cx="7855511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2917824" y="2078943"/>
            <a:ext cx="7855511" cy="698591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2917824" y="4540842"/>
            <a:ext cx="785551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/>
              <a:t>Signature</a:t>
            </a:r>
          </a:p>
        </p:txBody>
      </p:sp>
      <p:sp>
        <p:nvSpPr>
          <p:cNvPr id="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917824" y="4837113"/>
            <a:ext cx="785551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/>
              <a:t>Date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pic>
        <p:nvPicPr>
          <p:cNvPr id="4" name="Picture 3" descr="A picture containing clock, meter&#10;&#10;Description automatically generated"/>
          <p:cNvPicPr/>
          <p:nvPr/>
        </p:nvPicPr>
        <p:blipFill>
          <a:blip r:embed="rId2"/>
          <a:stretch>
            <a:fillRect/>
          </a:stretch>
        </p:blipFill>
        <p:spPr>
          <a:xfrm>
            <a:off x="10419397" y="273050"/>
            <a:ext cx="1539240" cy="241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760102" y="4534942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6B2A1-9E02-45EE-A460-ABC954F63EC9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FCA6-E013-46D0-9F24-42583F5904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5071466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7116270" y="861933"/>
            <a:ext cx="4089612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7116270" y="0"/>
            <a:ext cx="5075729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5071466" y="0"/>
            <a:ext cx="7120533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7116270" y="0"/>
            <a:ext cx="5075729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8806404" y="1976968"/>
            <a:ext cx="1315703" cy="2321464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3026661" y="0"/>
            <a:ext cx="9161075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4" y="861933"/>
            <a:ext cx="4089612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5071466" y="839766"/>
            <a:ext cx="5314604" cy="5314604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solidFill>
                  <a:schemeClr val="bg1"/>
                </a:solidFill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solidFill>
                <a:schemeClr val="bg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5071466" y="861933"/>
            <a:ext cx="6134416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-1" y="0"/>
            <a:ext cx="6109855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7116270" y="861933"/>
            <a:ext cx="4089612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7116270" y="0"/>
            <a:ext cx="5075730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-1" y="0"/>
            <a:ext cx="7116271" cy="685050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5" y="861933"/>
            <a:ext cx="4089612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861933"/>
            <a:ext cx="4089612" cy="245103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3026661" y="3312972"/>
            <a:ext cx="4089612" cy="245103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69" y="861933"/>
            <a:ext cx="4089612" cy="245103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116269" y="3312972"/>
            <a:ext cx="4089612" cy="245103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-1" y="0"/>
            <a:ext cx="6134793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5" y="861933"/>
            <a:ext cx="4089612" cy="236462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981855" y="3638512"/>
            <a:ext cx="4089612" cy="236462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69" y="861933"/>
            <a:ext cx="4089612" cy="236462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116269" y="3638512"/>
            <a:ext cx="4089612" cy="236462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-1" y="0"/>
            <a:ext cx="5071465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5071464" y="861933"/>
            <a:ext cx="4089612" cy="236462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116268" y="2130661"/>
            <a:ext cx="4089612" cy="236462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3026654" y="3222747"/>
            <a:ext cx="4089612" cy="236462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4" y="3671636"/>
            <a:ext cx="2044807" cy="40592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3026658" y="3197810"/>
            <a:ext cx="2044807" cy="40592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5071465" y="2256564"/>
            <a:ext cx="2044807" cy="40592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116269" y="2459817"/>
            <a:ext cx="2044807" cy="40592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9161074" y="3815590"/>
            <a:ext cx="2044807" cy="40592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6" grpId="0" animBg="1"/>
      <p:bldP spid="18" grpId="0" animBg="1"/>
      <p:bldP spid="22" grpId="0" animBg="1"/>
      <p:bldP spid="25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5071465" y="861934"/>
            <a:ext cx="2044807" cy="514119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116269" y="861934"/>
            <a:ext cx="2044807" cy="514119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9161074" y="861933"/>
            <a:ext cx="2044807" cy="514119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  <p:bldP spid="25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5071466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5071466" y="861933"/>
            <a:ext cx="6134416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-1" y="0"/>
            <a:ext cx="9161075" cy="68505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7116270" y="861933"/>
            <a:ext cx="4089612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760102" y="4534942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" name="Slide Number Placeholder 5"/>
          <p:cNvSpPr txBox="1"/>
          <p:nvPr userDrawn="1"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3" name="Straight Connector 9"/>
          <p:cNvCxnSpPr/>
          <p:nvPr userDrawn="1"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10"/>
          <p:cNvCxnSpPr/>
          <p:nvPr userDrawn="1"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11"/>
          <p:cNvCxnSpPr/>
          <p:nvPr userDrawn="1"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2"/>
          <p:cNvCxnSpPr/>
          <p:nvPr userDrawn="1"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3"/>
          <p:cNvCxnSpPr/>
          <p:nvPr userDrawn="1"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4"/>
          <p:cNvCxnSpPr/>
          <p:nvPr userDrawn="1"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6"/>
          <p:cNvSpPr txBox="1"/>
          <p:nvPr userDrawn="1"/>
        </p:nvSpPr>
        <p:spPr>
          <a:xfrm rot="16200000">
            <a:off x="-760102" y="4534942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18" name="Group 20"/>
          <p:cNvGrpSpPr/>
          <p:nvPr userDrawn="1"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22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6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5267279" y="2388870"/>
            <a:ext cx="5248321" cy="328041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5964865" y="988829"/>
            <a:ext cx="7570382" cy="473148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1931991" y="1808274"/>
            <a:ext cx="2007753" cy="356821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6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7318852" y="2473174"/>
            <a:ext cx="1861466" cy="33045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>
            <a:outerShdw blurRad="228600" dist="342900" dir="5400000" sx="89000" sy="89000" algn="t" rotWithShape="0">
              <a:prstClr val="black">
                <a:alpha val="14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05744" y="2473174"/>
            <a:ext cx="1861466" cy="33045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>
            <a:outerShdw blurRad="228600" dist="342900" dir="5400000" sx="89000" sy="89000" algn="t" rotWithShape="0">
              <a:prstClr val="black">
                <a:alpha val="14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993234" y="2473174"/>
            <a:ext cx="1861466" cy="33045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>
            <a:outerShdw blurRad="228600" dist="342900" dir="5400000" sx="89000" sy="89000" algn="t" rotWithShape="0">
              <a:prstClr val="black">
                <a:alpha val="14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-1019277" y="2473174"/>
            <a:ext cx="1861466" cy="33045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>
            <a:outerShdw blurRad="228600" dist="342900" dir="5400000" sx="89000" sy="89000" algn="t" rotWithShape="0">
              <a:prstClr val="black">
                <a:alpha val="14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11343873" y="2473174"/>
            <a:ext cx="1861466" cy="33045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>
            <a:outerShdw blurRad="228600" dist="342900" dir="5400000" sx="89000" sy="89000" algn="t" rotWithShape="0">
              <a:prstClr val="black">
                <a:alpha val="14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9331363" y="2473174"/>
            <a:ext cx="1861466" cy="33045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>
            <a:outerShdw blurRad="228600" dist="342900" dir="5400000" sx="89000" sy="89000" algn="t" rotWithShape="0">
              <a:prstClr val="black">
                <a:alpha val="14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166140" y="2473174"/>
            <a:ext cx="1861466" cy="33045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2" grpId="0" animBg="1"/>
      <p:bldP spid="23" grpId="0" animBg="1"/>
      <p:bldP spid="24" grpId="0" animBg="1"/>
      <p:bldP spid="25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7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902580" y="2713250"/>
            <a:ext cx="1725570" cy="305676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265039" y="2344106"/>
            <a:ext cx="2001318" cy="355304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1822122" y="4762702"/>
            <a:ext cx="774384" cy="9632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8929390" y="2102019"/>
            <a:ext cx="5221112" cy="3914733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4368299" y="2713250"/>
            <a:ext cx="1725570" cy="305676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1730497" y="2344106"/>
            <a:ext cx="2001318" cy="355304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 rot="19800000">
            <a:off x="-1487012" y="-2193956"/>
            <a:ext cx="3932123" cy="5234302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 rot="19800000">
            <a:off x="10294981" y="2478418"/>
            <a:ext cx="3932123" cy="5234302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5" hasCustomPrompt="1"/>
          </p:nvPr>
        </p:nvSpPr>
        <p:spPr>
          <a:xfrm rot="3600000">
            <a:off x="9810147" y="-1216807"/>
            <a:ext cx="1725570" cy="305676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6" hasCustomPrompt="1"/>
          </p:nvPr>
        </p:nvSpPr>
        <p:spPr>
          <a:xfrm rot="19800000">
            <a:off x="8862614" y="5972938"/>
            <a:ext cx="774384" cy="9632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4" hasCustomPrompt="1"/>
          </p:nvPr>
        </p:nvSpPr>
        <p:spPr>
          <a:xfrm rot="3600000">
            <a:off x="-51730" y="4041080"/>
            <a:ext cx="1725570" cy="305676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6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2000563" y="2327009"/>
            <a:ext cx="1874752" cy="2212333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6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4246988" y="-22859"/>
            <a:ext cx="1659300" cy="294894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99985" y="1748790"/>
            <a:ext cx="1659300" cy="294894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8326256" y="262890"/>
            <a:ext cx="1659300" cy="294894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2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4023530" y="1796352"/>
            <a:ext cx="1801537" cy="323849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518374" y="1796352"/>
            <a:ext cx="1801537" cy="323849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300984" y="4215384"/>
            <a:ext cx="2093976" cy="37216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  <a:scene3d>
            <a:camera prst="orthographicFront">
              <a:rot lat="2400000" lon="2400000" rev="3600000"/>
            </a:camera>
            <a:lightRig rig="threePt" dir="t"/>
          </a:scene3d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112553" y="3076055"/>
            <a:ext cx="2093976" cy="37216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  <a:scene3d>
            <a:camera prst="orthographicFront">
              <a:rot lat="2400000" lon="2400000" rev="3600000"/>
            </a:camera>
            <a:lightRig rig="threePt" dir="t"/>
          </a:scene3d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8685085" y="820709"/>
            <a:ext cx="2093976" cy="37216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  <a:scene3d>
            <a:camera prst="orthographicFront">
              <a:rot lat="2400000" lon="2400000" rev="3600000"/>
            </a:camera>
            <a:lightRig rig="threePt" dir="t"/>
          </a:scene3d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10487042" y="-311247"/>
            <a:ext cx="2093976" cy="372160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  <a:scene3d>
            <a:camera prst="orthographicFront">
              <a:rot lat="2400000" lon="2400000" rev="3600000"/>
            </a:camera>
            <a:lightRig rig="threePt" dir="t"/>
          </a:scene3d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161" y="2213356"/>
            <a:ext cx="5203862" cy="3360312"/>
          </a:xfrm>
          <a:prstGeom prst="rect">
            <a:avLst/>
          </a:prstGeom>
        </p:spPr>
      </p:pic>
      <p:sp>
        <p:nvSpPr>
          <p:cNvPr id="2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016275" y="1791063"/>
            <a:ext cx="1901952" cy="393192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  <a:scene3d>
            <a:camera prst="orthographicFront">
              <a:rot lat="2400000" lon="2400000" rev="3630000"/>
            </a:camera>
            <a:lightRig rig="threePt" dir="t"/>
          </a:scene3d>
          <a:sp3d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8" grpId="0" animBg="1"/>
      <p:bldP spid="29" grpId="0" animBg="1"/>
      <p:bldP spid="27" grpId="0" animBg="1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4727948" y="1976968"/>
            <a:ext cx="1315703" cy="2321464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1100041"/>
            <a:ext cx="2044805" cy="2050932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3494314"/>
            <a:ext cx="2044804" cy="335619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071465" y="3494314"/>
            <a:ext cx="2044804" cy="335619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9161077" y="0"/>
            <a:ext cx="2044804" cy="335619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4213654"/>
            <a:ext cx="2044804" cy="263685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3026660" y="0"/>
            <a:ext cx="2044804" cy="2335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68" y="2335427"/>
            <a:ext cx="4089614" cy="451507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81855" y="-1"/>
            <a:ext cx="6134415" cy="685050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2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3026659" y="0"/>
            <a:ext cx="4089611" cy="4831492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71" y="2019013"/>
            <a:ext cx="4089611" cy="4831492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3025282" y="1372613"/>
            <a:ext cx="1901763" cy="24384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5071466" y="1372613"/>
            <a:ext cx="1901763" cy="24384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7116271" y="2287013"/>
            <a:ext cx="1901763" cy="24384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9162455" y="2287013"/>
            <a:ext cx="1901763" cy="24384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7" grpId="0" animBg="1"/>
      <p:bldP spid="28" grpId="0" animBg="1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5071466" y="0"/>
            <a:ext cx="7120534" cy="68505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2522220"/>
            <a:ext cx="1845716" cy="166116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071466" y="2522220"/>
            <a:ext cx="1845716" cy="166116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71" y="2522220"/>
            <a:ext cx="1845716" cy="166116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161076" y="2522220"/>
            <a:ext cx="1845716" cy="166116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926176"/>
            <a:ext cx="8179221" cy="534162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075924" y="4721629"/>
            <a:ext cx="2040346" cy="213637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5" y="-7496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981855" y="1828799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026661" y="-7496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3026661" y="1828799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5071466" y="-7496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5071466" y="1828799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1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7116271" y="-7496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7116271" y="1828799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3" name="Picture Placeholder 2"/>
          <p:cNvSpPr>
            <a:spLocks noGrp="1"/>
          </p:cNvSpPr>
          <p:nvPr>
            <p:ph type="pic" sz="quarter" idx="19" hasCustomPrompt="1"/>
          </p:nvPr>
        </p:nvSpPr>
        <p:spPr>
          <a:xfrm>
            <a:off x="9161075" y="-7496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4" name="Picture Placeholder 2"/>
          <p:cNvSpPr>
            <a:spLocks noGrp="1"/>
          </p:cNvSpPr>
          <p:nvPr>
            <p:ph type="pic" sz="quarter" idx="20" hasCustomPrompt="1"/>
          </p:nvPr>
        </p:nvSpPr>
        <p:spPr>
          <a:xfrm>
            <a:off x="9161075" y="1828799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5" name="Picture Placeholder 2"/>
          <p:cNvSpPr>
            <a:spLocks noGrp="1"/>
          </p:cNvSpPr>
          <p:nvPr>
            <p:ph type="pic" sz="quarter" idx="21" hasCustomPrompt="1"/>
          </p:nvPr>
        </p:nvSpPr>
        <p:spPr>
          <a:xfrm>
            <a:off x="11205883" y="-7496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6" name="Picture Placeholder 2"/>
          <p:cNvSpPr>
            <a:spLocks noGrp="1"/>
          </p:cNvSpPr>
          <p:nvPr>
            <p:ph type="pic" sz="quarter" idx="22" hasCustomPrompt="1"/>
          </p:nvPr>
        </p:nvSpPr>
        <p:spPr>
          <a:xfrm>
            <a:off x="11205883" y="1828799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7" name="Picture Placeholder 2"/>
          <p:cNvSpPr>
            <a:spLocks noGrp="1"/>
          </p:cNvSpPr>
          <p:nvPr>
            <p:ph type="pic" sz="quarter" idx="23" hasCustomPrompt="1"/>
          </p:nvPr>
        </p:nvSpPr>
        <p:spPr>
          <a:xfrm>
            <a:off x="-1062952" y="-7496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8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-1062952" y="1828799"/>
            <a:ext cx="2044805" cy="18362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665093"/>
            <a:ext cx="12192000" cy="3192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2214649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071466" y="2214649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71" y="2214649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161076" y="2214649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3026661" y="4359332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5071466" y="4359332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7" hasCustomPrompt="1"/>
          </p:nvPr>
        </p:nvSpPr>
        <p:spPr>
          <a:xfrm>
            <a:off x="7116271" y="4359332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9161076" y="4359332"/>
            <a:ext cx="1845716" cy="135151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5071466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861933"/>
            <a:ext cx="2044805" cy="4616783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071466" y="861933"/>
            <a:ext cx="2044805" cy="4616783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71" y="861933"/>
            <a:ext cx="2044805" cy="4616783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161076" y="861933"/>
            <a:ext cx="2044805" cy="4616783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3026661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6" y="861933"/>
            <a:ext cx="10224026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0" y="3312973"/>
            <a:ext cx="6134415" cy="35450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6" y="861933"/>
            <a:ext cx="10224026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9161076" y="4806778"/>
            <a:ext cx="2044806" cy="20437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7116270" y="4806778"/>
            <a:ext cx="2044806" cy="20437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5071465" y="4806778"/>
            <a:ext cx="2044806" cy="20437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11205882" y="4806778"/>
            <a:ext cx="2044806" cy="20437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6084915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6" y="861933"/>
            <a:ext cx="5103060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084916" y="861933"/>
            <a:ext cx="5120966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6" y="3059084"/>
            <a:ext cx="4089610" cy="294404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071466" y="3059084"/>
            <a:ext cx="4089610" cy="294404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5071466" y="-24939"/>
            <a:ext cx="2044805" cy="230262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5071466" y="2277686"/>
            <a:ext cx="2044805" cy="230262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5071466" y="4580311"/>
            <a:ext cx="2044805" cy="230262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1" y="0"/>
            <a:ext cx="4089610" cy="2295144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7116272" y="2295144"/>
            <a:ext cx="4089610" cy="2295144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026661" y="4590288"/>
            <a:ext cx="4089610" cy="2295144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-7495"/>
            <a:ext cx="12192000" cy="330804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3026662" y="-7495"/>
            <a:ext cx="9165338" cy="68654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312972"/>
            <a:ext cx="5071466" cy="35450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-7496"/>
            <a:ext cx="12192000" cy="68654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0">
                <a:latin typeface="微软雅黑 Light" panose="020B0502040204020203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 Light" panose="020B0502040204020203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 Light" panose="020B0502040204020203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 Light" panose="020B0502040204020203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 Light" panose="020B0502040204020203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 Light" panose="020B0502040204020203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 Light" panose="020B0502040204020203" pitchFamily="34" charset="-122"/>
              </a:defRPr>
            </a:lvl1pPr>
          </a:lstStyle>
          <a:p>
            <a:fld id="{8A04CBEA-46EF-45C6-B692-E3D3A63E46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 Light" panose="020B0502040204020203" pitchFamily="34" charset="-122"/>
              </a:defRPr>
            </a:lvl1pPr>
            <a:lvl2pPr>
              <a:defRPr>
                <a:latin typeface="微软雅黑 Light" panose="020B0502040204020203" pitchFamily="34" charset="-122"/>
              </a:defRPr>
            </a:lvl2pPr>
            <a:lvl3pPr>
              <a:defRPr>
                <a:latin typeface="微软雅黑 Light" panose="020B0502040204020203" pitchFamily="34" charset="-122"/>
              </a:defRPr>
            </a:lvl3pPr>
            <a:lvl4pPr>
              <a:defRPr>
                <a:latin typeface="微软雅黑 Light" panose="020B0502040204020203" pitchFamily="34" charset="-122"/>
              </a:defRPr>
            </a:lvl4pPr>
            <a:lvl5pPr>
              <a:defRPr>
                <a:latin typeface="微软雅黑 Light" panose="020B0502040204020203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 Light" panose="020B0502040204020203" pitchFamily="34" charset="-122"/>
              </a:defRPr>
            </a:lvl1pPr>
          </a:lstStyle>
          <a:p>
            <a:fld id="{729112FA-4917-4E14-A73B-07EB212A88BD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 Light" panose="020B0502040204020203" pitchFamily="34" charset="-122"/>
              </a:defRPr>
            </a:lvl1pPr>
          </a:lstStyle>
          <a:p>
            <a:endParaRPr 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 Light" panose="020B0502040204020203" pitchFamily="34" charset="-122"/>
              </a:defRPr>
            </a:lvl1pPr>
          </a:lstStyle>
          <a:p>
            <a:fld id="{8A04CBEA-46EF-45C6-B692-E3D3A63E46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16200000">
            <a:off x="-760102" y="4534942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075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112FA-4917-4E14-A73B-07EB212A88BD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CBEA-46EF-45C6-B692-E3D3A63E46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 userDrawn="1"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 rot="16200000">
            <a:off x="-760102" y="4534942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err="1">
                <a:latin typeface="Bebas Neue" charset="0"/>
                <a:ea typeface="Bebas Neue" charset="0"/>
                <a:cs typeface="Bebas Neue" charset="0"/>
              </a:rPr>
              <a:t>www.datamesh.com</a:t>
            </a:r>
            <a:endParaRPr lang="en-US" sz="1000" b="1" i="0" spc="600"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332606-6724-4FAB-89DB-6F6619ED6677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F854DF-FF71-41CA-8F9C-FA9F04E34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332606-6724-4FAB-89DB-6F6619ED6677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F854DF-FF71-41CA-8F9C-FA9F04E34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332606-6724-4FAB-89DB-6F6619ED6677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F854DF-FF71-41CA-8F9C-FA9F04E34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332606-6724-4FAB-89DB-6F6619ED6677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F854DF-FF71-41CA-8F9C-FA9F04E34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332606-6724-4FAB-89DB-6F6619ED6677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F854DF-FF71-41CA-8F9C-FA9F04E34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332606-6724-4FAB-89DB-6F6619ED6677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F854DF-FF71-41CA-8F9C-FA9F04E34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332606-6724-4FAB-89DB-6F6619ED6677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F854DF-FF71-41CA-8F9C-FA9F04E34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332606-6724-4FAB-89DB-6F6619ED6677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F854DF-FF71-41CA-8F9C-FA9F04E34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332606-6724-4FAB-89DB-6F6619ED6677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F854DF-FF71-41CA-8F9C-FA9F04E34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9EDF50-E5B8-47ED-97AF-1A8B406DB3A8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EB0086-221D-4138-9B8C-BE49211C5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9EDF50-E5B8-47ED-97AF-1A8B406DB3A8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EB0086-221D-4138-9B8C-BE49211C5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917824" y="2777534"/>
            <a:ext cx="7855511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2917824" y="2078943"/>
            <a:ext cx="7855511" cy="698591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2917824" y="4540842"/>
            <a:ext cx="785551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/>
              <a:t>Signature</a:t>
            </a:r>
          </a:p>
        </p:txBody>
      </p:sp>
      <p:sp>
        <p:nvSpPr>
          <p:cNvPr id="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917824" y="4837113"/>
            <a:ext cx="785551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/>
              <a:t>Date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32.xml"/><Relationship Id="rId39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27.xml"/><Relationship Id="rId34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53.xml"/><Relationship Id="rId50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61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9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17.xml"/><Relationship Id="rId24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43.xml"/><Relationship Id="rId40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51.xml"/><Relationship Id="rId53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1.xml"/><Relationship Id="rId61" Type="http://schemas.openxmlformats.org/officeDocument/2006/relationships/theme" Target="../theme/theme2.xml"/><Relationship Id="rId1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33.xml"/><Relationship Id="rId30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54.xml"/><Relationship Id="rId56" Type="http://schemas.openxmlformats.org/officeDocument/2006/relationships/slideLayout" Target="../slideLayouts/slideLayout62.xml"/><Relationship Id="rId8" Type="http://schemas.openxmlformats.org/officeDocument/2006/relationships/slideLayout" Target="../slideLayouts/slideLayout14.xml"/><Relationship Id="rId51" Type="http://schemas.openxmlformats.org/officeDocument/2006/relationships/slideLayout" Target="../slideLayouts/slideLayout57.xml"/><Relationship Id="rId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52.xml"/><Relationship Id="rId59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26.xml"/><Relationship Id="rId41" Type="http://schemas.openxmlformats.org/officeDocument/2006/relationships/slideLayout" Target="../slideLayouts/slideLayout47.xml"/><Relationship Id="rId54" Type="http://schemas.openxmlformats.org/officeDocument/2006/relationships/slideLayout" Target="../slideLayouts/slideLayout60.xml"/><Relationship Id="rId6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42.xml"/><Relationship Id="rId49" Type="http://schemas.openxmlformats.org/officeDocument/2006/relationships/slideLayout" Target="../slideLayouts/slideLayout55.xml"/><Relationship Id="rId57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16.xml"/><Relationship Id="rId31" Type="http://schemas.openxmlformats.org/officeDocument/2006/relationships/slideLayout" Target="../slideLayouts/slideLayout37.xml"/><Relationship Id="rId44" Type="http://schemas.openxmlformats.org/officeDocument/2006/relationships/slideLayout" Target="../slideLayouts/slideLayout50.xml"/><Relationship Id="rId52" Type="http://schemas.openxmlformats.org/officeDocument/2006/relationships/slideLayout" Target="../slideLayouts/slideLayout58.xml"/><Relationship Id="rId6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84.xml"/><Relationship Id="rId3" Type="http://schemas.openxmlformats.org/officeDocument/2006/relationships/slideLayout" Target="../slideLayouts/slideLayout69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83.xml"/><Relationship Id="rId2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82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81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80.xml"/><Relationship Id="rId22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0" y="1028700"/>
            <a:ext cx="12192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ïśľiḍè"/>
          <p:cNvSpPr/>
          <p:nvPr/>
        </p:nvSpPr>
        <p:spPr>
          <a:xfrm>
            <a:off x="-32528" y="-619551"/>
            <a:ext cx="2485055" cy="474964"/>
          </a:xfrm>
          <a:prstGeom prst="rect">
            <a:avLst/>
          </a:prstGeom>
          <a:solidFill>
            <a:schemeClr val="accent1"/>
          </a:solidFill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 altLang="zh-CN" i="1">
                <a:solidFill>
                  <a:schemeClr val="bg1"/>
                </a:solidFill>
              </a:rPr>
              <a:t>49,173,252</a:t>
            </a:r>
            <a:endParaRPr lang="zh-CN" altLang="en-US" i="1">
              <a:solidFill>
                <a:schemeClr val="bg1"/>
              </a:solidFill>
            </a:endParaRPr>
          </a:p>
        </p:txBody>
      </p:sp>
      <p:sp>
        <p:nvSpPr>
          <p:cNvPr id="13" name="íś1ïḍê"/>
          <p:cNvSpPr/>
          <p:nvPr/>
        </p:nvSpPr>
        <p:spPr>
          <a:xfrm>
            <a:off x="2775796" y="-619551"/>
            <a:ext cx="2485055" cy="47496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 altLang="zh-CN" i="1">
                <a:solidFill>
                  <a:schemeClr val="bg1"/>
                </a:solidFill>
              </a:rPr>
              <a:t>166,166,166</a:t>
            </a:r>
            <a:endParaRPr lang="zh-CN" altLang="en-US" i="1">
              <a:solidFill>
                <a:schemeClr val="bg1"/>
              </a:solidFill>
            </a:endParaRPr>
          </a:p>
        </p:txBody>
      </p:sp>
      <p:sp>
        <p:nvSpPr>
          <p:cNvPr id="14" name="ïśľiḍè"/>
          <p:cNvSpPr/>
          <p:nvPr/>
        </p:nvSpPr>
        <p:spPr>
          <a:xfrm>
            <a:off x="5584120" y="-619551"/>
            <a:ext cx="2485055" cy="474964"/>
          </a:xfrm>
          <a:prstGeom prst="rect">
            <a:avLst/>
          </a:prstGeom>
          <a:solidFill>
            <a:schemeClr val="accent3"/>
          </a:solidFill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 altLang="zh-CN" i="1">
                <a:solidFill>
                  <a:schemeClr val="bg1"/>
                </a:solidFill>
              </a:rPr>
              <a:t>131,205,253</a:t>
            </a:r>
            <a:endParaRPr lang="zh-CN" altLang="en-US" i="1">
              <a:solidFill>
                <a:schemeClr val="bg1"/>
              </a:solidFill>
            </a:endParaRPr>
          </a:p>
        </p:txBody>
      </p:sp>
      <p:sp>
        <p:nvSpPr>
          <p:cNvPr id="15" name="íś1ïḍê"/>
          <p:cNvSpPr/>
          <p:nvPr/>
        </p:nvSpPr>
        <p:spPr>
          <a:xfrm>
            <a:off x="8392443" y="-619551"/>
            <a:ext cx="2485055" cy="4749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 altLang="zh-CN" i="1">
                <a:solidFill>
                  <a:schemeClr val="bg1"/>
                </a:solidFill>
              </a:rPr>
              <a:t>202,203,203</a:t>
            </a:r>
            <a:endParaRPr lang="zh-CN" altLang="en-US" i="1">
              <a:solidFill>
                <a:schemeClr val="bg1"/>
              </a:solidFill>
            </a:endParaRPr>
          </a:p>
        </p:txBody>
      </p:sp>
      <p:pic>
        <p:nvPicPr>
          <p:cNvPr id="16" name="Picture 2" descr="A picture containing clock, meter&#10;&#10;Description automatically generate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2158" y="6239035"/>
            <a:ext cx="2050367" cy="32152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2800" b="1" kern="1200" spc="3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lock, meter&#10;&#10;Description automatically generated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772158" y="6239035"/>
            <a:ext cx="2050367" cy="32152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689" r:id="rId34"/>
    <p:sldLayoutId id="2147483690" r:id="rId35"/>
    <p:sldLayoutId id="2147483691" r:id="rId36"/>
    <p:sldLayoutId id="2147483692" r:id="rId37"/>
    <p:sldLayoutId id="2147483693" r:id="rId38"/>
    <p:sldLayoutId id="2147483694" r:id="rId39"/>
    <p:sldLayoutId id="2147483695" r:id="rId40"/>
    <p:sldLayoutId id="2147483696" r:id="rId41"/>
    <p:sldLayoutId id="2147483697" r:id="rId42"/>
    <p:sldLayoutId id="2147483698" r:id="rId43"/>
    <p:sldLayoutId id="2147483699" r:id="rId44"/>
    <p:sldLayoutId id="2147483700" r:id="rId45"/>
    <p:sldLayoutId id="2147483701" r:id="rId46"/>
    <p:sldLayoutId id="2147483702" r:id="rId47"/>
    <p:sldLayoutId id="2147483703" r:id="rId48"/>
    <p:sldLayoutId id="2147483704" r:id="rId49"/>
    <p:sldLayoutId id="2147483705" r:id="rId50"/>
    <p:sldLayoutId id="2147483706" r:id="rId51"/>
    <p:sldLayoutId id="2147483707" r:id="rId52"/>
    <p:sldLayoutId id="2147483708" r:id="rId53"/>
    <p:sldLayoutId id="2147483709" r:id="rId54"/>
    <p:sldLayoutId id="2147483710" r:id="rId55"/>
    <p:sldLayoutId id="2147483711" r:id="rId56"/>
    <p:sldLayoutId id="2147483712" r:id="rId57"/>
    <p:sldLayoutId id="2147483713" r:id="rId58"/>
    <p:sldLayoutId id="2147483714" r:id="rId59"/>
    <p:sldLayoutId id="2147483715" r:id="rId6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64495" y="412831"/>
            <a:ext cx="10515600" cy="9745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5532" y="1499627"/>
            <a:ext cx="103545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Rectangle 17"/>
          <p:cNvSpPr/>
          <p:nvPr/>
        </p:nvSpPr>
        <p:spPr>
          <a:xfrm>
            <a:off x="0" y="105968"/>
            <a:ext cx="435935" cy="904550"/>
          </a:xfrm>
          <a:prstGeom prst="rect">
            <a:avLst/>
          </a:prstGeom>
          <a:solidFill>
            <a:srgbClr val="1E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5" baseline="0" dirty="0">
              <a:latin typeface="Segoe UI Light" panose="020B0502040204020203" pitchFamily="34" charset="0"/>
              <a:ea typeface="微软雅黑 Light" panose="020B0502040204020203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1" cstate="email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artisticPhotocopy detail="2"/>
                    </a14:imgEffect>
                  </a14:imgLayer>
                </a14:imgProps>
              </a:ext>
            </a:extLst>
          </a:blip>
          <a:srcRect b="39865"/>
          <a:stretch>
            <a:fillRect/>
          </a:stretch>
        </p:blipFill>
        <p:spPr>
          <a:xfrm>
            <a:off x="10630938" y="6237911"/>
            <a:ext cx="1521703" cy="51472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3" cstate="email"/>
          <a:srcRect b="39865"/>
          <a:stretch>
            <a:fillRect/>
          </a:stretch>
        </p:blipFill>
        <p:spPr>
          <a:xfrm>
            <a:off x="10633826" y="6222671"/>
            <a:ext cx="1521703" cy="514726"/>
          </a:xfrm>
          <a:prstGeom prst="rect">
            <a:avLst/>
          </a:prstGeom>
        </p:spPr>
      </p:pic>
      <p:sp>
        <p:nvSpPr>
          <p:cNvPr id="11" name="TextBox 16"/>
          <p:cNvSpPr txBox="1"/>
          <p:nvPr/>
        </p:nvSpPr>
        <p:spPr>
          <a:xfrm rot="16200000">
            <a:off x="-745676" y="4534942"/>
            <a:ext cx="2496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baseline="0" dirty="0">
                <a:latin typeface="Segoe UI Light" panose="020B0502040204020203" pitchFamily="34" charset="0"/>
                <a:ea typeface="微软雅黑 Light" panose="020B0502040204020203" pitchFamily="34" charset="-122"/>
                <a:cs typeface="Bebas Neue" charset="0"/>
              </a:rPr>
              <a:t>www.datamesh.com</a:t>
            </a:r>
          </a:p>
        </p:txBody>
      </p:sp>
      <p:sp>
        <p:nvSpPr>
          <p:cNvPr id="12" name="Slide Number Placeholder 5"/>
          <p:cNvSpPr txBox="1"/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baseline="0" smtClean="0">
                <a:solidFill>
                  <a:schemeClr val="accent1"/>
                </a:solidFill>
                <a:latin typeface="Segoe UI Light" panose="020B0502040204020203" pitchFamily="34" charset="0"/>
                <a:ea typeface="微软雅黑 Light" panose="020B0502040204020203" pitchFamily="34" charset="-122"/>
                <a:cs typeface="Bebas Neue" charset="0"/>
              </a:rPr>
              <a:t>‹#›</a:t>
            </a:fld>
            <a:endParaRPr lang="en-US" sz="1400" b="1" i="0" baseline="0" dirty="0">
              <a:solidFill>
                <a:schemeClr val="accent1"/>
              </a:solidFill>
              <a:latin typeface="Segoe UI Light" panose="020B0502040204020203" pitchFamily="34" charset="0"/>
              <a:ea typeface="微软雅黑 Light" panose="020B0502040204020203" pitchFamily="34" charset="-122"/>
              <a:cs typeface="Bebas Neue" charset="0"/>
            </a:endParaRPr>
          </a:p>
        </p:txBody>
      </p:sp>
      <p:grpSp>
        <p:nvGrpSpPr>
          <p:cNvPr id="13" name="Group 20"/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4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0" dirty="0">
                <a:latin typeface="Segoe UI Light" panose="020B0502040204020203" pitchFamily="34" charset="0"/>
                <a:ea typeface="微软雅黑 Light" panose="020B0502040204020203" pitchFamily="34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 baseline="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Segoe UI Light" panose="020B0502040204020203" pitchFamily="34" charset="0"/>
          <a:ea typeface="微软雅黑 Light" panose="020B0502040204020203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7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DFS 2.0 </a:t>
            </a:r>
            <a:r>
              <a:rPr lang="zh-CN" altLang="en-US" dirty="0"/>
              <a:t>功能演示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张千晓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2025-1-10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关键用户场景</a:t>
            </a:r>
          </a:p>
        </p:txBody>
      </p:sp>
      <p:graphicFrame>
        <p:nvGraphicFramePr>
          <p:cNvPr id="8" name="图示 7"/>
          <p:cNvGraphicFramePr/>
          <p:nvPr/>
        </p:nvGraphicFramePr>
        <p:xfrm>
          <a:off x="1380794" y="1235601"/>
          <a:ext cx="8972881" cy="4946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关键用户场景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主流程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2" y="1769334"/>
            <a:ext cx="12033176" cy="37837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关键用户场景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单一场景涉及到的主流程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97944" y="1328306"/>
          <a:ext cx="11220345" cy="4778296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585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54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主流程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2291"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场景一：依照指导手册或常规经验对业务数据进行实时监控。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0463"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场景二：需要利用机器学习模型辅助分析的复杂异常情况。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493" y="1747516"/>
            <a:ext cx="7522758" cy="212480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524" y="4027759"/>
            <a:ext cx="7866047" cy="19680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后续规划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——Designer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用户场景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69924" y="1185957"/>
            <a:ext cx="10850563" cy="5006975"/>
          </a:xfrm>
        </p:spPr>
        <p:txBody>
          <a:bodyPr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Designer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中产生的数据发给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中进行分析，将分析结果以数据报表形式提供给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Designer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842" y="2228593"/>
            <a:ext cx="10372725" cy="2780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性能指标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sz="quarter" idx="13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801169466"/>
              </p:ext>
            </p:extLst>
          </p:nvPr>
        </p:nvGraphicFramePr>
        <p:xfrm>
          <a:off x="1048385" y="1468120"/>
          <a:ext cx="4491990" cy="320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3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404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9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最低配置</a:t>
                      </a: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9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推荐配置</a:t>
                      </a:r>
                    </a:p>
                  </a:txBody>
                  <a:tcPr marL="215900" marR="215900" marT="133350" marB="1333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CPU 16</a:t>
                      </a: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CPU 64</a:t>
                      </a:r>
                    </a:p>
                  </a:txBody>
                  <a:tcPr marL="215900" marR="215900" marT="133350" marB="1333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内存</a:t>
                      </a:r>
                      <a:r>
                        <a:rPr lang="en-US" altLang="zh-CN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64</a:t>
                      </a: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内存</a:t>
                      </a:r>
                      <a:r>
                        <a:rPr lang="en-US" altLang="zh-CN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128</a:t>
                      </a:r>
                    </a:p>
                  </a:txBody>
                  <a:tcPr marL="215900" marR="215900" marT="133350" marB="1333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磁盘</a:t>
                      </a:r>
                      <a:r>
                        <a:rPr lang="en-US" altLang="zh-CN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推荐</a:t>
                      </a:r>
                      <a:r>
                        <a:rPr lang="en-US" altLang="zh-CN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SSD</a:t>
                      </a: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磁盘</a:t>
                      </a:r>
                      <a:r>
                        <a:rPr lang="en-US" altLang="zh-CN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推荐</a:t>
                      </a:r>
                      <a:r>
                        <a:rPr lang="en-US" altLang="zh-CN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SSD</a:t>
                      </a:r>
                      <a:endParaRPr lang="zh-CN" altLang="en-US" sz="17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GPU </a:t>
                      </a:r>
                      <a:r>
                        <a:rPr lang="zh-CN" altLang="en-US" sz="17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按需（根据模型需求）</a:t>
                      </a: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70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GPU </a:t>
                      </a:r>
                      <a:r>
                        <a:rPr lang="zh-CN" altLang="en-US" sz="1700" spc="1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按需（根据模型需求）</a:t>
                      </a:r>
                      <a:endParaRPr lang="zh-CN" altLang="en-US" sz="1700" b="0" spc="1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6271895" y="2011045"/>
            <a:ext cx="4421505" cy="4756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pc="13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圆角矩形 24"/>
          <p:cNvSpPr/>
          <p:nvPr>
            <p:custDataLst>
              <p:tags r:id="rId5"/>
            </p:custDataLst>
          </p:nvPr>
        </p:nvSpPr>
        <p:spPr>
          <a:xfrm>
            <a:off x="6350000" y="1468120"/>
            <a:ext cx="1553210" cy="361950"/>
          </a:xfrm>
          <a:prstGeom prst="roundRect">
            <a:avLst>
              <a:gd name="adj" fmla="val 11999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在最低配置下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174105" y="2898775"/>
            <a:ext cx="4925695" cy="460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spc="13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3815" y="3547745"/>
            <a:ext cx="4543425" cy="274891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271895" y="1936750"/>
            <a:ext cx="495935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1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</a:t>
            </a:r>
            <a:r>
              <a:rPr lang="en-US" altLang="zh-CN" sz="1400" spc="1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10W </a:t>
            </a:r>
            <a:r>
              <a:rPr lang="zh-CN" altLang="en-US" sz="1400" spc="1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条数据</a:t>
            </a:r>
            <a:r>
              <a:rPr lang="en-US" altLang="zh-CN" sz="1400" spc="1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zh-CN" altLang="en-US" sz="1400" spc="1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数据加载、预处理、特征提取、预警规则计算</a:t>
            </a:r>
            <a:r>
              <a:rPr lang="en-US" altLang="zh-CN" sz="1400" spc="1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  30S</a:t>
            </a:r>
          </a:p>
          <a:p>
            <a:endParaRPr lang="en-US" altLang="zh-CN" sz="1400" spc="13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zh-CN" altLang="en-US" sz="1400" spc="1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</a:t>
            </a:r>
            <a:r>
              <a:rPr lang="en-US" altLang="zh-CN" sz="1400" spc="1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100W </a:t>
            </a:r>
            <a:r>
              <a:rPr lang="zh-CN" altLang="en-US" sz="1400" spc="1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条数据</a:t>
            </a:r>
            <a:r>
              <a:rPr lang="en-US" altLang="zh-CN" sz="1400" spc="1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zh-CN" altLang="en-US" sz="1400" spc="1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数据加载、预处理、特征提取、预警规则计算</a:t>
            </a:r>
            <a:r>
              <a:rPr lang="en-US" altLang="zh-CN" sz="1400" spc="1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  180S</a:t>
            </a:r>
          </a:p>
          <a:p>
            <a:endParaRPr lang="en-US" altLang="zh-CN" sz="1400" spc="13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zh-CN" altLang="en-US" sz="1400" spc="1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时序数据存储采用</a:t>
            </a:r>
            <a:r>
              <a:rPr lang="en-US" altLang="zh-CN" sz="1400" spc="1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IoTDB</a:t>
            </a:r>
            <a:r>
              <a:rPr lang="zh-CN" altLang="en-US" sz="1400" spc="13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，支持横向扩容，如数据量过高采用集群部署，可秒横向扩容</a:t>
            </a:r>
          </a:p>
          <a:p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1.56*333.516"/>
  <p:tag name="KSO_WM_SLIDE_POSITION" val="494.595*146.274"/>
  <p:tag name="KSO_WM_SLIDE_LAYOUT" val="a_β_l"/>
  <p:tag name="KSO_WM_SLIDE_LAYOUT_CNT" val="1_1_1"/>
  <p:tag name="KSO_WM_SPECIAL_SOURCE" val="bdnull"/>
  <p:tag name="KSO_WM_DIAGRAM_GROUP_CODE" val="l1-1"/>
  <p:tag name="KSO_WM_SLIDE_DIAGTYPE" val="l"/>
  <p:tag name="KSO_WM_TEMPLATE_INDEX" val="20231174"/>
  <p:tag name="KSO_WM_TEMPLATE_SUBCATEGORY" val="0"/>
  <p:tag name="KSO_WM_SLIDE_INDEX" val="1"/>
  <p:tag name="KSO_WM_TAG_VERSION" val="3.0"/>
  <p:tag name="KSO_WM_SLIDE_ID" val="custom20231174_1"/>
  <p:tag name="KSO_WM_SLIDE_ITEM_CNT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1174"/>
  <p:tag name="KSO_WM_UNIT_ID" val="custom20231174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53*225"/>
  <p:tag name="TABLE_ENDDRAG_RECT" val="42*108*353*22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321_1*l_h_f*1_1_1"/>
  <p:tag name="KSO_WM_TEMPLATE_CATEGORY" val="diagram"/>
  <p:tag name="KSO_WM_TEMPLATE_INDEX" val="2023332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3.37274169921875,&quot;left&quot;:493.8248023037648,&quot;top&quot;:116.60402285117807,&quot;width&quot;:413.12519769623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TEXT_FILL_FORE_SCHEMECOLOR_INDEX" val="1"/>
  <p:tag name="KSO_WM_UNIT_TEXT_FILL_TYPE" val="1"/>
  <p:tag name="KSO_WM_UNIT_PRESET_TEXT" val="单击此处添加文本具体内容，简明扼要地阐述您的观点根据需要可酌情增减文字，单击此处添加内容简明扼要地阐述您的观点。"/>
  <p:tag name="KSO_WM_UNIT_USESOURCEFORMAT_APPLY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321_1*l_h_a*1_2_1"/>
  <p:tag name="KSO_WM_TEMPLATE_CATEGORY" val="diagram"/>
  <p:tag name="KSO_WM_TEMPLATE_INDEX" val="20233321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3.37274169921875,&quot;left&quot;:493.8248023037648,&quot;top&quot;:116.60402285117807,&quot;width&quot;:413.092285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FILL_TYPE" val="1"/>
  <p:tag name="KSO_WM_UNIT_FILL_FORE_SCHEMECOLOR_INDEX" val="5"/>
  <p:tag name="KSO_WM_UNIT_FILL_FORE_SCHEMECOLOR_INDEX_BRIGHTNESS" val="0"/>
  <p:tag name="KSO_WM_UNIT_PRESET_TEXT" val="添加标题"/>
  <p:tag name="KSO_WM_UNIT_USESOURCEFORMAT_APPLY" val="1"/>
</p:tagLst>
</file>

<file path=ppt/theme/theme1.xml><?xml version="1.0" encoding="utf-8"?>
<a:theme xmlns:a="http://schemas.openxmlformats.org/drawingml/2006/main" name="1_主题5">
  <a:themeElements>
    <a:clrScheme name="自定义 105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31ADFC"/>
      </a:accent1>
      <a:accent2>
        <a:srgbClr val="7B7E7E"/>
      </a:accent2>
      <a:accent3>
        <a:srgbClr val="83CDFD"/>
      </a:accent3>
      <a:accent4>
        <a:srgbClr val="A7A7A7"/>
      </a:accent4>
      <a:accent5>
        <a:srgbClr val="7B7E7E"/>
      </a:accent5>
      <a:accent6>
        <a:srgbClr val="69696A"/>
      </a:accent6>
      <a:hlink>
        <a:srgbClr val="31ADFC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taMesh FactVerse BP">
  <a:themeElements>
    <a:clrScheme name="蓝色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spc="300">
            <a:latin typeface="linea-basic-10" charset="0"/>
            <a:ea typeface="linea-basic-10" charset="0"/>
            <a:cs typeface="linea-basic-1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meco  - 华北航线(2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Segoe UI Light"/>
        <a:ea typeface="微软雅黑 Light"/>
        <a:cs typeface=""/>
      </a:majorFont>
      <a:minorFont>
        <a:latin typeface="Segoe UI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DataMesh FactVerse DFS-20241125</Template>
  <TotalTime>183</TotalTime>
  <Words>370</Words>
  <Application>Microsoft Office PowerPoint</Application>
  <PresentationFormat>宽屏</PresentationFormat>
  <Paragraphs>41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等线</vt:lpstr>
      <vt:lpstr>微软雅黑</vt:lpstr>
      <vt:lpstr>微软雅黑 Light</vt:lpstr>
      <vt:lpstr>Arial</vt:lpstr>
      <vt:lpstr>Bebas Neue</vt:lpstr>
      <vt:lpstr>Segoe UI Light</vt:lpstr>
      <vt:lpstr>1_主题5</vt:lpstr>
      <vt:lpstr>DataMesh FactVerse BP</vt:lpstr>
      <vt:lpstr>Ameco  - 华北航线(2)</vt:lpstr>
      <vt:lpstr>DFS 2.0 功能演示</vt:lpstr>
      <vt:lpstr>关键用户场景</vt:lpstr>
      <vt:lpstr>关键用户场景——主流程</vt:lpstr>
      <vt:lpstr>关键用户场景——单一场景涉及到的主流程</vt:lpstr>
      <vt:lpstr>后续规划——Designer用户场景</vt:lpstr>
      <vt:lpstr>性能指标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qianxiao zhang</dc:creator>
  <cp:lastModifiedBy>Qianxiao Zhang 张千晓</cp:lastModifiedBy>
  <cp:revision>10</cp:revision>
  <dcterms:created xsi:type="dcterms:W3CDTF">2025-01-08T10:40:00Z</dcterms:created>
  <dcterms:modified xsi:type="dcterms:W3CDTF">2025-01-10T05:03:12Z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FCB99CA03179421880EB813B74CA54CA_12</vt:lpwstr>
  </property>
  <property fmtid="{D5CDD505-2E9C-101B-9397-08002B2CF9AE}" pid="3" name="KSOProductBuildVer">
    <vt:lpwstr>2052-12.1.0.19770</vt:lpwstr>
  </property>
</Properties>
</file>