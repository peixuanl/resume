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9"/>
  </p:notesMasterIdLst>
  <p:sldIdLst>
    <p:sldId id="256" r:id="rId3"/>
    <p:sldId id="257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00" autoAdjust="0"/>
  </p:normalViewPr>
  <p:slideViewPr>
    <p:cSldViewPr snapToGrid="0">
      <p:cViewPr varScale="1">
        <p:scale>
          <a:sx n="123" d="100"/>
          <a:sy n="123" d="100"/>
        </p:scale>
        <p:origin x="11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1D3E6-1651-48AF-B2C6-C09A8C3DB22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C2A78AB-4A94-4E06-B655-66633DE0A428}">
      <dgm:prSet phldrT="[文本]"/>
      <dgm:spPr/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场景一</a:t>
          </a:r>
        </a:p>
      </dgm:t>
    </dgm:pt>
    <dgm:pt modelId="{D55395EE-7004-47D3-BEA3-0E4D7B9580B8}" type="parTrans" cxnId="{17838F6F-D2B0-4362-B327-ADEBE2D82D02}">
      <dgm:prSet/>
      <dgm:spPr/>
      <dgm:t>
        <a:bodyPr/>
        <a:lstStyle/>
        <a:p>
          <a:endParaRPr lang="zh-CN" altLang="en-US"/>
        </a:p>
      </dgm:t>
    </dgm:pt>
    <dgm:pt modelId="{1F133BF6-A2DD-4E49-9B4E-1EB581597DF0}" type="sibTrans" cxnId="{17838F6F-D2B0-4362-B327-ADEBE2D82D02}">
      <dgm:prSet/>
      <dgm:spPr/>
      <dgm:t>
        <a:bodyPr/>
        <a:lstStyle/>
        <a:p>
          <a:endParaRPr lang="zh-CN" altLang="en-US"/>
        </a:p>
      </dgm:t>
    </dgm:pt>
    <dgm:pt modelId="{7EFF483E-2CF5-4D94-9DB8-8AE2256FB2C2}">
      <dgm:prSet phldrT="[文本]" custT="1"/>
      <dgm:spPr/>
      <dgm:t>
        <a:bodyPr/>
        <a:lstStyle/>
        <a:p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501EBE-E50A-4A6B-9584-38E2E2FE5F39}" type="parTrans" cxnId="{B7A30A98-8D5F-48BC-8A3C-4FEEF4A643DE}">
      <dgm:prSet/>
      <dgm:spPr/>
      <dgm:t>
        <a:bodyPr/>
        <a:lstStyle/>
        <a:p>
          <a:endParaRPr lang="zh-CN" altLang="en-US"/>
        </a:p>
      </dgm:t>
    </dgm:pt>
    <dgm:pt modelId="{5C31099F-0639-4A07-A9A8-FBD31B0ADC67}" type="sibTrans" cxnId="{B7A30A98-8D5F-48BC-8A3C-4FEEF4A643DE}">
      <dgm:prSet/>
      <dgm:spPr/>
      <dgm:t>
        <a:bodyPr/>
        <a:lstStyle/>
        <a:p>
          <a:endParaRPr lang="zh-CN" altLang="en-US"/>
        </a:p>
      </dgm:t>
    </dgm:pt>
    <dgm:pt modelId="{58665E3E-1A18-4AA0-8DB6-BB58A1177C92}">
      <dgm:prSet phldrT="[文本]"/>
      <dgm:spPr/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场景二</a:t>
          </a:r>
        </a:p>
      </dgm:t>
    </dgm:pt>
    <dgm:pt modelId="{008D328F-AF1B-4D9C-ACC3-71D263832FFC}" type="parTrans" cxnId="{D079CACE-0715-4CCF-A119-378C948289EE}">
      <dgm:prSet/>
      <dgm:spPr/>
      <dgm:t>
        <a:bodyPr/>
        <a:lstStyle/>
        <a:p>
          <a:endParaRPr lang="zh-CN" altLang="en-US"/>
        </a:p>
      </dgm:t>
    </dgm:pt>
    <dgm:pt modelId="{1F030502-2B0F-45DC-91CD-557FD7B24784}" type="sibTrans" cxnId="{D079CACE-0715-4CCF-A119-378C948289EE}">
      <dgm:prSet/>
      <dgm:spPr/>
      <dgm:t>
        <a:bodyPr/>
        <a:lstStyle/>
        <a:p>
          <a:endParaRPr lang="zh-CN" altLang="en-US"/>
        </a:p>
      </dgm:t>
    </dgm:pt>
    <dgm:pt modelId="{19B887FA-244D-4BD0-A46E-3DF78C22C868}">
      <dgm:prSet phldrT="[文本]" custT="1"/>
      <dgm:spPr/>
      <dgm:t>
        <a:bodyPr/>
        <a:lstStyle/>
        <a:p>
          <a:pPr>
            <a:buClrTx/>
            <a:buSzTx/>
            <a:buFont typeface="Arial" panose="020B0604020202090204" pitchFamily="34" charset="0"/>
            <a:buNone/>
          </a:pPr>
          <a:endParaRPr lang="zh-CN" altLang="en-US" sz="1600" dirty="0"/>
        </a:p>
      </dgm:t>
    </dgm:pt>
    <dgm:pt modelId="{74531EE9-9FC0-48B3-8F8C-C60683AC5B74}" type="parTrans" cxnId="{0D16FDD0-228B-4351-BC00-1DD5458785AD}">
      <dgm:prSet/>
      <dgm:spPr/>
      <dgm:t>
        <a:bodyPr/>
        <a:lstStyle/>
        <a:p>
          <a:endParaRPr lang="zh-CN" altLang="en-US"/>
        </a:p>
      </dgm:t>
    </dgm:pt>
    <dgm:pt modelId="{CC80864E-E983-4076-8C7D-EFDE69B082A9}" type="sibTrans" cxnId="{0D16FDD0-228B-4351-BC00-1DD5458785AD}">
      <dgm:prSet/>
      <dgm:spPr/>
      <dgm:t>
        <a:bodyPr/>
        <a:lstStyle/>
        <a:p>
          <a:endParaRPr lang="zh-CN" altLang="en-US"/>
        </a:p>
      </dgm:t>
    </dgm:pt>
    <dgm:pt modelId="{077D68CD-DCC6-473A-B4D1-41303474D594}">
      <dgm:prSet custT="1"/>
      <dgm:spPr/>
      <dgm:t>
        <a:bodyPr/>
        <a:lstStyle/>
        <a:p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6EC61A5-8623-4CCD-B1D8-5AE3C2092072}" type="parTrans" cxnId="{21BF7AA0-8ADF-4012-90C0-254894BDDF95}">
      <dgm:prSet/>
      <dgm:spPr/>
      <dgm:t>
        <a:bodyPr/>
        <a:lstStyle/>
        <a:p>
          <a:endParaRPr lang="zh-CN" altLang="en-US"/>
        </a:p>
      </dgm:t>
    </dgm:pt>
    <dgm:pt modelId="{2A6CDCCD-BFCB-4251-AE4F-C5867424B5A0}" type="sibTrans" cxnId="{21BF7AA0-8ADF-4012-90C0-254894BDDF95}">
      <dgm:prSet/>
      <dgm:spPr/>
      <dgm:t>
        <a:bodyPr/>
        <a:lstStyle/>
        <a:p>
          <a:endParaRPr lang="zh-CN" altLang="en-US"/>
        </a:p>
      </dgm:t>
    </dgm:pt>
    <dgm:pt modelId="{DF87F3FF-D65E-4483-89A3-8E1A54C8764B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通过建立数据探索任务对业务数据进行实时监控（来一批数据跑一次数据探索任务），按照指导手册或业务经验制定业务预警规则，及时发现异常情况。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BDC2EF-B37D-42C5-BE75-C9A9C9CE40D1}" type="parTrans" cxnId="{3090B745-55C1-4B51-B7E2-4CF78CB5EAE3}">
      <dgm:prSet/>
      <dgm:spPr/>
      <dgm:t>
        <a:bodyPr/>
        <a:lstStyle/>
        <a:p>
          <a:endParaRPr lang="zh-CN" altLang="en-US"/>
        </a:p>
      </dgm:t>
    </dgm:pt>
    <dgm:pt modelId="{807D131E-1E15-42E0-B54B-2CA63FD6B22B}" type="sibTrans" cxnId="{3090B745-55C1-4B51-B7E2-4CF78CB5EAE3}">
      <dgm:prSet/>
      <dgm:spPr/>
      <dgm:t>
        <a:bodyPr/>
        <a:lstStyle/>
        <a:p>
          <a:endParaRPr lang="zh-CN" altLang="en-US"/>
        </a:p>
      </dgm:t>
    </dgm:pt>
    <dgm:pt modelId="{09506FE0-75EE-484E-B705-C7C658F6362E}">
      <dgm:prSet custT="1"/>
      <dgm:spPr/>
      <dgm:t>
        <a:bodyPr/>
        <a:lstStyle/>
        <a:p>
          <a:endParaRPr kumimoji="0" lang="zh-CN" altLang="en-US" sz="1600" b="1" i="0" u="none" strike="noStrike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微软雅黑"/>
            <a:cs typeface="+mn-cs"/>
          </a:endParaRPr>
        </a:p>
      </dgm:t>
    </dgm:pt>
    <dgm:pt modelId="{D038E34E-7A60-41E7-B389-C34DBF177C4E}" type="parTrans" cxnId="{9339F8F4-FE0E-4A54-AE75-DC572955DC5B}">
      <dgm:prSet/>
      <dgm:spPr/>
      <dgm:t>
        <a:bodyPr/>
        <a:lstStyle/>
        <a:p>
          <a:endParaRPr lang="zh-CN" altLang="en-US"/>
        </a:p>
      </dgm:t>
    </dgm:pt>
    <dgm:pt modelId="{D73281E0-1C1B-44BE-BF2F-0287C7D79A4D}" type="sibTrans" cxnId="{9339F8F4-FE0E-4A54-AE75-DC572955DC5B}">
      <dgm:prSet/>
      <dgm:spPr/>
      <dgm:t>
        <a:bodyPr/>
        <a:lstStyle/>
        <a:p>
          <a:endParaRPr lang="zh-CN" altLang="en-US"/>
        </a:p>
      </dgm:t>
    </dgm:pt>
    <dgm:pt modelId="{E9FC7969-9DDE-40B4-BF43-B99F50888BF8}">
      <dgm:prSet custT="1"/>
      <dgm:spPr/>
      <dgm:t>
        <a:bodyPr/>
        <a:lstStyle/>
        <a:p>
          <a:r>
            <a:rPr kumimoji="0" lang="zh-CN" altLang="en-US" sz="16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rPr>
            <a:t>在实时监控的情况下，数据未触发预警，但实际已出现异常表现。同时，在回溯问题数据时，仅依靠基本的数据分析方法无法发现异常产生的原因。为解决此类复杂问题，需要利用机器学习模型辅助分析过往大量历史数据，以发现异常原因。同时将该模型方法积累下来，用做日常业务监控，避免再次出现此类问题。</a:t>
          </a:r>
        </a:p>
      </dgm:t>
    </dgm:pt>
    <dgm:pt modelId="{8B185242-968E-46C5-BE33-FF388BE049F2}" type="parTrans" cxnId="{BD00A220-A726-4AFC-8815-9871B6619DB7}">
      <dgm:prSet/>
      <dgm:spPr/>
      <dgm:t>
        <a:bodyPr/>
        <a:lstStyle/>
        <a:p>
          <a:endParaRPr lang="zh-CN" altLang="en-US"/>
        </a:p>
      </dgm:t>
    </dgm:pt>
    <dgm:pt modelId="{DAD93ED7-5414-4DA3-8755-4D47EBDA46C3}" type="sibTrans" cxnId="{BD00A220-A726-4AFC-8815-9871B6619DB7}">
      <dgm:prSet/>
      <dgm:spPr/>
      <dgm:t>
        <a:bodyPr/>
        <a:lstStyle/>
        <a:p>
          <a:endParaRPr lang="zh-CN" altLang="en-US"/>
        </a:p>
      </dgm:t>
    </dgm:pt>
    <dgm:pt modelId="{86562B9C-4F79-41DF-A4B2-7045C28D3FD0}">
      <dgm:prSet custT="1"/>
      <dgm:spPr/>
      <dgm:t>
        <a:bodyPr/>
        <a:lstStyle/>
        <a:p>
          <a:endParaRPr kumimoji="0" lang="zh-CN" altLang="en-US" sz="1600" b="0" i="0" u="none" strike="noStrike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微软雅黑"/>
            <a:cs typeface="+mn-cs"/>
          </a:endParaRPr>
        </a:p>
      </dgm:t>
    </dgm:pt>
    <dgm:pt modelId="{BF73FDE8-EFD6-4CD1-BED7-62C7B019B8C4}" type="parTrans" cxnId="{25DEB107-372A-4223-983E-B8C11C6D3327}">
      <dgm:prSet/>
      <dgm:spPr/>
      <dgm:t>
        <a:bodyPr/>
        <a:lstStyle/>
        <a:p>
          <a:endParaRPr lang="zh-CN" altLang="en-US"/>
        </a:p>
      </dgm:t>
    </dgm:pt>
    <dgm:pt modelId="{22C07486-2DF6-4F0C-9231-892E4BE073C0}" type="sibTrans" cxnId="{25DEB107-372A-4223-983E-B8C11C6D3327}">
      <dgm:prSet/>
      <dgm:spPr/>
      <dgm:t>
        <a:bodyPr/>
        <a:lstStyle/>
        <a:p>
          <a:endParaRPr lang="zh-CN" altLang="en-US"/>
        </a:p>
      </dgm:t>
    </dgm:pt>
    <dgm:pt modelId="{FA5BBFDA-3B91-487D-9607-478FCDC0FAF3}" type="pres">
      <dgm:prSet presAssocID="{B241D3E6-1651-48AF-B2C6-C09A8C3DB229}" presName="Name0" presStyleCnt="0">
        <dgm:presLayoutVars>
          <dgm:dir/>
          <dgm:animLvl val="lvl"/>
          <dgm:resizeHandles val="exact"/>
        </dgm:presLayoutVars>
      </dgm:prSet>
      <dgm:spPr/>
    </dgm:pt>
    <dgm:pt modelId="{6ACFB983-AAAD-487D-BDB4-E1544BB2AD13}" type="pres">
      <dgm:prSet presAssocID="{2C2A78AB-4A94-4E06-B655-66633DE0A428}" presName="composite" presStyleCnt="0"/>
      <dgm:spPr/>
    </dgm:pt>
    <dgm:pt modelId="{7BA77A71-3BFF-48C7-BC57-E544D9CD2112}" type="pres">
      <dgm:prSet presAssocID="{2C2A78AB-4A94-4E06-B655-66633DE0A428}" presName="parTx" presStyleLbl="alignNode1" presStyleIdx="0" presStyleCnt="2" custScaleX="75132" custScaleY="75132" custLinFactNeighborX="10922" custLinFactNeighborY="-4641">
        <dgm:presLayoutVars>
          <dgm:chMax val="0"/>
          <dgm:chPref val="0"/>
          <dgm:bulletEnabled val="1"/>
        </dgm:presLayoutVars>
      </dgm:prSet>
      <dgm:spPr/>
    </dgm:pt>
    <dgm:pt modelId="{8B464997-B4CA-4E8B-B486-9583E91F6954}" type="pres">
      <dgm:prSet presAssocID="{2C2A78AB-4A94-4E06-B655-66633DE0A428}" presName="desTx" presStyleLbl="alignAccFollowNode1" presStyleIdx="0" presStyleCnt="2">
        <dgm:presLayoutVars>
          <dgm:bulletEnabled val="1"/>
        </dgm:presLayoutVars>
      </dgm:prSet>
      <dgm:spPr/>
    </dgm:pt>
    <dgm:pt modelId="{83A04D10-C166-4A87-A288-AFB84C8A0786}" type="pres">
      <dgm:prSet presAssocID="{1F133BF6-A2DD-4E49-9B4E-1EB581597DF0}" presName="space" presStyleCnt="0"/>
      <dgm:spPr/>
    </dgm:pt>
    <dgm:pt modelId="{8EF344A1-2A60-43C0-A3A9-C62027DE829B}" type="pres">
      <dgm:prSet presAssocID="{58665E3E-1A18-4AA0-8DB6-BB58A1177C92}" presName="composite" presStyleCnt="0"/>
      <dgm:spPr/>
    </dgm:pt>
    <dgm:pt modelId="{C1495D55-FC40-45E2-8558-D0A986022AB9}" type="pres">
      <dgm:prSet presAssocID="{58665E3E-1A18-4AA0-8DB6-BB58A1177C92}" presName="parTx" presStyleLbl="alignNode1" presStyleIdx="1" presStyleCnt="2" custScaleX="75132" custScaleY="75132" custLinFactNeighborX="18335" custLinFactNeighborY="-5861">
        <dgm:presLayoutVars>
          <dgm:chMax val="0"/>
          <dgm:chPref val="0"/>
          <dgm:bulletEnabled val="1"/>
        </dgm:presLayoutVars>
      </dgm:prSet>
      <dgm:spPr/>
    </dgm:pt>
    <dgm:pt modelId="{17CC44DF-4040-4697-BE6E-5E1A5CD6E008}" type="pres">
      <dgm:prSet presAssocID="{58665E3E-1A18-4AA0-8DB6-BB58A1177C9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5DEB107-372A-4223-983E-B8C11C6D3327}" srcId="{19B887FA-244D-4BD0-A46E-3DF78C22C868}" destId="{86562B9C-4F79-41DF-A4B2-7045C28D3FD0}" srcOrd="2" destOrd="0" parTransId="{BF73FDE8-EFD6-4CD1-BED7-62C7B019B8C4}" sibTransId="{22C07486-2DF6-4F0C-9231-892E4BE073C0}"/>
    <dgm:cxn modelId="{BD00A220-A726-4AFC-8815-9871B6619DB7}" srcId="{19B887FA-244D-4BD0-A46E-3DF78C22C868}" destId="{E9FC7969-9DDE-40B4-BF43-B99F50888BF8}" srcOrd="1" destOrd="0" parTransId="{8B185242-968E-46C5-BE33-FF388BE049F2}" sibTransId="{DAD93ED7-5414-4DA3-8755-4D47EBDA46C3}"/>
    <dgm:cxn modelId="{3ECC5134-6D28-47C2-A4EB-5D12B3F4F87B}" type="presOf" srcId="{2C2A78AB-4A94-4E06-B655-66633DE0A428}" destId="{7BA77A71-3BFF-48C7-BC57-E544D9CD2112}" srcOrd="0" destOrd="0" presId="urn:microsoft.com/office/officeart/2005/8/layout/hList1"/>
    <dgm:cxn modelId="{3090B745-55C1-4B51-B7E2-4CF78CB5EAE3}" srcId="{2C2A78AB-4A94-4E06-B655-66633DE0A428}" destId="{DF87F3FF-D65E-4483-89A3-8E1A54C8764B}" srcOrd="2" destOrd="0" parTransId="{A6BDC2EF-B37D-42C5-BE75-C9A9C9CE40D1}" sibTransId="{807D131E-1E15-42E0-B54B-2CA63FD6B22B}"/>
    <dgm:cxn modelId="{CD1A006A-4851-4A06-ACE0-CAF2AA9B7C14}" type="presOf" srcId="{09506FE0-75EE-484E-B705-C7C658F6362E}" destId="{17CC44DF-4040-4697-BE6E-5E1A5CD6E008}" srcOrd="0" destOrd="1" presId="urn:microsoft.com/office/officeart/2005/8/layout/hList1"/>
    <dgm:cxn modelId="{17838F6F-D2B0-4362-B327-ADEBE2D82D02}" srcId="{B241D3E6-1651-48AF-B2C6-C09A8C3DB229}" destId="{2C2A78AB-4A94-4E06-B655-66633DE0A428}" srcOrd="0" destOrd="0" parTransId="{D55395EE-7004-47D3-BEA3-0E4D7B9580B8}" sibTransId="{1F133BF6-A2DD-4E49-9B4E-1EB581597DF0}"/>
    <dgm:cxn modelId="{DD6D4C71-8521-416C-97F8-F7BE05883AAA}" type="presOf" srcId="{077D68CD-DCC6-473A-B4D1-41303474D594}" destId="{8B464997-B4CA-4E8B-B486-9583E91F6954}" srcOrd="0" destOrd="1" presId="urn:microsoft.com/office/officeart/2005/8/layout/hList1"/>
    <dgm:cxn modelId="{677B8A54-F374-4B44-B8AB-3705B87D2115}" type="presOf" srcId="{E9FC7969-9DDE-40B4-BF43-B99F50888BF8}" destId="{17CC44DF-4040-4697-BE6E-5E1A5CD6E008}" srcOrd="0" destOrd="2" presId="urn:microsoft.com/office/officeart/2005/8/layout/hList1"/>
    <dgm:cxn modelId="{561DA185-E003-4BB4-A7BB-2A4E66D52F0C}" type="presOf" srcId="{58665E3E-1A18-4AA0-8DB6-BB58A1177C92}" destId="{C1495D55-FC40-45E2-8558-D0A986022AB9}" srcOrd="0" destOrd="0" presId="urn:microsoft.com/office/officeart/2005/8/layout/hList1"/>
    <dgm:cxn modelId="{FF6AED88-8B0A-49CC-8BAD-0CF2E23462F6}" type="presOf" srcId="{7EFF483E-2CF5-4D94-9DB8-8AE2256FB2C2}" destId="{8B464997-B4CA-4E8B-B486-9583E91F6954}" srcOrd="0" destOrd="0" presId="urn:microsoft.com/office/officeart/2005/8/layout/hList1"/>
    <dgm:cxn modelId="{741A0E8C-EE15-4807-91A3-1D1AF9F40321}" type="presOf" srcId="{86562B9C-4F79-41DF-A4B2-7045C28D3FD0}" destId="{17CC44DF-4040-4697-BE6E-5E1A5CD6E008}" srcOrd="0" destOrd="3" presId="urn:microsoft.com/office/officeart/2005/8/layout/hList1"/>
    <dgm:cxn modelId="{B7A30A98-8D5F-48BC-8A3C-4FEEF4A643DE}" srcId="{2C2A78AB-4A94-4E06-B655-66633DE0A428}" destId="{7EFF483E-2CF5-4D94-9DB8-8AE2256FB2C2}" srcOrd="0" destOrd="0" parTransId="{61501EBE-E50A-4A6B-9584-38E2E2FE5F39}" sibTransId="{5C31099F-0639-4A07-A9A8-FBD31B0ADC67}"/>
    <dgm:cxn modelId="{21BF7AA0-8ADF-4012-90C0-254894BDDF95}" srcId="{2C2A78AB-4A94-4E06-B655-66633DE0A428}" destId="{077D68CD-DCC6-473A-B4D1-41303474D594}" srcOrd="1" destOrd="0" parTransId="{26EC61A5-8623-4CCD-B1D8-5AE3C2092072}" sibTransId="{2A6CDCCD-BFCB-4251-AE4F-C5867424B5A0}"/>
    <dgm:cxn modelId="{3E70E4A5-AAEF-4F60-A4C0-7071B9DA8662}" type="presOf" srcId="{DF87F3FF-D65E-4483-89A3-8E1A54C8764B}" destId="{8B464997-B4CA-4E8B-B486-9583E91F6954}" srcOrd="0" destOrd="2" presId="urn:microsoft.com/office/officeart/2005/8/layout/hList1"/>
    <dgm:cxn modelId="{D079CACE-0715-4CCF-A119-378C948289EE}" srcId="{B241D3E6-1651-48AF-B2C6-C09A8C3DB229}" destId="{58665E3E-1A18-4AA0-8DB6-BB58A1177C92}" srcOrd="1" destOrd="0" parTransId="{008D328F-AF1B-4D9C-ACC3-71D263832FFC}" sibTransId="{1F030502-2B0F-45DC-91CD-557FD7B24784}"/>
    <dgm:cxn modelId="{0D16FDD0-228B-4351-BC00-1DD5458785AD}" srcId="{58665E3E-1A18-4AA0-8DB6-BB58A1177C92}" destId="{19B887FA-244D-4BD0-A46E-3DF78C22C868}" srcOrd="0" destOrd="0" parTransId="{74531EE9-9FC0-48B3-8F8C-C60683AC5B74}" sibTransId="{CC80864E-E983-4076-8C7D-EFDE69B082A9}"/>
    <dgm:cxn modelId="{2EB0ACD6-814F-48E7-BF40-FB59237229E5}" type="presOf" srcId="{B241D3E6-1651-48AF-B2C6-C09A8C3DB229}" destId="{FA5BBFDA-3B91-487D-9607-478FCDC0FAF3}" srcOrd="0" destOrd="0" presId="urn:microsoft.com/office/officeart/2005/8/layout/hList1"/>
    <dgm:cxn modelId="{A0B524E8-CD41-43E7-87FC-634487070DB3}" type="presOf" srcId="{19B887FA-244D-4BD0-A46E-3DF78C22C868}" destId="{17CC44DF-4040-4697-BE6E-5E1A5CD6E008}" srcOrd="0" destOrd="0" presId="urn:microsoft.com/office/officeart/2005/8/layout/hList1"/>
    <dgm:cxn modelId="{9339F8F4-FE0E-4A54-AE75-DC572955DC5B}" srcId="{19B887FA-244D-4BD0-A46E-3DF78C22C868}" destId="{09506FE0-75EE-484E-B705-C7C658F6362E}" srcOrd="0" destOrd="0" parTransId="{D038E34E-7A60-41E7-B389-C34DBF177C4E}" sibTransId="{D73281E0-1C1B-44BE-BF2F-0287C7D79A4D}"/>
    <dgm:cxn modelId="{A59B1CB8-C9BA-4A67-B98A-3C70A79319BA}" type="presParOf" srcId="{FA5BBFDA-3B91-487D-9607-478FCDC0FAF3}" destId="{6ACFB983-AAAD-487D-BDB4-E1544BB2AD13}" srcOrd="0" destOrd="0" presId="urn:microsoft.com/office/officeart/2005/8/layout/hList1"/>
    <dgm:cxn modelId="{D314442C-CD52-4C04-8A8D-2285861DC421}" type="presParOf" srcId="{6ACFB983-AAAD-487D-BDB4-E1544BB2AD13}" destId="{7BA77A71-3BFF-48C7-BC57-E544D9CD2112}" srcOrd="0" destOrd="0" presId="urn:microsoft.com/office/officeart/2005/8/layout/hList1"/>
    <dgm:cxn modelId="{6345E6E7-CDC8-4E42-AA71-C86A531C5E0A}" type="presParOf" srcId="{6ACFB983-AAAD-487D-BDB4-E1544BB2AD13}" destId="{8B464997-B4CA-4E8B-B486-9583E91F6954}" srcOrd="1" destOrd="0" presId="urn:microsoft.com/office/officeart/2005/8/layout/hList1"/>
    <dgm:cxn modelId="{04B3CF2A-6DF7-4134-A3B8-CE5B401645EA}" type="presParOf" srcId="{FA5BBFDA-3B91-487D-9607-478FCDC0FAF3}" destId="{83A04D10-C166-4A87-A288-AFB84C8A0786}" srcOrd="1" destOrd="0" presId="urn:microsoft.com/office/officeart/2005/8/layout/hList1"/>
    <dgm:cxn modelId="{3BA0EDA8-61AD-48CB-B838-F997ADBFBBDC}" type="presParOf" srcId="{FA5BBFDA-3B91-487D-9607-478FCDC0FAF3}" destId="{8EF344A1-2A60-43C0-A3A9-C62027DE829B}" srcOrd="2" destOrd="0" presId="urn:microsoft.com/office/officeart/2005/8/layout/hList1"/>
    <dgm:cxn modelId="{0F77F325-33DD-4B80-A446-37C362DC90C5}" type="presParOf" srcId="{8EF344A1-2A60-43C0-A3A9-C62027DE829B}" destId="{C1495D55-FC40-45E2-8558-D0A986022AB9}" srcOrd="0" destOrd="0" presId="urn:microsoft.com/office/officeart/2005/8/layout/hList1"/>
    <dgm:cxn modelId="{BF099240-31B4-40E4-981F-C1742AA8B774}" type="presParOf" srcId="{8EF344A1-2A60-43C0-A3A9-C62027DE829B}" destId="{17CC44DF-4040-4697-BE6E-5E1A5CD6E00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77A71-3BFF-48C7-BC57-E544D9CD2112}">
      <dsp:nvSpPr>
        <dsp:cNvPr id="0" name=""/>
        <dsp:cNvSpPr/>
      </dsp:nvSpPr>
      <dsp:spPr>
        <a:xfrm>
          <a:off x="735805" y="269738"/>
          <a:ext cx="2366812" cy="610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场景一</a:t>
          </a:r>
        </a:p>
      </dsp:txBody>
      <dsp:txXfrm>
        <a:off x="735805" y="269738"/>
        <a:ext cx="2366812" cy="610713"/>
      </dsp:txXfrm>
    </dsp:sp>
    <dsp:sp modelId="{8B464997-B4CA-4E8B-B486-9583E91F6954}">
      <dsp:nvSpPr>
        <dsp:cNvPr id="0" name=""/>
        <dsp:cNvSpPr/>
      </dsp:nvSpPr>
      <dsp:spPr>
        <a:xfrm>
          <a:off x="43" y="817106"/>
          <a:ext cx="4192894" cy="38215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通过建立数据探索任务对业务数据进行实时监控（来一批数据跑一次数据探索任务），按照指导手册或业务经验制定业务预警规则，及时发现异常情况。</a:t>
          </a:r>
          <a:endParaRPr lang="en-US" altLang="zh-CN" sz="16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3" y="817106"/>
        <a:ext cx="4192894" cy="3821554"/>
      </dsp:txXfrm>
    </dsp:sp>
    <dsp:sp modelId="{C1495D55-FC40-45E2-8558-D0A986022AB9}">
      <dsp:nvSpPr>
        <dsp:cNvPr id="0" name=""/>
        <dsp:cNvSpPr/>
      </dsp:nvSpPr>
      <dsp:spPr>
        <a:xfrm>
          <a:off x="5749229" y="259821"/>
          <a:ext cx="2366812" cy="610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场景二</a:t>
          </a:r>
        </a:p>
      </dsp:txBody>
      <dsp:txXfrm>
        <a:off x="5749229" y="259821"/>
        <a:ext cx="2366812" cy="610713"/>
      </dsp:txXfrm>
    </dsp:sp>
    <dsp:sp modelId="{17CC44DF-4040-4697-BE6E-5E1A5CD6E008}">
      <dsp:nvSpPr>
        <dsp:cNvPr id="0" name=""/>
        <dsp:cNvSpPr/>
      </dsp:nvSpPr>
      <dsp:spPr>
        <a:xfrm>
          <a:off x="4779943" y="817106"/>
          <a:ext cx="4192894" cy="38215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90204" pitchFamily="34" charset="0"/>
            <a:buNone/>
          </a:pPr>
          <a:endParaRPr lang="zh-CN" alt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zh-CN" altLang="en-US" sz="1600" b="1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微软雅黑"/>
            <a:cs typeface="+mn-cs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rPr>
            <a:t>在实时监控的情况下，数据未触发预警，但实际已出现异常表现。同时，在回溯问题数据时，仅依靠基本的数据分析方法无法发现异常产生的原因。为解决此类复杂问题，需要利用机器学习模型辅助分析过往大量历史数据，以发现异常原因。同时将该模型方法积累下来，用做日常业务监控，避免再次出现此类问题。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zh-CN" altLang="en-US" sz="1600" b="0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/>
            <a:ea typeface="微软雅黑"/>
            <a:cs typeface="+mn-cs"/>
          </a:endParaRPr>
        </a:p>
      </dsp:txBody>
      <dsp:txXfrm>
        <a:off x="4779943" y="817106"/>
        <a:ext cx="4192894" cy="3821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8ED9C-7BBC-4398-A5B7-A377B2146003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36F9D-3E69-463B-BBD3-3F95FE636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463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 err="1"/>
              <a:t>Ameco</a:t>
            </a:r>
            <a:r>
              <a:rPr lang="zh-CN" altLang="en-US" dirty="0"/>
              <a:t>的项目，</a:t>
            </a:r>
            <a:r>
              <a:rPr lang="en-US" altLang="zh-CN" dirty="0"/>
              <a:t>DFS2.0</a:t>
            </a:r>
            <a:r>
              <a:rPr lang="zh-CN" altLang="en-US" dirty="0"/>
              <a:t>目前已经完成大部分的功能设计，即将转化为产品，这次会议我就结合</a:t>
            </a:r>
            <a:r>
              <a:rPr lang="en-US" altLang="zh-CN" dirty="0" err="1"/>
              <a:t>Ameco</a:t>
            </a:r>
            <a:r>
              <a:rPr lang="zh-CN" altLang="en-US" dirty="0"/>
              <a:t>的真实的业务场景去讲述和演示</a:t>
            </a:r>
            <a:r>
              <a:rPr lang="en-US" altLang="zh-CN" dirty="0"/>
              <a:t>DFS</a:t>
            </a:r>
            <a:r>
              <a:rPr lang="zh-CN" altLang="en-US" dirty="0"/>
              <a:t>的功能。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90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Ameco</a:t>
            </a:r>
            <a:r>
              <a:rPr lang="zh-CN" altLang="en-US" dirty="0"/>
              <a:t>为实时监控</a:t>
            </a:r>
            <a:r>
              <a:rPr lang="en-US" altLang="zh-CN" dirty="0"/>
              <a:t>APU</a:t>
            </a:r>
            <a:r>
              <a:rPr lang="zh-CN" altLang="en-US" dirty="0"/>
              <a:t>（辅助动力装置）的运行情况，同时避免由于温度过高导致</a:t>
            </a:r>
            <a:r>
              <a:rPr lang="en-US" altLang="zh-CN" dirty="0"/>
              <a:t>APU</a:t>
            </a:r>
            <a:r>
              <a:rPr lang="zh-CN" altLang="en-US" dirty="0"/>
              <a:t>过热，增加故障产生的风险。需要监控</a:t>
            </a:r>
            <a:r>
              <a:rPr lang="en-US" altLang="zh-CN" dirty="0"/>
              <a:t>APU EGT</a:t>
            </a:r>
            <a:r>
              <a:rPr lang="zh-CN" altLang="en-US" dirty="0"/>
              <a:t>（辅助动力装置的排气温度）和</a:t>
            </a:r>
            <a:r>
              <a:rPr lang="en-US" altLang="zh-CN" dirty="0"/>
              <a:t>APU</a:t>
            </a:r>
            <a:r>
              <a:rPr lang="zh-CN" altLang="en-US" dirty="0"/>
              <a:t>开始启动到达到稳定运行状态所需的时间。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举一个</a:t>
            </a:r>
            <a:r>
              <a:rPr lang="en-US" altLang="zh-CN" dirty="0" err="1"/>
              <a:t>Ameco</a:t>
            </a:r>
            <a:r>
              <a:rPr lang="zh-CN" altLang="en-US" dirty="0"/>
              <a:t>的例子，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209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将场景涉及到的模块拆分开来，每一个节点就是场景中涉及到的功能点。</a:t>
            </a:r>
            <a:br>
              <a:rPr lang="en-US" altLang="zh-CN" dirty="0"/>
            </a:br>
            <a:r>
              <a:rPr lang="zh-CN" altLang="en-US" dirty="0"/>
              <a:t>接下来，我就按照流程中的每一个模块去展示和介绍</a:t>
            </a:r>
            <a:r>
              <a:rPr lang="en-US" altLang="zh-CN" dirty="0"/>
              <a:t>DFS</a:t>
            </a:r>
            <a:r>
              <a:rPr lang="zh-CN" altLang="en-US" dirty="0"/>
              <a:t>的功能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173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BA50-C833-2F25-42D3-4CB2166F1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EBA649-6CCE-637B-24A7-E810F1F51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5E21AF-AE5E-0937-69D1-CD1E6A0FB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因此结合上述两个场景，我们就能抽象出来一个主流程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2B31B-95E3-8D62-3EAF-7B9666947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138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840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96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683" t="2597" r="-4086"/>
          <a:stretch>
            <a:fillRect/>
          </a:stretch>
        </p:blipFill>
        <p:spPr>
          <a:xfrm>
            <a:off x="0" y="0"/>
            <a:ext cx="11551113" cy="685800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17824" y="2777534"/>
            <a:ext cx="7855511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917824" y="2078943"/>
            <a:ext cx="7855511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2917824" y="4540842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Signature</a:t>
            </a:r>
          </a:p>
        </p:txBody>
      </p:sp>
      <p:sp>
        <p:nvSpPr>
          <p:cNvPr id="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917824" y="4837113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827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9313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4" name="Picture 3" descr="A picture containing clock, meter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9397" y="273050"/>
            <a:ext cx="153924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0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58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332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F27AB-6970-B1F9-017C-689F10EF5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E04047-7A29-0AA4-C1A5-6D5CF1377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CDFF1-345D-14A7-AF21-F1E8FE8A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2A1-9E02-45EE-A460-ABC954F63EC9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06732-ADEB-C355-B93A-3DAC5BA1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4EC0D-7713-6C14-E19C-8EC0B592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FCA6-E013-46D0-9F24-42583F5904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9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97033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116270" y="0"/>
            <a:ext cx="5075729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21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5071466" y="0"/>
            <a:ext cx="7120533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983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116270" y="0"/>
            <a:ext cx="5075729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8806404" y="1976968"/>
            <a:ext cx="1315703" cy="232146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59358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026661" y="0"/>
            <a:ext cx="916107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4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09145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839766"/>
            <a:ext cx="5314604" cy="5314604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376380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solidFill>
                  <a:schemeClr val="bg1"/>
                </a:solidFill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solidFill>
                <a:schemeClr val="bg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861933"/>
            <a:ext cx="613441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482597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-1" y="0"/>
            <a:ext cx="610985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59892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116270" y="0"/>
            <a:ext cx="507573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7116271" cy="68505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810821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5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588628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61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9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20811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-1" y="0"/>
            <a:ext cx="6134793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5" y="861933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981855" y="3638512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9" y="861933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3638512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80522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-1" y="0"/>
            <a:ext cx="507146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4" y="861933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8" y="2130661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26654" y="3222747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147208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4" y="3671636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58" y="3197810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5" y="2256564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2459817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61074" y="3815590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6315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6" grpId="0" animBg="1"/>
      <p:bldP spid="18" grpId="0" animBg="1"/>
      <p:bldP spid="22" grpId="0" animBg="1"/>
      <p:bldP spid="25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5" y="861934"/>
            <a:ext cx="2044807" cy="514119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861934"/>
            <a:ext cx="2044807" cy="514119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61074" y="861933"/>
            <a:ext cx="2044807" cy="514119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57128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861933"/>
            <a:ext cx="613441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44596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-1" y="0"/>
            <a:ext cx="9161075" cy="68505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64752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81E2132-D954-D4BE-CC04-473D9E33B432}"/>
              </a:ext>
            </a:extLst>
          </p:cNvPr>
          <p:cNvSpPr txBox="1">
            <a:spLocks/>
          </p:cNvSpPr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987A4F22-D954-E849-B2AF-7946CDE6E60F}"/>
              </a:ext>
            </a:extLst>
          </p:cNvPr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10">
            <a:extLst>
              <a:ext uri="{FF2B5EF4-FFF2-40B4-BE49-F238E27FC236}">
                <a16:creationId xmlns:a16="http://schemas.microsoft.com/office/drawing/2014/main" id="{9CCE1E5A-0BC5-D8F8-089C-96ABBA9875ED}"/>
              </a:ext>
            </a:extLst>
          </p:cNvPr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A87BB8FE-7344-47FE-1FEA-E0F1D656141C}"/>
              </a:ext>
            </a:extLst>
          </p:cNvPr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0C01B145-C046-81F6-85E2-07F575EC3683}"/>
              </a:ext>
            </a:extLst>
          </p:cNvPr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97F50321-FA26-32AE-EA0B-D055028EEF82}"/>
              </a:ext>
            </a:extLst>
          </p:cNvPr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480A00F0-A0C0-5841-101E-BD887C3AE757}"/>
              </a:ext>
            </a:extLst>
          </p:cNvPr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6">
            <a:extLst>
              <a:ext uri="{FF2B5EF4-FFF2-40B4-BE49-F238E27FC236}">
                <a16:creationId xmlns:a16="http://schemas.microsoft.com/office/drawing/2014/main" id="{845E314E-8C13-7C79-DA5F-9139EDE3DE03}"/>
              </a:ext>
            </a:extLst>
          </p:cNvPr>
          <p:cNvSpPr txBox="1"/>
          <p:nvPr userDrawn="1"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8" name="Group 20">
            <a:extLst>
              <a:ext uri="{FF2B5EF4-FFF2-40B4-BE49-F238E27FC236}">
                <a16:creationId xmlns:a16="http://schemas.microsoft.com/office/drawing/2014/main" id="{FAEFD18E-927E-9B7B-44CC-2A9DEAB51605}"/>
              </a:ext>
            </a:extLst>
          </p:cNvPr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22" name="Straight Connector 18">
              <a:extLst>
                <a:ext uri="{FF2B5EF4-FFF2-40B4-BE49-F238E27FC236}">
                  <a16:creationId xmlns:a16="http://schemas.microsoft.com/office/drawing/2014/main" id="{D7BB399D-BACE-2D9E-29F3-38CB72552AC0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riangle 19">
              <a:extLst>
                <a:ext uri="{FF2B5EF4-FFF2-40B4-BE49-F238E27FC236}">
                  <a16:creationId xmlns:a16="http://schemas.microsoft.com/office/drawing/2014/main" id="{5C5D3FA1-19D8-4E17-9F7E-693D0C19FC39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939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267279" y="2388870"/>
            <a:ext cx="5248321" cy="328041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539369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964865" y="988829"/>
            <a:ext cx="7570382" cy="473148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126813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1931991" y="1808274"/>
            <a:ext cx="2007753" cy="356821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335188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318852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05744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993234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-1019277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1343873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9331363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166140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77679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2" grpId="0" animBg="1"/>
      <p:bldP spid="23" grpId="0" animBg="1"/>
      <p:bldP spid="24" grpId="0" animBg="1"/>
      <p:bldP spid="25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7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902580" y="2713250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265039" y="2344106"/>
            <a:ext cx="2001318" cy="355304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1822122" y="4762702"/>
            <a:ext cx="774384" cy="9632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8929390" y="2102019"/>
            <a:ext cx="5221112" cy="391473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9693256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4368299" y="2713250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1730497" y="2344106"/>
            <a:ext cx="2001318" cy="355304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218933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 rot="19800000">
            <a:off x="-1487012" y="-2193956"/>
            <a:ext cx="3932123" cy="523430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 rot="19800000">
            <a:off x="10294981" y="2478418"/>
            <a:ext cx="3932123" cy="523430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5" hasCustomPrompt="1"/>
          </p:nvPr>
        </p:nvSpPr>
        <p:spPr>
          <a:xfrm rot="3600000">
            <a:off x="9810147" y="-1216807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6" hasCustomPrompt="1"/>
          </p:nvPr>
        </p:nvSpPr>
        <p:spPr>
          <a:xfrm rot="19800000">
            <a:off x="8862614" y="5972938"/>
            <a:ext cx="774384" cy="9632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 rot="3600000">
            <a:off x="-51730" y="4041080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2789184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2000563" y="2327009"/>
            <a:ext cx="1874752" cy="221233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6256370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246988" y="-22859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99985" y="1748790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8326256" y="262890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4409290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2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023530" y="1796352"/>
            <a:ext cx="1801537" cy="32384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518374" y="1796352"/>
            <a:ext cx="1801537" cy="32384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41318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300984" y="4215384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112553" y="3076055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8685085" y="820709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0487042" y="-311247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161" y="2213356"/>
            <a:ext cx="5203862" cy="3360312"/>
          </a:xfrm>
          <a:prstGeom prst="rect">
            <a:avLst/>
          </a:prstGeom>
        </p:spPr>
      </p:pic>
      <p:sp>
        <p:nvSpPr>
          <p:cNvPr id="2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016275" y="1791063"/>
            <a:ext cx="1901952" cy="39319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30000"/>
            </a:camera>
            <a:lightRig rig="threePt" dir="t"/>
          </a:scene3d>
          <a:sp3d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88134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27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09705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727948" y="1976968"/>
            <a:ext cx="1315703" cy="232146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9684941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1100041"/>
            <a:ext cx="2044805" cy="205093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3553369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3494314"/>
            <a:ext cx="2044804" cy="33561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5" y="3494314"/>
            <a:ext cx="2044804" cy="33561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9161077" y="0"/>
            <a:ext cx="2044804" cy="33561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0680066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4213654"/>
            <a:ext cx="2044804" cy="263685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60" y="0"/>
            <a:ext cx="2044804" cy="2335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8" y="2335427"/>
            <a:ext cx="4089614" cy="451507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5988602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81855" y="-1"/>
            <a:ext cx="6134415" cy="68505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59" y="0"/>
            <a:ext cx="4089611" cy="483149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019013"/>
            <a:ext cx="4089611" cy="483149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2456680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5282" y="13726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6" y="13726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71" y="22870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62455" y="22870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5220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8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071466" y="0"/>
            <a:ext cx="7120534" cy="68505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164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6970342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926176"/>
            <a:ext cx="8179221" cy="53416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5924" y="4721629"/>
            <a:ext cx="2040346" cy="213637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461950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5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981855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026661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026661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5071466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071466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116271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7116271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9161075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9161075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11205883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11205883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-1062952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8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-1062952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5093"/>
            <a:ext cx="12192000" cy="3192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53873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26661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071466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116271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9161076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168670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025343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3026661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04480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0854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861933"/>
            <a:ext cx="1022402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138223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0" y="3312973"/>
            <a:ext cx="6134415" cy="35450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0249474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861933"/>
            <a:ext cx="1022402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9161076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0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5071465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1205882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095893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608491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861933"/>
            <a:ext cx="5103060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084916" y="861933"/>
            <a:ext cx="512096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34447873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3059084"/>
            <a:ext cx="4089610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3059084"/>
            <a:ext cx="4089610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5997564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-24939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277686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6" y="4580311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0215490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0"/>
            <a:ext cx="4089610" cy="22951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7116272" y="2295144"/>
            <a:ext cx="4089610" cy="22951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026661" y="4590288"/>
            <a:ext cx="4089610" cy="22951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06797688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-7495"/>
            <a:ext cx="12192000" cy="330804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26658662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2" y="-7495"/>
            <a:ext cx="9165338" cy="68654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312972"/>
            <a:ext cx="5071466" cy="35450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34436216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-7496"/>
            <a:ext cx="12192000" cy="68654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11387305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78D4-4EF1-4444-880E-55B9B5B8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0">
                <a:latin typeface="微软雅黑 Light" panose="020B0502040204020203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B1269-110F-4604-BED1-076A2177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631C-9861-4522-8897-54ECE3BA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fld id="{8A04CBEA-46EF-45C6-B692-E3D3A63E4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971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  <a:lvl2pPr>
              <a:defRPr>
                <a:latin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fld id="{729112FA-4917-4E14-A73B-07EB212A88BD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fld id="{8A04CBEA-46EF-45C6-B692-E3D3A63E4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248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8082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F57CF93-1FEB-4D38-9587-EB0840A7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75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467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8D183-CEC6-2AD9-9291-3ABC0F783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279AC2-417C-78F3-C0EB-35473F90B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C7DC2-D91B-4539-7205-D62400B0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12FA-4917-4E14-A73B-07EB212A88BD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65EBAB-70A3-51AE-CA41-B9596D9E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902A53-CF99-5144-81BD-16718B32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CBEA-46EF-45C6-B692-E3D3A63E4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034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537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53.xml"/><Relationship Id="rId50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43.xml"/><Relationship Id="rId40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1.xml"/><Relationship Id="rId61" Type="http://schemas.openxmlformats.org/officeDocument/2006/relationships/theme" Target="../theme/theme2.xml"/><Relationship Id="rId1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62.xml"/><Relationship Id="rId8" Type="http://schemas.openxmlformats.org/officeDocument/2006/relationships/slideLayout" Target="../slideLayouts/slideLayout14.xml"/><Relationship Id="rId51" Type="http://schemas.openxmlformats.org/officeDocument/2006/relationships/slideLayout" Target="../slideLayouts/slideLayout57.xml"/><Relationship Id="rId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52.xml"/><Relationship Id="rId5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26.xml"/><Relationship Id="rId41" Type="http://schemas.openxmlformats.org/officeDocument/2006/relationships/slideLayout" Target="../slideLayouts/slideLayout47.xml"/><Relationship Id="rId54" Type="http://schemas.openxmlformats.org/officeDocument/2006/relationships/slideLayout" Target="../slideLayouts/slideLayout60.xml"/><Relationship Id="rId6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42.xml"/><Relationship Id="rId49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16.xml"/><Relationship Id="rId31" Type="http://schemas.openxmlformats.org/officeDocument/2006/relationships/slideLayout" Target="../slideLayouts/slideLayout37.xml"/><Relationship Id="rId44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8700"/>
            <a:ext cx="12192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ïśľiḍè"/>
          <p:cNvSpPr/>
          <p:nvPr/>
        </p:nvSpPr>
        <p:spPr>
          <a:xfrm>
            <a:off x="-32528" y="-619551"/>
            <a:ext cx="2485055" cy="474964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49,173,252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13" name="íś1ïḍê"/>
          <p:cNvSpPr/>
          <p:nvPr/>
        </p:nvSpPr>
        <p:spPr>
          <a:xfrm>
            <a:off x="2775796" y="-619551"/>
            <a:ext cx="2485055" cy="47496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166,166,166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14" name="ïśľiḍè"/>
          <p:cNvSpPr/>
          <p:nvPr/>
        </p:nvSpPr>
        <p:spPr>
          <a:xfrm>
            <a:off x="5584120" y="-619551"/>
            <a:ext cx="2485055" cy="474964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131,205,253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15" name="íś1ïḍê"/>
          <p:cNvSpPr/>
          <p:nvPr/>
        </p:nvSpPr>
        <p:spPr>
          <a:xfrm>
            <a:off x="8392443" y="-619551"/>
            <a:ext cx="2485055" cy="4749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202,203,203</a:t>
            </a:r>
            <a:endParaRPr lang="zh-CN" altLang="en-US" i="1">
              <a:solidFill>
                <a:schemeClr val="bg1"/>
              </a:solidFill>
            </a:endParaRPr>
          </a:p>
        </p:txBody>
      </p:sp>
      <p:pic>
        <p:nvPicPr>
          <p:cNvPr id="16" name="Picture 2" descr="A picture containing clock, meter&#10;&#10;Description automatically generated">
            <a:extLst>
              <a:ext uri="{FF2B5EF4-FFF2-40B4-BE49-F238E27FC236}">
                <a16:creationId xmlns:a16="http://schemas.microsoft.com/office/drawing/2014/main" id="{4AB4C29F-8C8A-EC4A-CA3E-0ACB060CC8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158" y="6239035"/>
            <a:ext cx="2050367" cy="3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9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 spc="3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lock, meter&#10;&#10;Description automatically generated">
            <a:extLst>
              <a:ext uri="{FF2B5EF4-FFF2-40B4-BE49-F238E27FC236}">
                <a16:creationId xmlns:a16="http://schemas.microsoft.com/office/drawing/2014/main" id="{15F8CD2C-10BE-4F26-B123-2EF093FFE629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772158" y="6239035"/>
            <a:ext cx="2050367" cy="3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0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  <p:sldLayoutId id="2147483693" r:id="rId26"/>
    <p:sldLayoutId id="2147483694" r:id="rId27"/>
    <p:sldLayoutId id="2147483695" r:id="rId28"/>
    <p:sldLayoutId id="2147483696" r:id="rId29"/>
    <p:sldLayoutId id="2147483697" r:id="rId30"/>
    <p:sldLayoutId id="2147483698" r:id="rId31"/>
    <p:sldLayoutId id="2147483699" r:id="rId32"/>
    <p:sldLayoutId id="2147483700" r:id="rId33"/>
    <p:sldLayoutId id="2147483701" r:id="rId34"/>
    <p:sldLayoutId id="2147483702" r:id="rId35"/>
    <p:sldLayoutId id="2147483703" r:id="rId36"/>
    <p:sldLayoutId id="2147483704" r:id="rId37"/>
    <p:sldLayoutId id="2147483705" r:id="rId38"/>
    <p:sldLayoutId id="2147483706" r:id="rId39"/>
    <p:sldLayoutId id="2147483707" r:id="rId40"/>
    <p:sldLayoutId id="2147483708" r:id="rId41"/>
    <p:sldLayoutId id="2147483709" r:id="rId42"/>
    <p:sldLayoutId id="2147483710" r:id="rId43"/>
    <p:sldLayoutId id="2147483711" r:id="rId44"/>
    <p:sldLayoutId id="2147483712" r:id="rId45"/>
    <p:sldLayoutId id="2147483713" r:id="rId46"/>
    <p:sldLayoutId id="2147483714" r:id="rId47"/>
    <p:sldLayoutId id="2147483715" r:id="rId48"/>
    <p:sldLayoutId id="2147483716" r:id="rId49"/>
    <p:sldLayoutId id="2147483717" r:id="rId50"/>
    <p:sldLayoutId id="2147483718" r:id="rId51"/>
    <p:sldLayoutId id="2147483719" r:id="rId52"/>
    <p:sldLayoutId id="2147483720" r:id="rId53"/>
    <p:sldLayoutId id="2147483721" r:id="rId54"/>
    <p:sldLayoutId id="2147483722" r:id="rId55"/>
    <p:sldLayoutId id="2147483723" r:id="rId56"/>
    <p:sldLayoutId id="2147483724" r:id="rId57"/>
    <p:sldLayoutId id="2147483725" r:id="rId58"/>
    <p:sldLayoutId id="2147483726" r:id="rId59"/>
    <p:sldLayoutId id="2147483727" r:id="rId6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0ED60D0D-BE23-C699-60FD-32FE38FCC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DFS 2.0 </a:t>
            </a:r>
            <a:r>
              <a:rPr lang="zh-CN" altLang="en-US" dirty="0"/>
              <a:t>功能演示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553BA5-9107-CD41-A262-8C8796029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张千晓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ABFA27-3399-4A70-88EC-F3D8904712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2025-1-10</a:t>
            </a:r>
          </a:p>
        </p:txBody>
      </p:sp>
    </p:spTree>
    <p:extLst>
      <p:ext uri="{BB962C8B-B14F-4D97-AF65-F5344CB8AC3E}">
        <p14:creationId xmlns:p14="http://schemas.microsoft.com/office/powerpoint/2010/main" val="2169404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5BCCF-009B-E259-C4F4-0BEE1EE504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97472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关键用户场景</a:t>
            </a: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208A4D81-08B2-00D9-28CE-1C42D56010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213122"/>
              </p:ext>
            </p:extLst>
          </p:nvPr>
        </p:nvGraphicFramePr>
        <p:xfrm>
          <a:off x="1380794" y="1235601"/>
          <a:ext cx="8972881" cy="4946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043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6C2F-1423-CC05-2279-C8BA67A2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5FA60-4ADF-D744-B350-6FB94BB5F8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97472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关键用户场景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单一场景涉及到的主流程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E99A4A6-E4D6-BEE0-1C8A-A50F97B8A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500973"/>
              </p:ext>
            </p:extLst>
          </p:nvPr>
        </p:nvGraphicFramePr>
        <p:xfrm>
          <a:off x="597944" y="1328306"/>
          <a:ext cx="11220345" cy="477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228">
                  <a:extLst>
                    <a:ext uri="{9D8B030D-6E8A-4147-A177-3AD203B41FA5}">
                      <a16:colId xmlns:a16="http://schemas.microsoft.com/office/drawing/2014/main" val="501494058"/>
                    </a:ext>
                  </a:extLst>
                </a:gridCol>
                <a:gridCol w="8635117">
                  <a:extLst>
                    <a:ext uri="{9D8B030D-6E8A-4147-A177-3AD203B41FA5}">
                      <a16:colId xmlns:a16="http://schemas.microsoft.com/office/drawing/2014/main" val="489126662"/>
                    </a:ext>
                  </a:extLst>
                </a:gridCol>
              </a:tblGrid>
              <a:tr h="395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场景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主流程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636690"/>
                  </a:ext>
                </a:extLst>
              </a:tr>
              <a:tr h="2172291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场景一：依照指导手册或常规经验对业务数据进行实时监控。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43219"/>
                  </a:ext>
                </a:extLst>
              </a:tr>
              <a:tr h="2210463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场景二：需要利用机器学习模型辅助分析的复杂异常情况。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597668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81808F82-3579-77C8-E145-BECD42336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524" y="4027759"/>
            <a:ext cx="7866047" cy="196803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B26B0C-15E9-65F7-8B1B-6CC57750F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08" y="2048435"/>
            <a:ext cx="7866063" cy="156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7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6E6F-5226-C4CB-7819-EA9746DB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6DAA4-BF54-9C56-7761-17A0127939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97472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关键用户场景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主流程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8F8AD4-F02D-DCA7-3657-27FADE575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2" y="1769334"/>
            <a:ext cx="12033176" cy="37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6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45D6-7553-4E68-C6DA-97AB8758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E3BD5-E394-8779-9588-73DE6A27F2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97472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后续规划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——Designer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96E32F-961A-91D8-387F-99A9FD494EC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79622" y="1271650"/>
            <a:ext cx="11025930" cy="50069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Designer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中产生的数据发给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中进行分析，将分析结果以数据报表形式提供给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Designer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C21FAF-BDA6-B939-3896-F426E59F3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99"/>
          <a:stretch/>
        </p:blipFill>
        <p:spPr>
          <a:xfrm>
            <a:off x="1020861" y="2146144"/>
            <a:ext cx="10372725" cy="24965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C326C1-43BE-FC39-AE6E-E74F12EC29A8}"/>
              </a:ext>
            </a:extLst>
          </p:cNvPr>
          <p:cNvSpPr txBox="1"/>
          <p:nvPr/>
        </p:nvSpPr>
        <p:spPr>
          <a:xfrm>
            <a:off x="1123979" y="4778556"/>
            <a:ext cx="101912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规划内容：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DFS</a:t>
            </a:r>
            <a:r>
              <a:rPr lang="zh-CN" altLang="en-US" dirty="0"/>
              <a:t>与</a:t>
            </a:r>
            <a:r>
              <a:rPr lang="en-US" altLang="zh-CN" dirty="0" err="1"/>
              <a:t>FactVerse</a:t>
            </a:r>
            <a:r>
              <a:rPr lang="zh-CN" altLang="en-US" dirty="0"/>
              <a:t>有效连接。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数据看板能力</a:t>
            </a:r>
            <a:r>
              <a:rPr lang="en-US" altLang="zh-CN" dirty="0"/>
              <a:t>——</a:t>
            </a:r>
            <a:r>
              <a:rPr lang="zh-CN" altLang="en-US" dirty="0"/>
              <a:t>将不同维度的数据分析结果按需集成在数据看板中，</a:t>
            </a:r>
            <a:r>
              <a:rPr lang="en-US" altLang="zh-CN" dirty="0"/>
              <a:t>Designer</a:t>
            </a:r>
            <a:r>
              <a:rPr lang="zh-CN" altLang="en-US" dirty="0"/>
              <a:t>连接网页展示该数据看板。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灵活的算法导入导出能力。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497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E90BC-5B63-227F-B0BA-D9FA519A00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97472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性能指标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4DF6D95-F842-BBCF-6D71-6244F45B9938}"/>
              </a:ext>
            </a:extLst>
          </p:cNvPr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424771"/>
              </p:ext>
            </p:extLst>
          </p:nvPr>
        </p:nvGraphicFramePr>
        <p:xfrm>
          <a:off x="676383" y="1294172"/>
          <a:ext cx="5231455" cy="3164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60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900" b="1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最低配置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900" b="1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推荐配置</a:t>
                      </a: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 16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 64</a:t>
                      </a: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64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128</a:t>
                      </a: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磁盘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推荐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SSD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磁盘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推荐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SSD</a:t>
                      </a:r>
                      <a:endParaRPr lang="zh-CN" altLang="en-US" sz="1700" b="0" spc="1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 </a:t>
                      </a: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按需</a:t>
                      </a:r>
                      <a:endParaRPr lang="en-US" altLang="zh-CN" sz="1700" b="0" spc="1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根据模型需求</a:t>
                      </a:r>
                      <a:r>
                        <a:rPr lang="en-US" altLang="zh-CN" sz="1700" b="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zh-CN" altLang="en-US" sz="1700" b="0" spc="1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GPU </a:t>
                      </a:r>
                      <a:r>
                        <a:rPr lang="zh-CN" altLang="en-US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按需</a:t>
                      </a:r>
                      <a:endParaRPr lang="en-US" altLang="zh-CN" sz="1700" spc="1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根据模型需求</a:t>
                      </a:r>
                      <a:r>
                        <a:rPr lang="en-US" altLang="zh-CN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1700" b="0" spc="1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D92B6B77-5F9F-4095-8F1D-A63FFE24C0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7" r="2129"/>
          <a:stretch/>
        </p:blipFill>
        <p:spPr>
          <a:xfrm>
            <a:off x="6075902" y="1282700"/>
            <a:ext cx="5785898" cy="488169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B0CE2B1-036C-9A84-5716-76DC16A7D84B}"/>
              </a:ext>
            </a:extLst>
          </p:cNvPr>
          <p:cNvSpPr txBox="1"/>
          <p:nvPr/>
        </p:nvSpPr>
        <p:spPr>
          <a:xfrm>
            <a:off x="654471" y="4778094"/>
            <a:ext cx="52314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zh-CN" altLang="en-US" sz="1400" b="1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最低配置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下：处理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400" b="1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10W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条数据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数据加载、预处理、特征提取、预警规则计算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</a:t>
            </a:r>
            <a:r>
              <a:rPr lang="en-US" altLang="zh-CN" sz="1400" b="1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30S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；处理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400" b="1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100W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条数据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数据加载、预处理、特征提取、预警规则计算</a:t>
            </a:r>
            <a:r>
              <a:rPr lang="en-US" altLang="zh-CN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</a:t>
            </a:r>
            <a:r>
              <a:rPr lang="en-US" altLang="zh-CN" sz="1400" b="1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180S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1400" spc="13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时序数据存储采用</a:t>
            </a:r>
            <a:r>
              <a:rPr lang="en-US" altLang="zh-CN" sz="1400" spc="13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IoTDB</a:t>
            </a:r>
            <a:r>
              <a:rPr lang="zh-CN" altLang="en-US" sz="1400" spc="1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，支持横向扩容，如数据量过高采用集群部署，可秒横向扩容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145556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3*225"/>
  <p:tag name="TABLE_ENDDRAG_RECT" val="42*108*353*225"/>
</p:tagLst>
</file>

<file path=ppt/theme/theme1.xml><?xml version="1.0" encoding="utf-8"?>
<a:theme xmlns:a="http://schemas.openxmlformats.org/drawingml/2006/main" name="1_主题5">
  <a:themeElements>
    <a:clrScheme name="自定义 105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1ADFC"/>
      </a:accent1>
      <a:accent2>
        <a:srgbClr val="7B7E7E"/>
      </a:accent2>
      <a:accent3>
        <a:srgbClr val="83CDFD"/>
      </a:accent3>
      <a:accent4>
        <a:srgbClr val="A7A7A7"/>
      </a:accent4>
      <a:accent5>
        <a:srgbClr val="7B7E7E"/>
      </a:accent5>
      <a:accent6>
        <a:srgbClr val="69696A"/>
      </a:accent6>
      <a:hlink>
        <a:srgbClr val="31ADFC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taMesh FactVerse BP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DataMesh FactVerse DFS-20241125</Template>
  <TotalTime>4576</TotalTime>
  <Words>529</Words>
  <Application>Microsoft Office PowerPoint</Application>
  <PresentationFormat>宽屏</PresentationFormat>
  <Paragraphs>50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微软雅黑</vt:lpstr>
      <vt:lpstr>微软雅黑 Light</vt:lpstr>
      <vt:lpstr>Arial</vt:lpstr>
      <vt:lpstr>Bebas Neue</vt:lpstr>
      <vt:lpstr>Wingdings</vt:lpstr>
      <vt:lpstr>1_主题5</vt:lpstr>
      <vt:lpstr>DataMesh FactVerse BP</vt:lpstr>
      <vt:lpstr>DFS 2.0 功能演示</vt:lpstr>
      <vt:lpstr>  关键用户场景</vt:lpstr>
      <vt:lpstr>  关键用户场景——单一场景涉及到的主流程</vt:lpstr>
      <vt:lpstr>  关键用户场景——主流程</vt:lpstr>
      <vt:lpstr>  后续规划——Designer用户场景</vt:lpstr>
      <vt:lpstr>  性能指标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 张千晓</cp:lastModifiedBy>
  <cp:revision>14</cp:revision>
  <dcterms:created xsi:type="dcterms:W3CDTF">2025-01-08T10:40:15Z</dcterms:created>
  <dcterms:modified xsi:type="dcterms:W3CDTF">2025-01-13T02:02:07Z</dcterms:modified>
</cp:coreProperties>
</file>