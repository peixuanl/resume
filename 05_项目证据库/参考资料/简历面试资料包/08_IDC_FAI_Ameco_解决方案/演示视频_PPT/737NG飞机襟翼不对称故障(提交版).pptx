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rts/chart3.xml" ContentType="application/vnd.openxmlformats-officedocument.drawingml.chart+xml"/>
  <Override PartName="/ppt/charts/chart4.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5"/>
  </p:notesMasterIdLst>
  <p:sldIdLst>
    <p:sldId id="256" r:id="rId2"/>
    <p:sldId id="257" r:id="rId3"/>
    <p:sldId id="258" r:id="rId4"/>
    <p:sldId id="261" r:id="rId5"/>
    <p:sldId id="280" r:id="rId6"/>
    <p:sldId id="281" r:id="rId7"/>
    <p:sldId id="303" r:id="rId8"/>
    <p:sldId id="278" r:id="rId9"/>
    <p:sldId id="259" r:id="rId10"/>
    <p:sldId id="283" r:id="rId11"/>
    <p:sldId id="296" r:id="rId12"/>
    <p:sldId id="297" r:id="rId13"/>
    <p:sldId id="299" r:id="rId14"/>
    <p:sldId id="300" r:id="rId15"/>
    <p:sldId id="295" r:id="rId16"/>
    <p:sldId id="291" r:id="rId17"/>
    <p:sldId id="260" r:id="rId18"/>
    <p:sldId id="294" r:id="rId19"/>
    <p:sldId id="301" r:id="rId20"/>
    <p:sldId id="293" r:id="rId21"/>
    <p:sldId id="302" r:id="rId22"/>
    <p:sldId id="304" r:id="rId23"/>
    <p:sldId id="279" r:id="rId24"/>
  </p:sldIdLst>
  <p:sldSz cx="6858000" cy="5143500"/>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D9D9D9"/>
    <a:srgbClr val="F2F2F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4" autoAdjust="0"/>
    <p:restoredTop sz="94563" autoAdjust="0"/>
  </p:normalViewPr>
  <p:slideViewPr>
    <p:cSldViewPr snapToGrid="0">
      <p:cViewPr>
        <p:scale>
          <a:sx n="100" d="100"/>
          <a:sy n="100" d="100"/>
        </p:scale>
        <p:origin x="-1272" y="252"/>
      </p:cViewPr>
      <p:guideLst>
        <p:guide orient="horz" pos="1620"/>
        <p:guide pos="2160"/>
      </p:guideLst>
    </p:cSldViewPr>
  </p:slideViewPr>
  <p:notesTextViewPr>
    <p:cViewPr>
      <p:scale>
        <a:sx n="1" d="1"/>
        <a:sy n="1" d="1"/>
      </p:scale>
      <p:origin x="0" y="0"/>
    </p:cViewPr>
  </p:notesTextViewPr>
  <p:sorterViewPr>
    <p:cViewPr>
      <p:scale>
        <a:sx n="121" d="100"/>
        <a:sy n="121"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D:\&#29992;&#25143;&#30446;&#24405;\&#25105;&#30340;&#25991;&#26723;\WeChat%20Files\zuopeng9132\FileStorage\File\2022-03\NG&#36817;&#19968;&#24180;&#22269;&#33322;&#19990;&#30028;&#23545;&#27604;&#19981;&#27491;&#24120;&#21315;&#27425;&#29575;2021-03-2022-02&#25187;&#38500;&#22797;&#39134;(1).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istrator\Desktop\Book1&#25351;&#31034;&#22120;.xls"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Administrator\Desktop\Book1.xls"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Book2"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zh-CN"/>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a:t>襟翼位置传感器国航与世界机队趋势图对比</a:t>
            </a:r>
          </a:p>
        </c:rich>
      </c:tx>
      <c:layout/>
      <c:spPr>
        <a:noFill/>
        <a:ln w="25400">
          <a:noFill/>
        </a:ln>
      </c:spPr>
    </c:title>
    <c:plotArea>
      <c:layout>
        <c:manualLayout>
          <c:layoutTarget val="inner"/>
          <c:xMode val="edge"/>
          <c:yMode val="edge"/>
          <c:x val="5.0144089131715704E-2"/>
          <c:y val="0.13737373737373737"/>
          <c:w val="0.9187577573211515"/>
          <c:h val="0.73585595506855395"/>
        </c:manualLayout>
      </c:layout>
      <c:lineChart>
        <c:grouping val="standard"/>
        <c:ser>
          <c:idx val="0"/>
          <c:order val="0"/>
          <c:tx>
            <c:strRef>
              <c:f>sheet1!$A$2</c:f>
              <c:strCache>
                <c:ptCount val="1"/>
                <c:pt idx="0">
                  <c:v>国航B737NG#2751</c:v>
                </c:pt>
              </c:strCache>
            </c:strRef>
          </c:tx>
          <c:spPr>
            <a:ln w="28575" cap="rnd">
              <a:solidFill>
                <a:schemeClr val="accent1"/>
              </a:solidFill>
              <a:round/>
            </a:ln>
            <a:effectLst/>
          </c:spPr>
          <c:marker>
            <c:symbol val="none"/>
          </c:marker>
          <c:cat>
            <c:strRef>
              <c:f>sheet1!$B$1:$M$1</c:f>
              <c:strCache>
                <c:ptCount val="12"/>
                <c:pt idx="0">
                  <c:v>03月</c:v>
                </c:pt>
                <c:pt idx="1">
                  <c:v>04月</c:v>
                </c:pt>
                <c:pt idx="2">
                  <c:v>05月</c:v>
                </c:pt>
                <c:pt idx="3">
                  <c:v>06月</c:v>
                </c:pt>
                <c:pt idx="4">
                  <c:v>07月</c:v>
                </c:pt>
                <c:pt idx="5">
                  <c:v>08月</c:v>
                </c:pt>
                <c:pt idx="6">
                  <c:v>09月</c:v>
                </c:pt>
                <c:pt idx="7">
                  <c:v>10月</c:v>
                </c:pt>
                <c:pt idx="8">
                  <c:v>11月</c:v>
                </c:pt>
                <c:pt idx="9">
                  <c:v>12月</c:v>
                </c:pt>
                <c:pt idx="10">
                  <c:v>01月</c:v>
                </c:pt>
                <c:pt idx="11">
                  <c:v>02月</c:v>
                </c:pt>
              </c:strCache>
            </c:strRef>
          </c:cat>
          <c:val>
            <c:numRef>
              <c:f>sheet1!$B$2:$M$2</c:f>
              <c:numCache>
                <c:formatCode>General</c:formatCode>
                <c:ptCount val="12"/>
                <c:pt idx="0">
                  <c:v>0</c:v>
                </c:pt>
                <c:pt idx="1">
                  <c:v>6.0000000000000026E-2</c:v>
                </c:pt>
                <c:pt idx="2">
                  <c:v>6.0000000000000026E-2</c:v>
                </c:pt>
                <c:pt idx="3">
                  <c:v>0</c:v>
                </c:pt>
                <c:pt idx="4">
                  <c:v>7.0000000000000021E-2</c:v>
                </c:pt>
                <c:pt idx="5">
                  <c:v>0.13</c:v>
                </c:pt>
                <c:pt idx="6">
                  <c:v>0</c:v>
                </c:pt>
                <c:pt idx="7">
                  <c:v>0</c:v>
                </c:pt>
                <c:pt idx="8">
                  <c:v>0</c:v>
                </c:pt>
                <c:pt idx="9">
                  <c:v>0</c:v>
                </c:pt>
                <c:pt idx="10">
                  <c:v>0</c:v>
                </c:pt>
                <c:pt idx="11">
                  <c:v>0</c:v>
                </c:pt>
              </c:numCache>
            </c:numRef>
          </c:val>
        </c:ser>
        <c:ser>
          <c:idx val="1"/>
          <c:order val="1"/>
          <c:tx>
            <c:strRef>
              <c:f>sheet1!$A$3</c:f>
              <c:strCache>
                <c:ptCount val="1"/>
                <c:pt idx="0">
                  <c:v>世界机队</c:v>
                </c:pt>
              </c:strCache>
            </c:strRef>
          </c:tx>
          <c:spPr>
            <a:ln w="28575" cap="rnd">
              <a:solidFill>
                <a:schemeClr val="accent2"/>
              </a:solidFill>
              <a:round/>
            </a:ln>
            <a:effectLst/>
          </c:spPr>
          <c:marker>
            <c:symbol val="none"/>
          </c:marker>
          <c:cat>
            <c:strRef>
              <c:f>sheet1!$B$1:$M$1</c:f>
              <c:strCache>
                <c:ptCount val="12"/>
                <c:pt idx="0">
                  <c:v>03月</c:v>
                </c:pt>
                <c:pt idx="1">
                  <c:v>04月</c:v>
                </c:pt>
                <c:pt idx="2">
                  <c:v>05月</c:v>
                </c:pt>
                <c:pt idx="3">
                  <c:v>06月</c:v>
                </c:pt>
                <c:pt idx="4">
                  <c:v>07月</c:v>
                </c:pt>
                <c:pt idx="5">
                  <c:v>08月</c:v>
                </c:pt>
                <c:pt idx="6">
                  <c:v>09月</c:v>
                </c:pt>
                <c:pt idx="7">
                  <c:v>10月</c:v>
                </c:pt>
                <c:pt idx="8">
                  <c:v>11月</c:v>
                </c:pt>
                <c:pt idx="9">
                  <c:v>12月</c:v>
                </c:pt>
                <c:pt idx="10">
                  <c:v>01月</c:v>
                </c:pt>
                <c:pt idx="11">
                  <c:v>02月</c:v>
                </c:pt>
              </c:strCache>
            </c:strRef>
          </c:cat>
          <c:val>
            <c:numRef>
              <c:f>sheet1!$B$3:$M$3</c:f>
              <c:numCache>
                <c:formatCode>General</c:formatCode>
                <c:ptCount val="12"/>
                <c:pt idx="0">
                  <c:v>1.5760000000000003E-2</c:v>
                </c:pt>
                <c:pt idx="1">
                  <c:v>8.8500000000000106E-3</c:v>
                </c:pt>
                <c:pt idx="2">
                  <c:v>4.6299999999999996E-3</c:v>
                </c:pt>
                <c:pt idx="3">
                  <c:v>4.4500000000000026E-3</c:v>
                </c:pt>
                <c:pt idx="4">
                  <c:v>1.7559999999999999E-2</c:v>
                </c:pt>
                <c:pt idx="5">
                  <c:v>1.753E-2</c:v>
                </c:pt>
                <c:pt idx="6">
                  <c:v>1.1440000000000007E-2</c:v>
                </c:pt>
                <c:pt idx="7">
                  <c:v>2.3309999999999997E-2</c:v>
                </c:pt>
                <c:pt idx="8">
                  <c:v>6.8000000000000031E-3</c:v>
                </c:pt>
                <c:pt idx="9">
                  <c:v>2.0210000000000002E-2</c:v>
                </c:pt>
                <c:pt idx="10">
                  <c:v>1.1150000000000005E-2</c:v>
                </c:pt>
                <c:pt idx="11">
                  <c:v>9.6800000000000028E-3</c:v>
                </c:pt>
              </c:numCache>
            </c:numRef>
          </c:val>
        </c:ser>
        <c:marker val="1"/>
        <c:axId val="157511680"/>
        <c:axId val="157513216"/>
      </c:lineChart>
      <c:catAx>
        <c:axId val="15751168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7513216"/>
        <c:crosses val="autoZero"/>
        <c:auto val="1"/>
        <c:lblAlgn val="ctr"/>
        <c:lblOffset val="100"/>
      </c:catAx>
      <c:valAx>
        <c:axId val="157513216"/>
        <c:scaling>
          <c:orientation val="minMax"/>
        </c:scaling>
        <c:axPos val="l"/>
        <c:majorGridlines>
          <c:spPr>
            <a:ln w="9525" cap="flat" cmpd="sng" algn="ctr">
              <a:solidFill>
                <a:schemeClr val="tx1">
                  <a:lumMod val="15000"/>
                  <a:lumOff val="85000"/>
                </a:schemeClr>
              </a:solidFill>
              <a:round/>
            </a:ln>
            <a:effectLst/>
          </c:spPr>
        </c:majorGridlines>
        <c:numFmt formatCode="General" sourceLinked="1"/>
        <c:majorTickMark val="none"/>
        <c:tickLblPos val="nextTo"/>
        <c:spPr>
          <a:ln w="6350">
            <a:noFill/>
          </a:ln>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57511680"/>
        <c:crosses val="autoZero"/>
        <c:crossBetween val="between"/>
      </c:valAx>
      <c:spPr>
        <a:noFill/>
        <a:ln w="25400">
          <a:noFill/>
        </a:ln>
      </c:spPr>
    </c:plotArea>
    <c:legend>
      <c:legendPos val="b"/>
      <c:layout>
        <c:manualLayout>
          <c:xMode val="edge"/>
          <c:yMode val="edge"/>
          <c:x val="0.60551457383616492"/>
          <c:y val="0.27797147734155636"/>
          <c:w val="0.36207026753234828"/>
          <c:h val="7.8671879301800557E-2"/>
        </c:manualLayout>
      </c:layout>
      <c:spPr>
        <a:noFill/>
        <a:ln w="25400">
          <a:noFill/>
        </a:ln>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chart>
  <c:spPr>
    <a:solidFill>
      <a:schemeClr val="bg1"/>
    </a:solidFill>
    <a:ln w="9525" cap="flat" cmpd="sng" algn="ctr">
      <a:solidFill>
        <a:schemeClr val="tx1">
          <a:lumMod val="15000"/>
          <a:lumOff val="85000"/>
        </a:schemeClr>
      </a:solidFill>
      <a:round/>
    </a:ln>
    <a:effectLst/>
  </c:spPr>
  <c:txPr>
    <a:bodyPr/>
    <a:lstStyle/>
    <a:p>
      <a:pPr>
        <a:defRPr/>
      </a:pPr>
      <a:endParaRPr lang="zh-CN"/>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zh-CN"/>
  <c:chart>
    <c:autoTitleDeleted val="1"/>
    <c:plotArea>
      <c:layout/>
      <c:barChart>
        <c:barDir val="col"/>
        <c:grouping val="clustered"/>
        <c:ser>
          <c:idx val="0"/>
          <c:order val="0"/>
          <c:cat>
            <c:strRef>
              <c:f>Sheet1!$A$1:$E$1</c:f>
              <c:strCache>
                <c:ptCount val="5"/>
                <c:pt idx="0">
                  <c:v>2017年</c:v>
                </c:pt>
                <c:pt idx="1">
                  <c:v>2018年</c:v>
                </c:pt>
                <c:pt idx="2">
                  <c:v>2019年</c:v>
                </c:pt>
                <c:pt idx="3">
                  <c:v>2020年</c:v>
                </c:pt>
                <c:pt idx="4">
                  <c:v>2021年</c:v>
                </c:pt>
              </c:strCache>
            </c:strRef>
          </c:cat>
          <c:val>
            <c:numRef>
              <c:f>Sheet1!$A$2:$E$2</c:f>
              <c:numCache>
                <c:formatCode>General</c:formatCode>
                <c:ptCount val="5"/>
                <c:pt idx="0">
                  <c:v>11</c:v>
                </c:pt>
                <c:pt idx="1">
                  <c:v>7</c:v>
                </c:pt>
                <c:pt idx="2">
                  <c:v>10</c:v>
                </c:pt>
                <c:pt idx="3">
                  <c:v>6</c:v>
                </c:pt>
                <c:pt idx="4">
                  <c:v>10</c:v>
                </c:pt>
              </c:numCache>
            </c:numRef>
          </c:val>
        </c:ser>
        <c:dLbls>
          <c:showVal val="1"/>
        </c:dLbls>
        <c:overlap val="-25"/>
        <c:axId val="157533312"/>
        <c:axId val="157534848"/>
      </c:barChart>
      <c:catAx>
        <c:axId val="157533312"/>
        <c:scaling>
          <c:orientation val="minMax"/>
        </c:scaling>
        <c:axPos val="b"/>
        <c:majorTickMark val="none"/>
        <c:tickLblPos val="nextTo"/>
        <c:crossAx val="157534848"/>
        <c:crosses val="autoZero"/>
        <c:auto val="1"/>
        <c:lblAlgn val="ctr"/>
        <c:lblOffset val="100"/>
      </c:catAx>
      <c:valAx>
        <c:axId val="157534848"/>
        <c:scaling>
          <c:orientation val="minMax"/>
        </c:scaling>
        <c:delete val="1"/>
        <c:axPos val="l"/>
        <c:numFmt formatCode="General" sourceLinked="1"/>
        <c:majorTickMark val="none"/>
        <c:tickLblPos val="none"/>
        <c:crossAx val="157533312"/>
        <c:crosses val="autoZero"/>
        <c:crossBetween val="between"/>
      </c:valAx>
    </c:plotArea>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zh-CN"/>
  <c:style val="8"/>
  <c:chart>
    <c:autoTitleDeleted val="1"/>
    <c:plotArea>
      <c:layout>
        <c:manualLayout>
          <c:layoutTarget val="inner"/>
          <c:xMode val="edge"/>
          <c:yMode val="edge"/>
          <c:x val="3.9571988067636649E-2"/>
          <c:y val="6.5540842764429313E-2"/>
          <c:w val="0.92259711140111933"/>
          <c:h val="0.60548234102316156"/>
        </c:manualLayout>
      </c:layout>
      <c:lineChart>
        <c:grouping val="stacked"/>
        <c:ser>
          <c:idx val="0"/>
          <c:order val="0"/>
          <c:cat>
            <c:strRef>
              <c:f>Sheet1!$A$2:$BH$2</c:f>
              <c:strCache>
                <c:ptCount val="60"/>
                <c:pt idx="0">
                  <c:v>2017年3月</c:v>
                </c:pt>
                <c:pt idx="1">
                  <c:v>2017年4月</c:v>
                </c:pt>
                <c:pt idx="2">
                  <c:v>2017年5月</c:v>
                </c:pt>
                <c:pt idx="3">
                  <c:v>2017年6月</c:v>
                </c:pt>
                <c:pt idx="4">
                  <c:v>2017年7月</c:v>
                </c:pt>
                <c:pt idx="5">
                  <c:v>2017年8月</c:v>
                </c:pt>
                <c:pt idx="6">
                  <c:v>2017年9月</c:v>
                </c:pt>
                <c:pt idx="7">
                  <c:v>2017年10月</c:v>
                </c:pt>
                <c:pt idx="8">
                  <c:v>2017年11月</c:v>
                </c:pt>
                <c:pt idx="9">
                  <c:v>2017年12月</c:v>
                </c:pt>
                <c:pt idx="10">
                  <c:v>2018年1月</c:v>
                </c:pt>
                <c:pt idx="11">
                  <c:v>2018年2月</c:v>
                </c:pt>
                <c:pt idx="12">
                  <c:v>2018年3月</c:v>
                </c:pt>
                <c:pt idx="13">
                  <c:v>2018年4月</c:v>
                </c:pt>
                <c:pt idx="14">
                  <c:v>2018年5月</c:v>
                </c:pt>
                <c:pt idx="15">
                  <c:v>2018年6月</c:v>
                </c:pt>
                <c:pt idx="16">
                  <c:v>2018年7月</c:v>
                </c:pt>
                <c:pt idx="17">
                  <c:v>2018年8月</c:v>
                </c:pt>
                <c:pt idx="18">
                  <c:v>2018年9月</c:v>
                </c:pt>
                <c:pt idx="19">
                  <c:v>2018年10月</c:v>
                </c:pt>
                <c:pt idx="20">
                  <c:v>2018年11月</c:v>
                </c:pt>
                <c:pt idx="21">
                  <c:v>2018年12月</c:v>
                </c:pt>
                <c:pt idx="22">
                  <c:v>2019年1月</c:v>
                </c:pt>
                <c:pt idx="23">
                  <c:v>2019年2月</c:v>
                </c:pt>
                <c:pt idx="24">
                  <c:v>2019年3月</c:v>
                </c:pt>
                <c:pt idx="25">
                  <c:v>2019年4月</c:v>
                </c:pt>
                <c:pt idx="26">
                  <c:v>2019年5月</c:v>
                </c:pt>
                <c:pt idx="27">
                  <c:v>2019年6月</c:v>
                </c:pt>
                <c:pt idx="28">
                  <c:v>2019年7月</c:v>
                </c:pt>
                <c:pt idx="29">
                  <c:v>2019年8月</c:v>
                </c:pt>
                <c:pt idx="30">
                  <c:v>2019年9月</c:v>
                </c:pt>
                <c:pt idx="31">
                  <c:v>2019年10月</c:v>
                </c:pt>
                <c:pt idx="32">
                  <c:v>2019年11月</c:v>
                </c:pt>
                <c:pt idx="33">
                  <c:v>2019年12月</c:v>
                </c:pt>
                <c:pt idx="34">
                  <c:v>2020年1月</c:v>
                </c:pt>
                <c:pt idx="35">
                  <c:v>2020年2月</c:v>
                </c:pt>
                <c:pt idx="36">
                  <c:v>2020年3月</c:v>
                </c:pt>
                <c:pt idx="37">
                  <c:v>2020年4月</c:v>
                </c:pt>
                <c:pt idx="38">
                  <c:v>2020年5月</c:v>
                </c:pt>
                <c:pt idx="39">
                  <c:v>2020年6月</c:v>
                </c:pt>
                <c:pt idx="40">
                  <c:v>2020年7月</c:v>
                </c:pt>
                <c:pt idx="41">
                  <c:v>2020年8月</c:v>
                </c:pt>
                <c:pt idx="42">
                  <c:v>2020年9月</c:v>
                </c:pt>
                <c:pt idx="43">
                  <c:v>2020年10月</c:v>
                </c:pt>
                <c:pt idx="44">
                  <c:v>2020年11月</c:v>
                </c:pt>
                <c:pt idx="45">
                  <c:v>2020年12月</c:v>
                </c:pt>
                <c:pt idx="46">
                  <c:v>2021年1月</c:v>
                </c:pt>
                <c:pt idx="47">
                  <c:v>2021年2月</c:v>
                </c:pt>
                <c:pt idx="48">
                  <c:v>2021年3月</c:v>
                </c:pt>
                <c:pt idx="49">
                  <c:v>2021年4月</c:v>
                </c:pt>
                <c:pt idx="50">
                  <c:v>2021年5月</c:v>
                </c:pt>
                <c:pt idx="51">
                  <c:v>2021年6月</c:v>
                </c:pt>
                <c:pt idx="52">
                  <c:v>2021年7月</c:v>
                </c:pt>
                <c:pt idx="53">
                  <c:v>2021年8月</c:v>
                </c:pt>
                <c:pt idx="54">
                  <c:v>2021年9月</c:v>
                </c:pt>
                <c:pt idx="55">
                  <c:v>2021年10月</c:v>
                </c:pt>
                <c:pt idx="56">
                  <c:v>2021年11月</c:v>
                </c:pt>
                <c:pt idx="57">
                  <c:v>2021年12月</c:v>
                </c:pt>
                <c:pt idx="58">
                  <c:v>2022年1月</c:v>
                </c:pt>
                <c:pt idx="59">
                  <c:v>2022年2月</c:v>
                </c:pt>
              </c:strCache>
            </c:strRef>
          </c:cat>
          <c:val>
            <c:numRef>
              <c:f>Sheet1!$A$3:$BH$3</c:f>
              <c:numCache>
                <c:formatCode>General</c:formatCode>
                <c:ptCount val="60"/>
                <c:pt idx="0">
                  <c:v>3</c:v>
                </c:pt>
                <c:pt idx="1">
                  <c:v>2</c:v>
                </c:pt>
                <c:pt idx="2">
                  <c:v>0</c:v>
                </c:pt>
                <c:pt idx="3">
                  <c:v>3</c:v>
                </c:pt>
                <c:pt idx="4">
                  <c:v>1</c:v>
                </c:pt>
                <c:pt idx="5">
                  <c:v>0</c:v>
                </c:pt>
                <c:pt idx="6">
                  <c:v>0</c:v>
                </c:pt>
                <c:pt idx="7">
                  <c:v>1</c:v>
                </c:pt>
                <c:pt idx="8">
                  <c:v>3</c:v>
                </c:pt>
                <c:pt idx="9">
                  <c:v>2</c:v>
                </c:pt>
                <c:pt idx="10">
                  <c:v>1</c:v>
                </c:pt>
                <c:pt idx="11">
                  <c:v>4</c:v>
                </c:pt>
                <c:pt idx="12">
                  <c:v>0</c:v>
                </c:pt>
                <c:pt idx="13">
                  <c:v>0</c:v>
                </c:pt>
                <c:pt idx="14">
                  <c:v>0</c:v>
                </c:pt>
                <c:pt idx="15">
                  <c:v>1</c:v>
                </c:pt>
                <c:pt idx="16">
                  <c:v>0</c:v>
                </c:pt>
                <c:pt idx="17">
                  <c:v>0</c:v>
                </c:pt>
                <c:pt idx="18">
                  <c:v>1</c:v>
                </c:pt>
                <c:pt idx="19">
                  <c:v>2</c:v>
                </c:pt>
                <c:pt idx="20">
                  <c:v>1</c:v>
                </c:pt>
                <c:pt idx="21">
                  <c:v>0</c:v>
                </c:pt>
                <c:pt idx="22">
                  <c:v>7</c:v>
                </c:pt>
                <c:pt idx="23">
                  <c:v>1</c:v>
                </c:pt>
                <c:pt idx="24">
                  <c:v>0</c:v>
                </c:pt>
                <c:pt idx="25">
                  <c:v>1</c:v>
                </c:pt>
                <c:pt idx="26">
                  <c:v>0</c:v>
                </c:pt>
                <c:pt idx="27">
                  <c:v>0</c:v>
                </c:pt>
                <c:pt idx="28">
                  <c:v>2</c:v>
                </c:pt>
                <c:pt idx="29">
                  <c:v>1</c:v>
                </c:pt>
                <c:pt idx="30">
                  <c:v>2</c:v>
                </c:pt>
                <c:pt idx="31">
                  <c:v>1</c:v>
                </c:pt>
                <c:pt idx="32">
                  <c:v>1</c:v>
                </c:pt>
                <c:pt idx="33">
                  <c:v>2</c:v>
                </c:pt>
                <c:pt idx="34">
                  <c:v>1</c:v>
                </c:pt>
                <c:pt idx="35">
                  <c:v>1</c:v>
                </c:pt>
                <c:pt idx="36">
                  <c:v>0</c:v>
                </c:pt>
                <c:pt idx="37">
                  <c:v>0</c:v>
                </c:pt>
                <c:pt idx="38">
                  <c:v>1</c:v>
                </c:pt>
                <c:pt idx="39">
                  <c:v>1</c:v>
                </c:pt>
                <c:pt idx="40">
                  <c:v>0</c:v>
                </c:pt>
                <c:pt idx="41">
                  <c:v>0</c:v>
                </c:pt>
                <c:pt idx="42">
                  <c:v>0</c:v>
                </c:pt>
                <c:pt idx="43">
                  <c:v>1</c:v>
                </c:pt>
                <c:pt idx="44">
                  <c:v>1</c:v>
                </c:pt>
                <c:pt idx="45">
                  <c:v>0</c:v>
                </c:pt>
                <c:pt idx="46">
                  <c:v>2</c:v>
                </c:pt>
                <c:pt idx="47">
                  <c:v>0</c:v>
                </c:pt>
                <c:pt idx="48">
                  <c:v>0</c:v>
                </c:pt>
                <c:pt idx="49">
                  <c:v>0</c:v>
                </c:pt>
                <c:pt idx="50">
                  <c:v>0</c:v>
                </c:pt>
                <c:pt idx="51">
                  <c:v>0</c:v>
                </c:pt>
                <c:pt idx="52">
                  <c:v>1</c:v>
                </c:pt>
                <c:pt idx="53">
                  <c:v>0</c:v>
                </c:pt>
                <c:pt idx="54">
                  <c:v>1</c:v>
                </c:pt>
                <c:pt idx="55">
                  <c:v>0</c:v>
                </c:pt>
                <c:pt idx="56">
                  <c:v>0</c:v>
                </c:pt>
                <c:pt idx="57">
                  <c:v>4</c:v>
                </c:pt>
                <c:pt idx="58">
                  <c:v>2</c:v>
                </c:pt>
                <c:pt idx="59">
                  <c:v>3</c:v>
                </c:pt>
              </c:numCache>
            </c:numRef>
          </c:val>
        </c:ser>
        <c:marker val="1"/>
        <c:axId val="158153344"/>
        <c:axId val="158163328"/>
      </c:lineChart>
      <c:catAx>
        <c:axId val="158153344"/>
        <c:scaling>
          <c:orientation val="minMax"/>
        </c:scaling>
        <c:axPos val="b"/>
        <c:majorTickMark val="none"/>
        <c:tickLblPos val="nextTo"/>
        <c:crossAx val="158163328"/>
        <c:crosses val="autoZero"/>
        <c:auto val="1"/>
        <c:lblAlgn val="ctr"/>
        <c:lblOffset val="100"/>
      </c:catAx>
      <c:valAx>
        <c:axId val="158163328"/>
        <c:scaling>
          <c:orientation val="minMax"/>
        </c:scaling>
        <c:axPos val="l"/>
        <c:majorGridlines/>
        <c:numFmt formatCode="General" sourceLinked="1"/>
        <c:majorTickMark val="none"/>
        <c:tickLblPos val="nextTo"/>
        <c:crossAx val="158153344"/>
        <c:crosses val="autoZero"/>
        <c:crossBetween val="between"/>
      </c:valAx>
    </c:plotArea>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lang val="zh-CN"/>
  <c:chart>
    <c:autoTitleDeleted val="1"/>
    <c:view3D>
      <c:rotX val="75"/>
      <c:perspective val="30"/>
    </c:view3D>
    <c:plotArea>
      <c:layout/>
      <c:pie3DChart>
        <c:varyColors val="1"/>
        <c:ser>
          <c:idx val="0"/>
          <c:order val="0"/>
          <c:dLbls>
            <c:dLbl>
              <c:idx val="0"/>
              <c:tx>
                <c:rich>
                  <a:bodyPr/>
                  <a:lstStyle/>
                  <a:p>
                    <a:r>
                      <a:rPr lang="zh-CN" altLang="en-US" b="1"/>
                      <a:t>襟翼位置传感器
</a:t>
                    </a:r>
                    <a:r>
                      <a:rPr lang="en-US" altLang="zh-CN" b="1"/>
                      <a:t>58%</a:t>
                    </a:r>
                    <a:endParaRPr lang="zh-CN" altLang="en-US" b="1"/>
                  </a:p>
                </c:rich>
              </c:tx>
              <c:showCatName val="1"/>
              <c:showPercent val="1"/>
            </c:dLbl>
            <c:dLbl>
              <c:idx val="1"/>
              <c:tx>
                <c:rich>
                  <a:bodyPr/>
                  <a:lstStyle/>
                  <a:p>
                    <a:r>
                      <a:rPr lang="zh-CN" altLang="en-US" b="1"/>
                      <a:t>襟翼位置指示器
</a:t>
                    </a:r>
                    <a:r>
                      <a:rPr lang="en-US" altLang="zh-CN" b="1"/>
                      <a:t>42%</a:t>
                    </a:r>
                    <a:endParaRPr lang="zh-CN" altLang="en-US" b="1"/>
                  </a:p>
                </c:rich>
              </c:tx>
              <c:showCatName val="1"/>
              <c:showPercent val="1"/>
            </c:dLbl>
            <c:showCatName val="1"/>
            <c:showPercent val="1"/>
            <c:showLeaderLines val="1"/>
          </c:dLbls>
          <c:cat>
            <c:strRef>
              <c:f>Sheet1!$A$1:$B$1</c:f>
              <c:strCache>
                <c:ptCount val="2"/>
                <c:pt idx="0">
                  <c:v>襟翼位置传感器</c:v>
                </c:pt>
                <c:pt idx="1">
                  <c:v>襟翼位置指示器</c:v>
                </c:pt>
              </c:strCache>
            </c:strRef>
          </c:cat>
          <c:val>
            <c:numRef>
              <c:f>Sheet1!$A$2:$B$2</c:f>
              <c:numCache>
                <c:formatCode>General</c:formatCode>
                <c:ptCount val="2"/>
                <c:pt idx="0">
                  <c:v>62</c:v>
                </c:pt>
                <c:pt idx="1">
                  <c:v>44</c:v>
                </c:pt>
              </c:numCache>
            </c:numRef>
          </c:val>
        </c:ser>
        <c:dLbls>
          <c:showCatName val="1"/>
          <c:showPercent val="1"/>
        </c:dLbls>
      </c:pie3DChart>
    </c:plotArea>
    <c:plotVisOnly val="1"/>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DDD66-91AC-4942-A6E5-4BB866E8D1B7}" type="datetimeFigureOut">
              <a:rPr lang="zh-CN" altLang="en-US" smtClean="0"/>
              <a:pPr/>
              <a:t>2022/3/25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D8FD0-34C5-4A18-AD3F-D0459C10590A}" type="slidenum">
              <a:rPr lang="zh-CN" altLang="en-US" smtClean="0"/>
              <a:pPr/>
              <a:t>‹#›</a:t>
            </a:fld>
            <a:endParaRPr lang="zh-CN" altLang="en-US"/>
          </a:p>
        </p:txBody>
      </p:sp>
    </p:spTree>
    <p:extLst>
      <p:ext uri="{BB962C8B-B14F-4D97-AF65-F5344CB8AC3E}">
        <p14:creationId xmlns="" xmlns:p14="http://schemas.microsoft.com/office/powerpoint/2010/main" val="3218522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14350" y="1597819"/>
            <a:ext cx="58293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p>
            <a:fld id="{84DF5964-A30F-497B-92EC-23C803A9D73F}" type="datetimeFigureOut">
              <a:rPr lang="zh-CN" altLang="en-US" smtClean="0"/>
              <a:pPr/>
              <a:t>2022/3/25</a:t>
            </a:fld>
            <a:endParaRPr lang="zh-CN" altLang="en-US" dirty="0"/>
          </a:p>
        </p:txBody>
      </p:sp>
      <p:sp>
        <p:nvSpPr>
          <p:cNvPr id="8" name="页脚占位符 7"/>
          <p:cNvSpPr>
            <a:spLocks noGrp="1"/>
          </p:cNvSpPr>
          <p:nvPr>
            <p:ph type="ftr" sz="quarter" idx="11"/>
          </p:nvPr>
        </p:nvSpPr>
        <p:spPr/>
        <p:txBody>
          <a:body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4DF5964-A30F-497B-92EC-23C803A9D73F}" type="datetimeFigureOut">
              <a:rPr lang="zh-CN" altLang="en-US" smtClean="0"/>
              <a:pPr/>
              <a:t>2022/3/25</a:t>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41735" y="3305176"/>
            <a:ext cx="58293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342900" y="1631156"/>
            <a:ext cx="303014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3483769" y="1631156"/>
            <a:ext cx="303133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42900" y="204787"/>
            <a:ext cx="2256235"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342900" y="1076326"/>
            <a:ext cx="2256235"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344216" y="3600450"/>
            <a:ext cx="41148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344216" y="4025503"/>
            <a:ext cx="41148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4DF5964-A30F-497B-92EC-23C803A9D73F}" type="datetimeFigureOut">
              <a:rPr lang="zh-CN" altLang="en-US" smtClean="0"/>
              <a:pPr/>
              <a:t>2022/3/25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72050" y="205979"/>
            <a:ext cx="154305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42900" y="205979"/>
            <a:ext cx="451485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4DF5964-A30F-497B-92EC-23C803A9D73F}" type="datetimeFigureOut">
              <a:rPr lang="zh-CN" altLang="en-US" smtClean="0"/>
              <a:pPr/>
              <a:t>2022/3/25</a:t>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a:xfrm>
            <a:off x="4914900" y="4767263"/>
            <a:ext cx="1600200" cy="273844"/>
          </a:xfrm>
          <a:prstGeom prst="rect">
            <a:avLst/>
          </a:prstGeom>
        </p:spPr>
        <p:txBody>
          <a:bodyPr/>
          <a:lstStyle/>
          <a:p>
            <a:fld id="{E821DDFF-E586-42CF-9B46-DA71C53CF424}" type="slidenum">
              <a:rPr lang="zh-CN" altLang="en-US"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7" descr="D:\Ameco\logo &amp; Templates\logo\1-图片格式 Pictures (.JPG)\辅助图形.jpg"/>
          <p:cNvPicPr>
            <a:picLocks noChangeAspect="1" noChangeArrowheads="1"/>
          </p:cNvPicPr>
          <p:nvPr userDrawn="1"/>
        </p:nvPicPr>
        <p:blipFill>
          <a:blip r:embed="rId13" cstate="print">
            <a:extLst>
              <a:ext uri="{28A0092B-C50C-407E-A947-70E740481C1C}">
                <a14:useLocalDpi xmlns:a14="http://schemas.microsoft.com/office/drawing/2010/main" xmlns="" val="0"/>
              </a:ext>
            </a:extLst>
          </a:blip>
          <a:srcRect/>
          <a:stretch>
            <a:fillRect/>
          </a:stretch>
        </p:blipFill>
        <p:spPr bwMode="auto">
          <a:xfrm>
            <a:off x="0" y="0"/>
            <a:ext cx="2984355" cy="1996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标题占位符 1"/>
          <p:cNvSpPr>
            <a:spLocks noGrp="1"/>
          </p:cNvSpPr>
          <p:nvPr>
            <p:ph type="title"/>
          </p:nvPr>
        </p:nvSpPr>
        <p:spPr>
          <a:xfrm>
            <a:off x="342900" y="205979"/>
            <a:ext cx="6172200" cy="857250"/>
          </a:xfrm>
          <a:prstGeom prst="rect">
            <a:avLst/>
          </a:prstGeom>
        </p:spPr>
        <p:txBody>
          <a:bodyPr vert="horz" lIns="68580" tIns="34290" rIns="68580" bIns="3429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342900" y="1200151"/>
            <a:ext cx="6172200" cy="3394472"/>
          </a:xfrm>
          <a:prstGeom prst="rect">
            <a:avLst/>
          </a:prstGeom>
        </p:spPr>
        <p:txBody>
          <a:bodyPr vert="horz" lIns="68580" tIns="34290" rIns="68580" bIns="3429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342900" y="4767263"/>
            <a:ext cx="16002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4DF5964-A30F-497B-92EC-23C803A9D73F}" type="datetimeFigureOut">
              <a:rPr lang="zh-CN" altLang="en-US" smtClean="0"/>
              <a:pPr/>
              <a:t>2022/3/25</a:t>
            </a:fld>
            <a:endParaRPr lang="zh-CN" altLang="en-US" dirty="0"/>
          </a:p>
        </p:txBody>
      </p:sp>
      <p:sp>
        <p:nvSpPr>
          <p:cNvPr id="5" name="页脚占位符 4"/>
          <p:cNvSpPr>
            <a:spLocks noGrp="1"/>
          </p:cNvSpPr>
          <p:nvPr>
            <p:ph type="ftr" sz="quarter" idx="3"/>
          </p:nvPr>
        </p:nvSpPr>
        <p:spPr>
          <a:xfrm>
            <a:off x="2343150" y="4767263"/>
            <a:ext cx="21717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dirty="0"/>
          </a:p>
        </p:txBody>
      </p:sp>
      <p:sp>
        <p:nvSpPr>
          <p:cNvPr id="7" name="矩形 6"/>
          <p:cNvSpPr/>
          <p:nvPr userDrawn="1"/>
        </p:nvSpPr>
        <p:spPr>
          <a:xfrm>
            <a:off x="3921345" y="4033877"/>
            <a:ext cx="581352" cy="353943"/>
          </a:xfrm>
          <a:prstGeom prst="rect">
            <a:avLst/>
          </a:prstGeom>
        </p:spPr>
        <p:txBody>
          <a:bodyPr wrap="square">
            <a:spAutoFit/>
          </a:bodyPr>
          <a:lstStyle/>
          <a:p>
            <a:pPr marL="0" marR="0" lvl="0" indent="0" defTabSz="685783"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模板下载：</a:t>
            </a:r>
            <a:r>
              <a:rPr kumimoji="0" lang="en-US" altLang="zh-CN" sz="100" b="0" i="0" u="none" strike="noStrike" kern="0" cap="none" spc="0" normalizeH="0" baseline="0" noProof="0" dirty="0" smtClean="0">
                <a:ln>
                  <a:noFill/>
                </a:ln>
                <a:solidFill>
                  <a:schemeClr val="bg1">
                    <a:lumMod val="95000"/>
                  </a:schemeClr>
                </a:solidFill>
                <a:effectLst/>
                <a:uLnTx/>
                <a:uFillTx/>
              </a:rPr>
              <a:t>www.1ppt.com/moban/     </a:t>
            </a:r>
            <a:r>
              <a:rPr kumimoji="0" lang="zh-CN" altLang="en-US" sz="100" b="0" i="0" u="none" strike="noStrike" kern="0" cap="none" spc="0" normalizeH="0" baseline="0" noProof="0" dirty="0" smtClean="0">
                <a:ln>
                  <a:noFill/>
                </a:ln>
                <a:solidFill>
                  <a:schemeClr val="bg1">
                    <a:lumMod val="95000"/>
                  </a:schemeClr>
                </a:solidFill>
                <a:effectLst/>
                <a:uLnTx/>
                <a:uFillTx/>
              </a:rPr>
              <a:t>行业</a:t>
            </a: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模板：</a:t>
            </a:r>
            <a:r>
              <a:rPr kumimoji="0" lang="en-US" altLang="zh-CN" sz="100" b="0" i="0" u="none" strike="noStrike" kern="0" cap="none" spc="0" normalizeH="0" baseline="0" noProof="0" dirty="0" smtClean="0">
                <a:ln>
                  <a:noFill/>
                </a:ln>
                <a:solidFill>
                  <a:schemeClr val="bg1">
                    <a:lumMod val="95000"/>
                  </a:schemeClr>
                </a:solidFill>
                <a:effectLst/>
                <a:uLnTx/>
                <a:uFillTx/>
              </a:rPr>
              <a:t>www.1ppt.com/hangye/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节日</a:t>
            </a: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模板：</a:t>
            </a:r>
            <a:r>
              <a:rPr kumimoji="0" lang="en-US" altLang="zh-CN" sz="100" b="0" i="0" u="none" strike="noStrike" kern="0" cap="none" spc="0" normalizeH="0" baseline="0" noProof="0" dirty="0" smtClean="0">
                <a:ln>
                  <a:noFill/>
                </a:ln>
                <a:solidFill>
                  <a:schemeClr val="bg1">
                    <a:lumMod val="95000"/>
                  </a:schemeClr>
                </a:solidFill>
                <a:effectLst/>
                <a:uLnTx/>
                <a:uFillTx/>
              </a:rPr>
              <a:t>www.1ppt.com/jieri/           PPT</a:t>
            </a:r>
            <a:r>
              <a:rPr kumimoji="0" lang="zh-CN" altLang="en-US" sz="100" b="0" i="0" u="none" strike="noStrike" kern="0" cap="none" spc="0" normalizeH="0" baseline="0" noProof="0" dirty="0" smtClean="0">
                <a:ln>
                  <a:noFill/>
                </a:ln>
                <a:solidFill>
                  <a:schemeClr val="bg1">
                    <a:lumMod val="95000"/>
                  </a:schemeClr>
                </a:solidFill>
                <a:effectLst/>
                <a:uLnTx/>
                <a:uFillTx/>
              </a:rPr>
              <a:t>素材下载：</a:t>
            </a:r>
            <a:r>
              <a:rPr kumimoji="0" lang="en-US" altLang="zh-CN" sz="100" b="0" i="0" u="none" strike="noStrike" kern="0" cap="none" spc="0" normalizeH="0" baseline="0" noProof="0" dirty="0" smtClean="0">
                <a:ln>
                  <a:noFill/>
                </a:ln>
                <a:solidFill>
                  <a:schemeClr val="bg1">
                    <a:lumMod val="95000"/>
                  </a:schemeClr>
                </a:solidFill>
                <a:effectLst/>
                <a:uLnTx/>
                <a:uFillTx/>
              </a:rPr>
              <a:t>www.1ppt.com/sucai/</a:t>
            </a:r>
          </a:p>
          <a:p>
            <a:pPr marL="0" marR="0" lvl="0" indent="0" defTabSz="685783"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背景图片：</a:t>
            </a:r>
            <a:r>
              <a:rPr kumimoji="0" lang="en-US" altLang="zh-CN" sz="100" b="0" i="0" u="none" strike="noStrike" kern="0" cap="none" spc="0" normalizeH="0" baseline="0" noProof="0" dirty="0" smtClean="0">
                <a:ln>
                  <a:noFill/>
                </a:ln>
                <a:solidFill>
                  <a:schemeClr val="bg1">
                    <a:lumMod val="95000"/>
                  </a:schemeClr>
                </a:solidFill>
                <a:effectLst/>
                <a:uLnTx/>
                <a:uFillTx/>
              </a:rPr>
              <a:t>www.1ppt.com/beijing/      PPT</a:t>
            </a:r>
            <a:r>
              <a:rPr kumimoji="0" lang="zh-CN" altLang="en-US" sz="100" b="0" i="0" u="none" strike="noStrike" kern="0" cap="none" spc="0" normalizeH="0" baseline="0" noProof="0" dirty="0" smtClean="0">
                <a:ln>
                  <a:noFill/>
                </a:ln>
                <a:solidFill>
                  <a:schemeClr val="bg1">
                    <a:lumMod val="95000"/>
                  </a:schemeClr>
                </a:solidFill>
                <a:effectLst/>
                <a:uLnTx/>
                <a:uFillTx/>
              </a:rPr>
              <a:t>图表下载：</a:t>
            </a:r>
            <a:r>
              <a:rPr kumimoji="0" lang="en-US" altLang="zh-CN" sz="100" b="0" i="0" u="none" strike="noStrike" kern="0" cap="none" spc="0" normalizeH="0" baseline="0" noProof="0" dirty="0" smtClean="0">
                <a:ln>
                  <a:noFill/>
                </a:ln>
                <a:solidFill>
                  <a:schemeClr val="bg1">
                    <a:lumMod val="95000"/>
                  </a:schemeClr>
                </a:solidFill>
                <a:effectLst/>
                <a:uLnTx/>
                <a:uFillTx/>
              </a:rPr>
              <a:t>www.1ppt.com/tubiao/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优秀</a:t>
            </a:r>
            <a:r>
              <a:rPr kumimoji="0" lang="en-US" altLang="zh-CN" sz="100" b="0" i="0" u="none" strike="noStrike" kern="0" cap="none" spc="0" normalizeH="0" baseline="0" noProof="0" dirty="0" smtClean="0">
                <a:ln>
                  <a:noFill/>
                </a:ln>
                <a:solidFill>
                  <a:schemeClr val="bg1">
                    <a:lumMod val="95000"/>
                  </a:schemeClr>
                </a:solidFill>
                <a:effectLst/>
                <a:uLnTx/>
                <a:uFillTx/>
              </a:rPr>
              <a:t>PPT</a:t>
            </a:r>
            <a:r>
              <a:rPr kumimoji="0" lang="zh-CN" altLang="en-US" sz="100" b="0" i="0" u="none" strike="noStrike" kern="0" cap="none" spc="0" normalizeH="0" baseline="0" noProof="0" dirty="0" smtClean="0">
                <a:ln>
                  <a:noFill/>
                </a:ln>
                <a:solidFill>
                  <a:schemeClr val="bg1">
                    <a:lumMod val="95000"/>
                  </a:schemeClr>
                </a:solidFill>
                <a:effectLst/>
                <a:uLnTx/>
                <a:uFillTx/>
              </a:rPr>
              <a:t>下载：</a:t>
            </a:r>
            <a:r>
              <a:rPr kumimoji="0" lang="en-US" altLang="zh-CN" sz="100" b="0" i="0" u="none" strike="noStrike" kern="0" cap="none" spc="0" normalizeH="0" baseline="0" noProof="0" dirty="0" smtClean="0">
                <a:ln>
                  <a:noFill/>
                </a:ln>
                <a:solidFill>
                  <a:schemeClr val="bg1">
                    <a:lumMod val="95000"/>
                  </a:schemeClr>
                </a:solidFill>
                <a:effectLst/>
                <a:uLnTx/>
                <a:uFillTx/>
              </a:rPr>
              <a:t>www.1ppt.com/xiazai/        PPT</a:t>
            </a:r>
            <a:r>
              <a:rPr kumimoji="0" lang="zh-CN" altLang="en-US" sz="100" b="0" i="0" u="none" strike="noStrike" kern="0" cap="none" spc="0" normalizeH="0" baseline="0" noProof="0" dirty="0" smtClean="0">
                <a:ln>
                  <a:noFill/>
                </a:ln>
                <a:solidFill>
                  <a:schemeClr val="bg1">
                    <a:lumMod val="95000"/>
                  </a:schemeClr>
                </a:solidFill>
                <a:effectLst/>
                <a:uLnTx/>
                <a:uFillTx/>
              </a:rPr>
              <a:t>教程： </a:t>
            </a:r>
            <a:r>
              <a:rPr kumimoji="0" lang="en-US" altLang="zh-CN" sz="100" b="0" i="0" u="none" strike="noStrike" kern="0" cap="none" spc="0" normalizeH="0" baseline="0" noProof="0" dirty="0" smtClean="0">
                <a:ln>
                  <a:noFill/>
                </a:ln>
                <a:solidFill>
                  <a:schemeClr val="bg1">
                    <a:lumMod val="95000"/>
                  </a:schemeClr>
                </a:solidFill>
                <a:effectLst/>
                <a:uLnTx/>
                <a:uFillTx/>
              </a:rPr>
              <a:t>www.1ppt.com/powerpoint/      </a:t>
            </a:r>
          </a:p>
          <a:p>
            <a:pPr marL="0" marR="0" lvl="0" indent="0" defTabSz="685783"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chemeClr val="bg1">
                    <a:lumMod val="95000"/>
                  </a:schemeClr>
                </a:solidFill>
                <a:effectLst/>
                <a:uLnTx/>
                <a:uFillTx/>
              </a:rPr>
              <a:t>Word</a:t>
            </a:r>
            <a:r>
              <a:rPr kumimoji="0" lang="zh-CN" altLang="en-US" sz="100" b="0" i="0" u="none" strike="noStrike" kern="0" cap="none" spc="0" normalizeH="0" baseline="0" noProof="0" dirty="0" smtClean="0">
                <a:ln>
                  <a:noFill/>
                </a:ln>
                <a:solidFill>
                  <a:schemeClr val="bg1">
                    <a:lumMod val="95000"/>
                  </a:schemeClr>
                </a:solidFill>
                <a:effectLst/>
                <a:uLnTx/>
                <a:uFillTx/>
              </a:rPr>
              <a:t>教程： </a:t>
            </a:r>
            <a:r>
              <a:rPr kumimoji="0" lang="en-US" altLang="zh-CN" sz="100" b="0" i="0" u="none" strike="noStrike" kern="0" cap="none" spc="0" normalizeH="0" baseline="0" noProof="0" dirty="0" smtClean="0">
                <a:ln>
                  <a:noFill/>
                </a:ln>
                <a:solidFill>
                  <a:schemeClr val="bg1">
                    <a:lumMod val="95000"/>
                  </a:schemeClr>
                </a:solidFill>
                <a:effectLst/>
                <a:uLnTx/>
                <a:uFillTx/>
              </a:rPr>
              <a:t>www.1ppt.com/word/              Excel</a:t>
            </a:r>
            <a:r>
              <a:rPr kumimoji="0" lang="zh-CN" altLang="en-US" sz="100" b="0" i="0" u="none" strike="noStrike" kern="0" cap="none" spc="0" normalizeH="0" baseline="0" noProof="0" dirty="0" smtClean="0">
                <a:ln>
                  <a:noFill/>
                </a:ln>
                <a:solidFill>
                  <a:schemeClr val="bg1">
                    <a:lumMod val="95000"/>
                  </a:schemeClr>
                </a:solidFill>
                <a:effectLst/>
                <a:uLnTx/>
                <a:uFillTx/>
              </a:rPr>
              <a:t>教程：</a:t>
            </a:r>
            <a:r>
              <a:rPr kumimoji="0" lang="en-US" altLang="zh-CN" sz="100" b="0" i="0" u="none" strike="noStrike" kern="0" cap="none" spc="0" normalizeH="0" baseline="0" noProof="0" dirty="0" smtClean="0">
                <a:ln>
                  <a:noFill/>
                </a:ln>
                <a:solidFill>
                  <a:schemeClr val="bg1">
                    <a:lumMod val="95000"/>
                  </a:schemeClr>
                </a:solidFill>
                <a:effectLst/>
                <a:uLnTx/>
                <a:uFillTx/>
              </a:rPr>
              <a:t>www.1ppt.com/excel/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资料下载：</a:t>
            </a:r>
            <a:r>
              <a:rPr kumimoji="0" lang="en-US" altLang="zh-CN" sz="100" b="0" i="0" u="none" strike="noStrike" kern="0" cap="none" spc="0" normalizeH="0" baseline="0" noProof="0" dirty="0" smtClean="0">
                <a:ln>
                  <a:noFill/>
                </a:ln>
                <a:solidFill>
                  <a:schemeClr val="bg1">
                    <a:lumMod val="95000"/>
                  </a:schemeClr>
                </a:solidFill>
                <a:effectLst/>
                <a:uLnTx/>
                <a:uFillTx/>
              </a:rPr>
              <a:t>www.1ppt.com/ziliao/                PPT</a:t>
            </a:r>
            <a:r>
              <a:rPr kumimoji="0" lang="zh-CN" altLang="en-US" sz="100" b="0" i="0" u="none" strike="noStrike" kern="0" cap="none" spc="0" normalizeH="0" baseline="0" noProof="0" dirty="0" smtClean="0">
                <a:ln>
                  <a:noFill/>
                </a:ln>
                <a:solidFill>
                  <a:schemeClr val="bg1">
                    <a:lumMod val="95000"/>
                  </a:schemeClr>
                </a:solidFill>
                <a:effectLst/>
                <a:uLnTx/>
                <a:uFillTx/>
              </a:rPr>
              <a:t>课件下载：</a:t>
            </a:r>
            <a:r>
              <a:rPr kumimoji="0" lang="en-US" altLang="zh-CN" sz="100" b="0" i="0" u="none" strike="noStrike" kern="0" cap="none" spc="0" normalizeH="0" baseline="0" noProof="0" dirty="0" smtClean="0">
                <a:ln>
                  <a:noFill/>
                </a:ln>
                <a:solidFill>
                  <a:schemeClr val="bg1">
                    <a:lumMod val="95000"/>
                  </a:schemeClr>
                </a:solidFill>
                <a:effectLst/>
                <a:uLnTx/>
                <a:uFillTx/>
              </a:rPr>
              <a:t>www.1ppt.com/kejian/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范文下载：</a:t>
            </a:r>
            <a:r>
              <a:rPr kumimoji="0" lang="en-US" altLang="zh-CN" sz="100" b="0" i="0" u="none" strike="noStrike" kern="0" cap="none" spc="0" normalizeH="0" baseline="0" noProof="0" dirty="0" smtClean="0">
                <a:ln>
                  <a:noFill/>
                </a:ln>
                <a:solidFill>
                  <a:schemeClr val="bg1">
                    <a:lumMod val="95000"/>
                  </a:schemeClr>
                </a:solidFill>
                <a:effectLst/>
                <a:uLnTx/>
                <a:uFillTx/>
              </a:rPr>
              <a:t>www.1ppt.com/fanwen/             </a:t>
            </a:r>
            <a:r>
              <a:rPr kumimoji="0" lang="zh-CN" altLang="en-US" sz="100" b="0" i="0" u="none" strike="noStrike" kern="0" cap="none" spc="0" normalizeH="0" baseline="0" noProof="0" dirty="0" smtClean="0">
                <a:ln>
                  <a:noFill/>
                </a:ln>
                <a:solidFill>
                  <a:schemeClr val="bg1">
                    <a:lumMod val="95000"/>
                  </a:schemeClr>
                </a:solidFill>
                <a:effectLst/>
                <a:uLnTx/>
                <a:uFillTx/>
              </a:rPr>
              <a:t>试卷下载：</a:t>
            </a:r>
            <a:r>
              <a:rPr kumimoji="0" lang="en-US" altLang="zh-CN" sz="100" b="0" i="0" u="none" strike="noStrike" kern="0" cap="none" spc="0" normalizeH="0" baseline="0" noProof="0" dirty="0" smtClean="0">
                <a:ln>
                  <a:noFill/>
                </a:ln>
                <a:solidFill>
                  <a:schemeClr val="bg1">
                    <a:lumMod val="95000"/>
                  </a:schemeClr>
                </a:solidFill>
                <a:effectLst/>
                <a:uLnTx/>
                <a:uFillTx/>
              </a:rPr>
              <a:t>www.1ppt.com/shiti/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教案下载：</a:t>
            </a:r>
            <a:r>
              <a:rPr kumimoji="0" lang="en-US" altLang="zh-CN" sz="100" b="0" i="0" u="none" strike="noStrike" kern="0" cap="none" spc="0" normalizeH="0" baseline="0" noProof="0" dirty="0" smtClean="0">
                <a:ln>
                  <a:noFill/>
                </a:ln>
                <a:solidFill>
                  <a:schemeClr val="bg1">
                    <a:lumMod val="95000"/>
                  </a:schemeClr>
                </a:solidFill>
                <a:effectLst/>
                <a:uLnTx/>
                <a:uFillTx/>
              </a:rPr>
              <a:t>www.1ppt.com/jiaoan/        </a:t>
            </a:r>
          </a:p>
          <a:p>
            <a:pPr marL="0" marR="0" lvl="0" indent="0" defTabSz="685783"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schemeClr val="bg1">
                    <a:lumMod val="95000"/>
                  </a:schemeClr>
                </a:solidFill>
                <a:effectLst/>
                <a:uLnTx/>
                <a:uFillTx/>
              </a:rPr>
              <a:t>字体下载：</a:t>
            </a:r>
            <a:r>
              <a:rPr kumimoji="0" lang="en-US" altLang="zh-CN" sz="100" b="0" i="0" u="none" strike="noStrike" kern="0" cap="none" spc="0" normalizeH="0" baseline="0" noProof="0" dirty="0" smtClean="0">
                <a:ln>
                  <a:noFill/>
                </a:ln>
                <a:solidFill>
                  <a:schemeClr val="bg1">
                    <a:lumMod val="95000"/>
                  </a:schemeClr>
                </a:solidFill>
                <a:effectLst/>
                <a:uLnTx/>
                <a:uFillTx/>
              </a:rPr>
              <a:t>www.1ppt.com/ziti/</a:t>
            </a:r>
          </a:p>
          <a:p>
            <a:pPr marL="0" marR="0" lvl="0" indent="0" defTabSz="685783"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chemeClr val="bg1">
                    <a:lumMod val="95000"/>
                  </a:schemeClr>
                </a:solidFill>
                <a:effectLst/>
                <a:uLnTx/>
                <a:uFillTx/>
              </a:rPr>
              <a:t> </a:t>
            </a:r>
            <a:endParaRPr kumimoji="0" lang="zh-CN" altLang="en-US" sz="100" b="0" i="0" u="none" strike="noStrike" kern="0" cap="none" spc="0" normalizeH="0" baseline="0" noProof="0" dirty="0" smtClean="0">
              <a:ln>
                <a:noFill/>
              </a:ln>
              <a:solidFill>
                <a:schemeClr val="bg1">
                  <a:lumMod val="95000"/>
                </a:schemeClr>
              </a:solidFill>
              <a:effectLst/>
              <a:uLnTx/>
              <a:uFillTx/>
            </a:endParaRPr>
          </a:p>
        </p:txBody>
      </p:sp>
      <p:sp>
        <p:nvSpPr>
          <p:cNvPr id="12" name="Rectangle 9"/>
          <p:cNvSpPr>
            <a:spLocks noChangeArrowheads="1"/>
          </p:cNvSpPr>
          <p:nvPr userDrawn="1"/>
        </p:nvSpPr>
        <p:spPr bwMode="auto">
          <a:xfrm>
            <a:off x="0" y="4677103"/>
            <a:ext cx="6858000" cy="466397"/>
          </a:xfrm>
          <a:prstGeom prst="rect">
            <a:avLst/>
          </a:prstGeom>
          <a:solidFill>
            <a:srgbClr val="D0CECE"/>
          </a:solidFill>
          <a:ln>
            <a:noFill/>
          </a:ln>
          <a:effec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pic>
        <p:nvPicPr>
          <p:cNvPr id="8" name="Picture 8"/>
          <p:cNvPicPr>
            <a:picLocks noChangeAspect="1"/>
          </p:cNvPicPr>
          <p:nvPr userDrawn="1"/>
        </p:nvPicPr>
        <p:blipFill>
          <a:blip r:embed="rId14" cstate="print"/>
          <a:stretch>
            <a:fillRect/>
          </a:stretch>
        </p:blipFill>
        <p:spPr>
          <a:xfrm>
            <a:off x="4898585" y="4698124"/>
            <a:ext cx="1959415" cy="445376"/>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0" y="2009689"/>
            <a:ext cx="6858000" cy="507831"/>
          </a:xfrm>
          <a:prstGeom prst="rect">
            <a:avLst/>
          </a:prstGeom>
          <a:noFill/>
        </p:spPr>
        <p:txBody>
          <a:bodyPr wrap="square" rtlCol="0">
            <a:spAutoFit/>
          </a:bodyPr>
          <a:lstStyle/>
          <a:p>
            <a:pPr algn="ctr"/>
            <a:r>
              <a:rPr lang="en-US" altLang="zh-CN" sz="2700" b="1" dirty="0">
                <a:latin typeface="微软雅黑" panose="020B0503020204020204" pitchFamily="34" charset="-122"/>
                <a:ea typeface="微软雅黑" panose="020B0503020204020204" pitchFamily="34" charset="-122"/>
              </a:rPr>
              <a:t> </a:t>
            </a:r>
            <a:r>
              <a:rPr lang="en-US" altLang="zh-CN" sz="2700" b="1" dirty="0">
                <a:latin typeface="黑体" pitchFamily="49" charset="-122"/>
                <a:ea typeface="黑体" pitchFamily="49" charset="-122"/>
              </a:rPr>
              <a:t>737NG</a:t>
            </a:r>
            <a:r>
              <a:rPr lang="zh-CN" altLang="en-US" sz="2700" b="1" dirty="0">
                <a:latin typeface="黑体" pitchFamily="49" charset="-122"/>
                <a:ea typeface="黑体" pitchFamily="49" charset="-122"/>
              </a:rPr>
              <a:t>飞机襟翼</a:t>
            </a:r>
            <a:r>
              <a:rPr lang="zh-CN" altLang="en-US" sz="2700" b="1" dirty="0" smtClean="0">
                <a:latin typeface="黑体" pitchFamily="49" charset="-122"/>
                <a:ea typeface="黑体" pitchFamily="49" charset="-122"/>
              </a:rPr>
              <a:t>不对称</a:t>
            </a:r>
            <a:endParaRPr lang="zh-CN" altLang="en-US" sz="2700" b="1" dirty="0">
              <a:latin typeface="黑体" pitchFamily="49" charset="-122"/>
              <a:ea typeface="黑体" pitchFamily="49" charset="-122"/>
            </a:endParaRPr>
          </a:p>
        </p:txBody>
      </p:sp>
      <p:sp>
        <p:nvSpPr>
          <p:cNvPr id="6" name="TextBox 5"/>
          <p:cNvSpPr txBox="1"/>
          <p:nvPr/>
        </p:nvSpPr>
        <p:spPr>
          <a:xfrm>
            <a:off x="2977115" y="2934584"/>
            <a:ext cx="1244010" cy="461665"/>
          </a:xfrm>
          <a:prstGeom prst="rect">
            <a:avLst/>
          </a:prstGeom>
          <a:noFill/>
        </p:spPr>
        <p:txBody>
          <a:bodyPr wrap="square" rtlCol="0">
            <a:spAutoFit/>
          </a:bodyPr>
          <a:lstStyle/>
          <a:p>
            <a:pPr algn="ctr"/>
            <a:r>
              <a:rPr lang="zh-CN" altLang="en-US" sz="2400" b="1" dirty="0" smtClean="0"/>
              <a:t>工程部</a:t>
            </a:r>
            <a:endParaRPr lang="zh-CN" altLang="en-US" sz="2400" b="1" dirty="0"/>
          </a:p>
        </p:txBody>
      </p:sp>
    </p:spTree>
    <p:extLst>
      <p:ext uri="{BB962C8B-B14F-4D97-AF65-F5344CB8AC3E}">
        <p14:creationId xmlns="" xmlns:p14="http://schemas.microsoft.com/office/powerpoint/2010/main" val="227446624"/>
      </p:ext>
    </p:extLst>
  </p:cSld>
  <p:clrMapOvr>
    <a:masterClrMapping/>
  </p:clrMapOvr>
  <mc:AlternateContent xmlns:mc="http://schemas.openxmlformats.org/markup-compatibility/2006">
    <mc:Choice xmlns=""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set>
                                      <p:cBhvr>
                                        <p:cTn id="7" dur="455" fill="hold">
                                          <p:stCondLst>
                                            <p:cond delay="0"/>
                                          </p:stCondLst>
                                        </p:cTn>
                                        <p:tgtEl>
                                          <p:spTgt spid="14"/>
                                        </p:tgtEl>
                                        <p:attrNameLst>
                                          <p:attrName>style.rotation</p:attrName>
                                        </p:attrNameLst>
                                      </p:cBhvr>
                                      <p:to>
                                        <p:strVal val="-45.0"/>
                                      </p:to>
                                    </p:set>
                                    <p:anim calcmode="lin" valueType="num">
                                      <p:cBhvr>
                                        <p:cTn id="8" dur="455" fill="hold">
                                          <p:stCondLst>
                                            <p:cond delay="455"/>
                                          </p:stCondLst>
                                        </p:cTn>
                                        <p:tgtEl>
                                          <p:spTgt spid="14"/>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14"/>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14"/>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14"/>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18457" y="1861459"/>
            <a:ext cx="3028950" cy="1420586"/>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dirty="0">
              <a:ea typeface="方正兰亭细黑_GBK" panose="02000000000000000000" pitchFamily="2" charset="-122"/>
            </a:endParaRPr>
          </a:p>
        </p:txBody>
      </p:sp>
      <p:sp>
        <p:nvSpPr>
          <p:cNvPr id="9" name="文本框 8"/>
          <p:cNvSpPr txBox="1"/>
          <p:nvPr/>
        </p:nvSpPr>
        <p:spPr>
          <a:xfrm>
            <a:off x="1785251" y="1131316"/>
            <a:ext cx="1722665" cy="369332"/>
          </a:xfrm>
          <a:prstGeom prst="rect">
            <a:avLst/>
          </a:prstGeom>
          <a:noFill/>
        </p:spPr>
        <p:txBody>
          <a:bodyPr wrap="square" rtlCol="0">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背景说明及相关信息</a:t>
            </a:r>
            <a:endParaRPr lang="zh-CN" altLang="en-US" sz="675"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456888" y="2436713"/>
            <a:ext cx="1722665" cy="369332"/>
          </a:xfrm>
          <a:prstGeom prst="rect">
            <a:avLst/>
          </a:prstGeom>
          <a:noFill/>
        </p:spPr>
        <p:txBody>
          <a:bodyPr wrap="square" rtlCol="0">
            <a:spAutoFit/>
          </a:bodyPr>
          <a:lstStyle/>
          <a:p>
            <a:pPr algn="just">
              <a:lnSpc>
                <a:spcPct val="150000"/>
              </a:lnSpc>
            </a:pPr>
            <a:r>
              <a:rPr lang="zh-CN" altLang="en-US" sz="1200" dirty="0" smtClean="0">
                <a:latin typeface="微软雅黑" panose="020B0503020204020204" pitchFamily="34" charset="-122"/>
                <a:ea typeface="微软雅黑" panose="020B0503020204020204" pitchFamily="34" charset="-122"/>
              </a:rPr>
              <a:t>可</a:t>
            </a:r>
            <a:r>
              <a:rPr lang="zh-CN" altLang="en-US" sz="1200" dirty="0">
                <a:latin typeface="微软雅黑" panose="020B0503020204020204" pitchFamily="34" charset="-122"/>
                <a:ea typeface="微软雅黑" panose="020B0503020204020204" pitchFamily="34" charset="-122"/>
              </a:rPr>
              <a:t>靠性数据</a:t>
            </a:r>
            <a:endParaRPr lang="en-US" altLang="zh-CN" sz="12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559854" y="3610283"/>
            <a:ext cx="1722665" cy="369332"/>
          </a:xfrm>
          <a:prstGeom prst="rect">
            <a:avLst/>
          </a:prstGeom>
          <a:noFill/>
        </p:spPr>
        <p:txBody>
          <a:bodyPr wrap="square" rtlCol="0">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rPr>
              <a:t>相关措施</a:t>
            </a:r>
            <a:endParaRPr lang="zh-CN" altLang="en-US" sz="675"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1526308" y="587942"/>
            <a:ext cx="1773670" cy="591223"/>
          </a:xfrm>
          <a:prstGeom prst="rect">
            <a:avLst/>
          </a:prstGeom>
        </p:spPr>
      </p:pic>
      <p:pic>
        <p:nvPicPr>
          <p:cNvPr id="14" name="图片 13"/>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2197944" y="1950822"/>
            <a:ext cx="1856897" cy="592054"/>
          </a:xfrm>
          <a:prstGeom prst="rect">
            <a:avLst/>
          </a:prstGeom>
        </p:spPr>
      </p:pic>
      <p:pic>
        <p:nvPicPr>
          <p:cNvPr id="15" name="图片 14"/>
          <p:cNvPicPr>
            <a:picLocks noChangeAspect="1"/>
          </p:cNvPicPr>
          <p:nvPr/>
        </p:nvPicPr>
        <p:blipFill>
          <a:blip r:embed="rId4" cstate="screen">
            <a:extLst>
              <a:ext uri="{28A0092B-C50C-407E-A947-70E740481C1C}">
                <a14:useLocalDpi xmlns="" xmlns:a14="http://schemas.microsoft.com/office/drawing/2010/main"/>
              </a:ext>
            </a:extLst>
          </a:blip>
          <a:stretch>
            <a:fillRect/>
          </a:stretch>
        </p:blipFill>
        <p:spPr>
          <a:xfrm>
            <a:off x="3249904" y="3110473"/>
            <a:ext cx="1754216" cy="557297"/>
          </a:xfrm>
          <a:prstGeom prst="rect">
            <a:avLst/>
          </a:prstGeom>
        </p:spPr>
      </p:pic>
    </p:spTree>
    <p:extLst>
      <p:ext uri="{BB962C8B-B14F-4D97-AF65-F5344CB8AC3E}">
        <p14:creationId xmlns="" xmlns:p14="http://schemas.microsoft.com/office/powerpoint/2010/main" val="2381147518"/>
      </p:ext>
    </p:extLst>
  </p:cSld>
  <p:clrMapOvr>
    <a:masterClrMapping/>
  </p:clrMapOvr>
  <mc:AlternateContent xmlns:mc="http://schemas.openxmlformats.org/markup-compatibility/2006">
    <mc:Choice xmlns=""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strVal val="4/3*#ppt_w"/>
                                          </p:val>
                                        </p:tav>
                                        <p:tav tm="100000">
                                          <p:val>
                                            <p:strVal val="#ppt_w"/>
                                          </p:val>
                                        </p:tav>
                                      </p:tavLst>
                                    </p:anim>
                                    <p:anim calcmode="lin" valueType="num">
                                      <p:cBhvr>
                                        <p:cTn id="8" dur="500" fill="hold"/>
                                        <p:tgtEl>
                                          <p:spTgt spid="13"/>
                                        </p:tgtEl>
                                        <p:attrNameLst>
                                          <p:attrName>ppt_h</p:attrName>
                                        </p:attrNameLst>
                                      </p:cBhvr>
                                      <p:tavLst>
                                        <p:tav tm="0">
                                          <p:val>
                                            <p:strVal val="4/3*#ppt_h"/>
                                          </p:val>
                                        </p:tav>
                                        <p:tav tm="100000">
                                          <p:val>
                                            <p:strVal val="#ppt_h"/>
                                          </p:val>
                                        </p:tav>
                                      </p:tavLst>
                                    </p:anim>
                                  </p:childTnLst>
                                </p:cTn>
                              </p:par>
                              <p:par>
                                <p:cTn id="9" presetID="23" presetClass="entr" presetSubtype="288" fill="hold" nodeType="withEffect">
                                  <p:stCondLst>
                                    <p:cond delay="20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strVal val="4/3*#ppt_w"/>
                                          </p:val>
                                        </p:tav>
                                        <p:tav tm="100000">
                                          <p:val>
                                            <p:strVal val="#ppt_w"/>
                                          </p:val>
                                        </p:tav>
                                      </p:tavLst>
                                    </p:anim>
                                    <p:anim calcmode="lin" valueType="num">
                                      <p:cBhvr>
                                        <p:cTn id="12" dur="500" fill="hold"/>
                                        <p:tgtEl>
                                          <p:spTgt spid="14"/>
                                        </p:tgtEl>
                                        <p:attrNameLst>
                                          <p:attrName>ppt_h</p:attrName>
                                        </p:attrNameLst>
                                      </p:cBhvr>
                                      <p:tavLst>
                                        <p:tav tm="0">
                                          <p:val>
                                            <p:strVal val="4/3*#ppt_h"/>
                                          </p:val>
                                        </p:tav>
                                        <p:tav tm="100000">
                                          <p:val>
                                            <p:strVal val="#ppt_h"/>
                                          </p:val>
                                        </p:tav>
                                      </p:tavLst>
                                    </p:anim>
                                  </p:childTnLst>
                                </p:cTn>
                              </p:par>
                              <p:par>
                                <p:cTn id="13" presetID="23" presetClass="entr" presetSubtype="288" fill="hold" nodeType="withEffect">
                                  <p:stCondLst>
                                    <p:cond delay="400"/>
                                  </p:stCondLs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strVal val="4/3*#ppt_w"/>
                                          </p:val>
                                        </p:tav>
                                        <p:tav tm="100000">
                                          <p:val>
                                            <p:strVal val="#ppt_w"/>
                                          </p:val>
                                        </p:tav>
                                      </p:tavLst>
                                    </p:anim>
                                    <p:anim calcmode="lin" valueType="num">
                                      <p:cBhvr>
                                        <p:cTn id="16" dur="500" fill="hold"/>
                                        <p:tgtEl>
                                          <p:spTgt spid="15"/>
                                        </p:tgtEl>
                                        <p:attrNameLst>
                                          <p:attrName>ppt_h</p:attrName>
                                        </p:attrNameLst>
                                      </p:cBhvr>
                                      <p:tavLst>
                                        <p:tav tm="0">
                                          <p:val>
                                            <p:strVal val="4/3*#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iterate type="lt">
                                    <p:tmPct val="10000"/>
                                  </p:iterate>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par>
                                <p:cTn id="22" presetID="16" presetClass="entr" presetSubtype="21" fill="hold" grpId="0" nodeType="withEffect">
                                  <p:stCondLst>
                                    <p:cond delay="0"/>
                                  </p:stCondLst>
                                  <p:iterate type="lt">
                                    <p:tmPct val="10000"/>
                                  </p:iterate>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par>
                                <p:cTn id="25" presetID="16" presetClass="entr" presetSubtype="21" fill="hold" grpId="0" nodeType="withEffect">
                                  <p:stCondLst>
                                    <p:cond delay="0"/>
                                  </p:stCondLst>
                                  <p:iterate type="lt">
                                    <p:tmPct val="10000"/>
                                  </p:iterate>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13609" y="1291810"/>
            <a:ext cx="2532562" cy="2047292"/>
          </a:xfrm>
          <a:prstGeom prst="rect">
            <a:avLst/>
          </a:prstGeom>
          <a:noFill/>
        </p:spPr>
        <p:txBody>
          <a:bodyPr wrap="square" rtlCol="0" anchor="ctr">
            <a:spAutoFit/>
          </a:bodyPr>
          <a:lstStyle/>
          <a:p>
            <a:pPr algn="ctr">
              <a:lnSpc>
                <a:spcPct val="150000"/>
              </a:lnSpc>
            </a:pPr>
            <a:r>
              <a:rPr lang="en-US" altLang="zh-CN" sz="9600" dirty="0">
                <a:latin typeface="微软雅黑" panose="020B0503020204020204" pitchFamily="34" charset="-122"/>
                <a:ea typeface="微软雅黑" panose="020B0503020204020204" pitchFamily="34" charset="-122"/>
              </a:rPr>
              <a:t>1</a:t>
            </a:r>
          </a:p>
        </p:txBody>
      </p:sp>
      <p:sp>
        <p:nvSpPr>
          <p:cNvPr id="12" name="文本框 11"/>
          <p:cNvSpPr txBox="1"/>
          <p:nvPr/>
        </p:nvSpPr>
        <p:spPr>
          <a:xfrm>
            <a:off x="3349082" y="1992290"/>
            <a:ext cx="3000917" cy="646331"/>
          </a:xfrm>
          <a:prstGeom prst="rect">
            <a:avLst/>
          </a:prstGeom>
          <a:noFill/>
        </p:spPr>
        <p:txBody>
          <a:bodyPr wrap="square" rtlCol="0">
            <a:spAutoFit/>
          </a:bodyPr>
          <a:lstStyle/>
          <a:p>
            <a:pPr algn="just">
              <a:lnSpc>
                <a:spcPct val="150000"/>
              </a:lnSpc>
            </a:pPr>
            <a:r>
              <a:rPr lang="zh-CN" altLang="en-US" sz="2400" dirty="0">
                <a:latin typeface="微软雅黑" panose="020B0503020204020204" pitchFamily="34" charset="-122"/>
                <a:ea typeface="微软雅黑" panose="020B0503020204020204" pitchFamily="34" charset="-122"/>
              </a:rPr>
              <a:t>背景说明及相关信息</a:t>
            </a:r>
            <a:endParaRPr lang="zh-CN" altLang="en-US" sz="8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2076910" y="2298432"/>
            <a:ext cx="852474" cy="293710"/>
          </a:xfrm>
          <a:prstGeom prst="rect">
            <a:avLst/>
          </a:prstGeom>
        </p:spPr>
      </p:pic>
    </p:spTree>
    <p:extLst>
      <p:ext uri="{BB962C8B-B14F-4D97-AF65-F5344CB8AC3E}">
        <p14:creationId xmlns="" xmlns:p14="http://schemas.microsoft.com/office/powerpoint/2010/main" val="4077610230"/>
      </p:ext>
    </p:extLst>
  </p:cSld>
  <p:clrMapOvr>
    <a:masterClrMapping/>
  </p:clrMapOvr>
  <mc:AlternateContent xmlns:mc="http://schemas.openxmlformats.org/markup-compatibility/2006">
    <mc:Choice xmlns=""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1500"/>
                                        <p:tgtEl>
                                          <p:spTgt spid="10"/>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105001" y="65201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14" name="TextBox 11"/>
          <p:cNvSpPr txBox="1"/>
          <p:nvPr/>
        </p:nvSpPr>
        <p:spPr>
          <a:xfrm>
            <a:off x="2753550" y="344242"/>
            <a:ext cx="2113003"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背景说明及相关信息</a:t>
            </a:r>
            <a:endParaRPr lang="zh-CN" altLang="en-US" sz="400" dirty="0">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1898285" y="365011"/>
            <a:ext cx="852474" cy="293710"/>
          </a:xfrm>
          <a:prstGeom prst="rect">
            <a:avLst/>
          </a:prstGeom>
        </p:spPr>
      </p:pic>
      <p:sp>
        <p:nvSpPr>
          <p:cNvPr id="55" name="TextBox 15"/>
          <p:cNvSpPr txBox="1"/>
          <p:nvPr/>
        </p:nvSpPr>
        <p:spPr>
          <a:xfrm>
            <a:off x="903242" y="1962794"/>
            <a:ext cx="399653" cy="747767"/>
          </a:xfrm>
          <a:prstGeom prst="rect">
            <a:avLst/>
          </a:prstGeom>
          <a:noFill/>
        </p:spPr>
        <p:txBody>
          <a:bodyPr wrap="none" rtlCol="0">
            <a:spAutoFit/>
          </a:bodyPr>
          <a:lstStyle/>
          <a:p>
            <a:endParaRPr lang="zh-CN" altLang="en-US" sz="900" dirty="0">
              <a:solidFill>
                <a:schemeClr val="bg1"/>
              </a:solidFill>
              <a:latin typeface="方正兰亭准黑_GBK" pitchFamily="2" charset="-122"/>
              <a:ea typeface="方正兰亭准黑_GBK" pitchFamily="2" charset="-122"/>
            </a:endParaRPr>
          </a:p>
        </p:txBody>
      </p:sp>
      <p:sp>
        <p:nvSpPr>
          <p:cNvPr id="56" name="矩形 55"/>
          <p:cNvSpPr/>
          <p:nvPr/>
        </p:nvSpPr>
        <p:spPr>
          <a:xfrm>
            <a:off x="798995" y="860733"/>
            <a:ext cx="5666665" cy="28972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ea typeface="微软雅黑" panose="020B0503020204020204" pitchFamily="34" charset="-122"/>
              </a:rPr>
              <a:t>2022</a:t>
            </a:r>
            <a:r>
              <a:rPr lang="zh-CN" altLang="en-US" sz="1200" dirty="0" smtClean="0">
                <a:ea typeface="微软雅黑" panose="020B0503020204020204" pitchFamily="34" charset="-122"/>
              </a:rPr>
              <a:t>年一季度国航</a:t>
            </a:r>
            <a:r>
              <a:rPr lang="en-US" altLang="zh-CN" sz="1200" dirty="0" smtClean="0">
                <a:ea typeface="微软雅黑" panose="020B0503020204020204" pitchFamily="34" charset="-122"/>
              </a:rPr>
              <a:t>737NG</a:t>
            </a:r>
            <a:r>
              <a:rPr lang="zh-CN" altLang="en-US" sz="1200" dirty="0" smtClean="0">
                <a:ea typeface="微软雅黑" panose="020B0503020204020204" pitchFamily="34" charset="-122"/>
              </a:rPr>
              <a:t>机队因襟翼共导致</a:t>
            </a:r>
            <a:r>
              <a:rPr lang="en-US" altLang="zh-CN" sz="2400" b="1" dirty="0" smtClean="0">
                <a:solidFill>
                  <a:srgbClr val="FF0000"/>
                </a:solidFill>
                <a:ea typeface="微软雅黑" panose="020B0503020204020204" pitchFamily="34" charset="-122"/>
              </a:rPr>
              <a:t>4</a:t>
            </a:r>
            <a:r>
              <a:rPr lang="zh-CN" altLang="en-US" sz="1200" dirty="0" smtClean="0">
                <a:ea typeface="微软雅黑" panose="020B0503020204020204" pitchFamily="34" charset="-122"/>
              </a:rPr>
              <a:t>起不正常事件。</a:t>
            </a:r>
            <a:endParaRPr lang="zh-CN" altLang="en-US" sz="1200" dirty="0">
              <a:ea typeface="微软雅黑" panose="020B0503020204020204" pitchFamily="34" charset="-122"/>
            </a:endParaRPr>
          </a:p>
        </p:txBody>
      </p:sp>
      <p:graphicFrame>
        <p:nvGraphicFramePr>
          <p:cNvPr id="58" name="表格 57"/>
          <p:cNvGraphicFramePr>
            <a:graphicFrameLocks noGrp="1"/>
          </p:cNvGraphicFramePr>
          <p:nvPr>
            <p:extLst>
              <p:ext uri="{D42A27DB-BD31-4B8C-83A1-F6EECF244321}">
                <p14:modId xmlns="" xmlns:p14="http://schemas.microsoft.com/office/powerpoint/2010/main" val="2622751758"/>
              </p:ext>
            </p:extLst>
          </p:nvPr>
        </p:nvGraphicFramePr>
        <p:xfrm>
          <a:off x="189054" y="1462874"/>
          <a:ext cx="6523903" cy="2211705"/>
        </p:xfrm>
        <a:graphic>
          <a:graphicData uri="http://schemas.openxmlformats.org/drawingml/2006/table">
            <a:tbl>
              <a:tblPr firstRow="1" bandRow="1">
                <a:tableStyleId>{9D7B26C5-4107-4FEC-AEDC-1716B250A1EF}</a:tableStyleId>
              </a:tblPr>
              <a:tblGrid>
                <a:gridCol w="419100"/>
                <a:gridCol w="288925"/>
                <a:gridCol w="389656"/>
                <a:gridCol w="632460"/>
                <a:gridCol w="2432076"/>
                <a:gridCol w="2361686"/>
              </a:tblGrid>
              <a:tr h="171449">
                <a:tc>
                  <a:txBody>
                    <a:bodyPr/>
                    <a:lstStyle/>
                    <a:p>
                      <a:pPr algn="ctr" fontAlgn="ctr"/>
                      <a:r>
                        <a:rPr lang="zh-CN" altLang="en-US" sz="800" u="none" strike="noStrike" dirty="0">
                          <a:effectLst/>
                        </a:rPr>
                        <a:t>日期</a:t>
                      </a:r>
                      <a:endParaRPr lang="zh-CN" altLang="en-US" sz="800" b="1" i="0" u="none" strike="noStrike" dirty="0">
                        <a:solidFill>
                          <a:srgbClr val="126787"/>
                        </a:solidFill>
                        <a:effectLst/>
                        <a:latin typeface="Arial Narrow" panose="020B0606020202030204" pitchFamily="34" charset="0"/>
                        <a:ea typeface="宋体" panose="02010600030101010101" pitchFamily="2" charset="-122"/>
                      </a:endParaRPr>
                    </a:p>
                  </a:txBody>
                  <a:tcPr marL="9525" marR="9525" marT="9525" marB="0" anchor="ctr"/>
                </a:tc>
                <a:tc>
                  <a:txBody>
                    <a:bodyPr/>
                    <a:lstStyle/>
                    <a:p>
                      <a:pPr algn="ctr" fontAlgn="ctr"/>
                      <a:r>
                        <a:rPr lang="zh-CN" altLang="en-US" sz="800" u="none" strike="noStrike" dirty="0">
                          <a:effectLst/>
                        </a:rPr>
                        <a:t>机号</a:t>
                      </a:r>
                      <a:endParaRPr lang="zh-CN" altLang="en-US" sz="800" b="1" i="0" u="none" strike="noStrike" dirty="0">
                        <a:solidFill>
                          <a:srgbClr val="126787"/>
                        </a:solidFill>
                        <a:effectLst/>
                        <a:latin typeface="Arial Narrow" panose="020B0606020202030204" pitchFamily="34" charset="0"/>
                        <a:ea typeface="宋体" panose="02010600030101010101" pitchFamily="2" charset="-122"/>
                      </a:endParaRPr>
                    </a:p>
                  </a:txBody>
                  <a:tcPr marL="9525" marR="9525" marT="9525" marB="0" anchor="ctr"/>
                </a:tc>
                <a:tc>
                  <a:txBody>
                    <a:bodyPr/>
                    <a:lstStyle/>
                    <a:p>
                      <a:pPr algn="ctr" fontAlgn="ctr"/>
                      <a:r>
                        <a:rPr lang="zh-CN" altLang="en-US" sz="800" u="none" strike="noStrike" dirty="0" smtClean="0">
                          <a:effectLst/>
                        </a:rPr>
                        <a:t>传感器</a:t>
                      </a:r>
                      <a:r>
                        <a:rPr lang="en-US" altLang="zh-CN" sz="800" u="none" strike="noStrike" dirty="0" smtClean="0">
                          <a:effectLst/>
                        </a:rPr>
                        <a:t>TSR/CSR</a:t>
                      </a:r>
                      <a:endParaRPr lang="zh-CN" altLang="en-US" sz="800" b="1" i="0" u="none" strike="noStrike" dirty="0">
                        <a:solidFill>
                          <a:srgbClr val="126787"/>
                        </a:solidFill>
                        <a:effectLst/>
                        <a:latin typeface="Arial Narrow" panose="020B0606020202030204" pitchFamily="34" charset="0"/>
                        <a:ea typeface="宋体" panose="02010600030101010101" pitchFamily="2" charset="-122"/>
                      </a:endParaRPr>
                    </a:p>
                  </a:txBody>
                  <a:tcPr marL="9525" marR="9525" marT="9525" marB="0" anchor="ctr"/>
                </a:tc>
                <a:tc>
                  <a:txBody>
                    <a:bodyPr/>
                    <a:lstStyle/>
                    <a:p>
                      <a:pPr algn="ctr" fontAlgn="ctr"/>
                      <a:r>
                        <a:rPr lang="zh-CN" altLang="en-US" sz="800" u="none" strike="noStrike" dirty="0">
                          <a:effectLst/>
                        </a:rPr>
                        <a:t>事件后果</a:t>
                      </a:r>
                      <a:endParaRPr lang="zh-CN" altLang="en-US" sz="800" b="1" i="0" u="none" strike="noStrike" dirty="0">
                        <a:solidFill>
                          <a:srgbClr val="126787"/>
                        </a:solidFill>
                        <a:effectLst/>
                        <a:latin typeface="Arial Narrow" panose="020B0606020202030204" pitchFamily="34" charset="0"/>
                        <a:ea typeface="宋体" panose="02010600030101010101" pitchFamily="2" charset="-122"/>
                      </a:endParaRPr>
                    </a:p>
                  </a:txBody>
                  <a:tcPr marL="9525" marR="9525" marT="9525" marB="0" anchor="ctr"/>
                </a:tc>
                <a:tc>
                  <a:txBody>
                    <a:bodyPr/>
                    <a:lstStyle/>
                    <a:p>
                      <a:pPr algn="ctr" fontAlgn="ctr"/>
                      <a:r>
                        <a:rPr lang="zh-CN" altLang="en-US" sz="800" u="none" strike="noStrike" dirty="0">
                          <a:effectLst/>
                        </a:rPr>
                        <a:t>原因描述</a:t>
                      </a:r>
                      <a:endParaRPr lang="zh-CN" altLang="en-US" sz="800" b="1" i="0" u="none" strike="noStrike" dirty="0">
                        <a:solidFill>
                          <a:srgbClr val="126787"/>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800" u="none" strike="noStrike" dirty="0">
                          <a:effectLst/>
                        </a:rPr>
                        <a:t>排故措施</a:t>
                      </a:r>
                      <a:endParaRPr lang="zh-CN" altLang="en-US" sz="800" b="1" i="0" u="none" strike="noStrike" dirty="0">
                        <a:solidFill>
                          <a:srgbClr val="126787"/>
                        </a:solidFill>
                        <a:effectLst/>
                        <a:latin typeface="宋体" panose="02010600030101010101" pitchFamily="2" charset="-122"/>
                        <a:ea typeface="宋体" panose="02010600030101010101" pitchFamily="2" charset="-122"/>
                      </a:endParaRPr>
                    </a:p>
                  </a:txBody>
                  <a:tcPr marL="9525" marR="9525" marT="9525" marB="0" anchor="ctr"/>
                </a:tc>
              </a:tr>
              <a:tr h="351064">
                <a:tc>
                  <a:txBody>
                    <a:bodyPr/>
                    <a:lstStyle/>
                    <a:p>
                      <a:pPr algn="l" fontAlgn="ctr"/>
                      <a:r>
                        <a:rPr lang="en-US" altLang="zh-CN" sz="700" u="none" strike="noStrike" dirty="0" smtClean="0">
                          <a:effectLst/>
                        </a:rPr>
                        <a:t>20220108</a:t>
                      </a:r>
                      <a:endParaRPr lang="en-US" altLang="zh-CN"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algn="l" fontAlgn="ctr"/>
                      <a:r>
                        <a:rPr lang="en-US" sz="700" u="none" strike="noStrike" dirty="0" smtClean="0">
                          <a:effectLst/>
                        </a:rPr>
                        <a:t>B5296</a:t>
                      </a:r>
                      <a:endParaRPr lang="en-US"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algn="l" fontAlgn="ctr"/>
                      <a:r>
                        <a:rPr lang="en-US" sz="700" u="none" strike="noStrike" dirty="0" smtClean="0">
                          <a:effectLst/>
                        </a:rPr>
                        <a:t>21595FH/13495FC</a:t>
                      </a:r>
                      <a:endParaRPr lang="en-US"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algn="l" fontAlgn="ctr"/>
                      <a:r>
                        <a:rPr lang="zh-CN" altLang="en-US" sz="700" u="none" strike="noStrike" dirty="0">
                          <a:effectLst/>
                        </a:rPr>
                        <a:t>中止进近</a:t>
                      </a:r>
                      <a:r>
                        <a:rPr lang="en-US" altLang="zh-CN" sz="700" u="none" strike="noStrike" dirty="0">
                          <a:effectLst/>
                        </a:rPr>
                        <a:t>/</a:t>
                      </a:r>
                      <a:r>
                        <a:rPr lang="zh-CN" altLang="en-US" sz="700" u="none" strike="noStrike" dirty="0" smtClean="0">
                          <a:effectLst/>
                        </a:rPr>
                        <a:t>延误</a:t>
                      </a:r>
                      <a:endParaRPr lang="en-US" altLang="zh-CN"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algn="l" fontAlgn="ctr"/>
                      <a:r>
                        <a:rPr lang="zh-CN" altLang="en-US" sz="700" u="none" strike="noStrike" dirty="0" smtClean="0">
                          <a:effectLst/>
                        </a:rPr>
                        <a:t>飞机执行</a:t>
                      </a:r>
                      <a:r>
                        <a:rPr lang="en-US" altLang="zh-CN" sz="700" u="none" strike="noStrike" dirty="0" smtClean="0">
                          <a:effectLst/>
                        </a:rPr>
                        <a:t>CA1594</a:t>
                      </a:r>
                      <a:r>
                        <a:rPr lang="zh-CN" altLang="en-US" sz="700" u="none" strike="noStrike" dirty="0" smtClean="0">
                          <a:effectLst/>
                        </a:rPr>
                        <a:t>（烟台</a:t>
                      </a:r>
                      <a:r>
                        <a:rPr lang="en-US" altLang="zh-CN" sz="700" u="none" strike="noStrike" dirty="0" smtClean="0">
                          <a:effectLst/>
                        </a:rPr>
                        <a:t>-</a:t>
                      </a:r>
                      <a:r>
                        <a:rPr lang="zh-CN" altLang="en-US" sz="700" u="none" strike="noStrike" dirty="0" smtClean="0">
                          <a:effectLst/>
                        </a:rPr>
                        <a:t>北京）航班，进近过程中，机组放襟翼</a:t>
                      </a:r>
                      <a:r>
                        <a:rPr lang="en-US" altLang="zh-CN" sz="700" u="none" strike="noStrike" dirty="0" smtClean="0">
                          <a:effectLst/>
                        </a:rPr>
                        <a:t>30</a:t>
                      </a:r>
                      <a:r>
                        <a:rPr lang="zh-CN" altLang="en-US" sz="700" u="none" strike="noStrike" dirty="0" smtClean="0">
                          <a:effectLst/>
                        </a:rPr>
                        <a:t>后，襟翼卡阻在</a:t>
                      </a:r>
                      <a:r>
                        <a:rPr lang="en-US" altLang="zh-CN" sz="700" u="none" strike="noStrike" dirty="0" smtClean="0">
                          <a:effectLst/>
                        </a:rPr>
                        <a:t>25</a:t>
                      </a:r>
                      <a:r>
                        <a:rPr lang="zh-CN" altLang="en-US" sz="700" u="none" strike="noStrike" dirty="0" smtClean="0">
                          <a:effectLst/>
                        </a:rPr>
                        <a:t>，机组中止进近，执行检查单，保持当前襟翼位置安全落地。</a:t>
                      </a:r>
                      <a:endParaRPr lang="zh-CN" altLang="en-US"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marL="0" marR="0" indent="0" algn="l" defTabSz="685800" rtl="0" eaLnBrk="1" fontAlgn="ctr" latinLnBrk="0" hangingPunct="1">
                        <a:lnSpc>
                          <a:spcPct val="100000"/>
                        </a:lnSpc>
                        <a:spcBef>
                          <a:spcPts val="0"/>
                        </a:spcBef>
                        <a:spcAft>
                          <a:spcPts val="0"/>
                        </a:spcAft>
                        <a:buClrTx/>
                        <a:buSzTx/>
                        <a:buFontTx/>
                        <a:buNone/>
                        <a:tabLst/>
                        <a:defRPr/>
                      </a:pPr>
                      <a:r>
                        <a:rPr lang="zh-CN" altLang="en-US" sz="700" u="none" strike="noStrike" dirty="0" smtClean="0">
                          <a:effectLst/>
                        </a:rPr>
                        <a:t>飞机落地后，</a:t>
                      </a:r>
                      <a:r>
                        <a:rPr lang="en-US" altLang="zh-CN" sz="700" u="none" strike="noStrike" dirty="0" smtClean="0">
                          <a:effectLst/>
                        </a:rPr>
                        <a:t>FSEU</a:t>
                      </a:r>
                      <a:r>
                        <a:rPr lang="zh-CN" altLang="en-US" sz="700" u="none" strike="noStrike" dirty="0" smtClean="0">
                          <a:effectLst/>
                        </a:rPr>
                        <a:t>自检有右后襟翼位置传感器信息。检查后缘襟翼驱动及作动部件，没有发现机械损伤；依据</a:t>
                      </a:r>
                      <a:r>
                        <a:rPr lang="en-US" altLang="zh-CN" sz="700" u="none" strike="noStrike" dirty="0" smtClean="0">
                          <a:effectLst/>
                        </a:rPr>
                        <a:t>FIM 27-51 TASK 820</a:t>
                      </a:r>
                      <a:r>
                        <a:rPr lang="zh-CN" altLang="en-US" sz="700" u="none" strike="noStrike" dirty="0" smtClean="0">
                          <a:effectLst/>
                        </a:rPr>
                        <a:t>，更换右侧后缘襟翼位置传感器</a:t>
                      </a:r>
                      <a:r>
                        <a:rPr lang="zh-CN" altLang="en-US" sz="700" u="none" strike="noStrike" kern="1200" dirty="0" smtClean="0">
                          <a:effectLst/>
                        </a:rPr>
                        <a:t>（</a:t>
                      </a:r>
                      <a:r>
                        <a:rPr lang="en-US" altLang="zh-CN" sz="700" u="none" strike="noStrike" kern="1200" dirty="0" smtClean="0">
                          <a:effectLst/>
                        </a:rPr>
                        <a:t>PN:18-1738-12</a:t>
                      </a:r>
                      <a:r>
                        <a:rPr lang="zh-CN" altLang="en-US" sz="700" u="none" strike="noStrike" kern="1200" dirty="0" smtClean="0">
                          <a:effectLst/>
                        </a:rPr>
                        <a:t>）</a:t>
                      </a:r>
                      <a:r>
                        <a:rPr lang="zh-CN" altLang="en-US" sz="700" u="none" strike="noStrike" dirty="0" smtClean="0">
                          <a:effectLst/>
                        </a:rPr>
                        <a:t>，测试正常。</a:t>
                      </a:r>
                      <a:endParaRPr lang="zh-CN" altLang="en-US"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r>
              <a:tr h="351064">
                <a:tc>
                  <a:txBody>
                    <a:bodyPr/>
                    <a:lstStyle/>
                    <a:p>
                      <a:pPr marL="0" algn="l" defTabSz="685800" rtl="0" eaLnBrk="1" fontAlgn="ctr" latinLnBrk="0" hangingPunct="1"/>
                      <a:r>
                        <a:rPr lang="en-US" altLang="zh-CN" sz="700" u="none" strike="noStrike" kern="1200" dirty="0" smtClean="0">
                          <a:effectLst/>
                        </a:rPr>
                        <a:t>20220119</a:t>
                      </a:r>
                      <a:endParaRPr lang="en-US" altLang="zh-CN"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marL="0" algn="l" defTabSz="685800" rtl="0" eaLnBrk="1" fontAlgn="ctr" latinLnBrk="0" hangingPunct="1"/>
                      <a:r>
                        <a:rPr lang="en-US" sz="700" u="none" strike="noStrike" kern="1200" dirty="0" smtClean="0">
                          <a:effectLst/>
                        </a:rPr>
                        <a:t>B5850</a:t>
                      </a:r>
                      <a:endParaRPr 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marL="0" algn="l" defTabSz="685800" rtl="0" eaLnBrk="1" fontAlgn="ctr" latinLnBrk="0" hangingPunct="1"/>
                      <a:r>
                        <a:rPr lang="en-US" sz="700" u="none" strike="noStrike" kern="1200" dirty="0" smtClean="0">
                          <a:solidFill>
                            <a:srgbClr val="FFC000"/>
                          </a:solidFill>
                          <a:effectLst/>
                        </a:rPr>
                        <a:t>N/A</a:t>
                      </a:r>
                      <a:endParaRPr lang="en-US" sz="700" b="0" i="0" u="none" strike="noStrike" kern="1200" dirty="0">
                        <a:solidFill>
                          <a:srgbClr val="FFC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algn="l" fontAlgn="ctr"/>
                      <a:r>
                        <a:rPr lang="zh-CN" altLang="en-US" sz="700" u="none" strike="noStrike" dirty="0" smtClean="0">
                          <a:effectLst/>
                        </a:rPr>
                        <a:t>中止进近</a:t>
                      </a:r>
                      <a:r>
                        <a:rPr lang="en-US" altLang="zh-CN" sz="700" u="none" strike="noStrike" dirty="0" smtClean="0">
                          <a:effectLst/>
                        </a:rPr>
                        <a:t>/</a:t>
                      </a:r>
                      <a:r>
                        <a:rPr lang="zh-CN" altLang="en-US" sz="700" u="none" strike="noStrike" dirty="0" smtClean="0">
                          <a:effectLst/>
                        </a:rPr>
                        <a:t>延误</a:t>
                      </a:r>
                      <a:endParaRPr lang="en-US" altLang="zh-CN"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lumMod val="85000"/>
                      </a:schemeClr>
                    </a:solidFill>
                  </a:tcPr>
                </a:tc>
                <a:tc>
                  <a:txBody>
                    <a:bodyPr/>
                    <a:lstStyle/>
                    <a:p>
                      <a:pPr marL="0" algn="l" defTabSz="685800" rtl="0" eaLnBrk="1" fontAlgn="ctr" latinLnBrk="0" hangingPunct="1"/>
                      <a:r>
                        <a:rPr lang="zh-CN" altLang="en-US" sz="700" u="none" strike="noStrike" kern="1200" dirty="0" smtClean="0">
                          <a:effectLst/>
                        </a:rPr>
                        <a:t>佳木斯过站，机组反映进近过程约</a:t>
                      </a:r>
                      <a:r>
                        <a:rPr lang="en-US" altLang="zh-CN" sz="700" u="none" strike="noStrike" kern="1200" dirty="0" smtClean="0">
                          <a:effectLst/>
                        </a:rPr>
                        <a:t>2500FT</a:t>
                      </a:r>
                      <a:r>
                        <a:rPr lang="zh-CN" altLang="en-US" sz="700" u="none" strike="noStrike" kern="1200" dirty="0" smtClean="0">
                          <a:effectLst/>
                        </a:rPr>
                        <a:t>时，襟翼在</a:t>
                      </a:r>
                      <a:r>
                        <a:rPr lang="en-US" altLang="zh-CN" sz="700" u="none" strike="noStrike" kern="1200" dirty="0" smtClean="0">
                          <a:effectLst/>
                        </a:rPr>
                        <a:t>25</a:t>
                      </a:r>
                      <a:r>
                        <a:rPr lang="zh-CN" altLang="en-US" sz="700" u="none" strike="noStrike" kern="1200" dirty="0" smtClean="0">
                          <a:effectLst/>
                        </a:rPr>
                        <a:t>至</a:t>
                      </a:r>
                      <a:r>
                        <a:rPr lang="en-US" altLang="zh-CN" sz="700" u="none" strike="noStrike" kern="1200" dirty="0" smtClean="0">
                          <a:effectLst/>
                        </a:rPr>
                        <a:t>30</a:t>
                      </a:r>
                      <a:r>
                        <a:rPr lang="zh-CN" altLang="en-US" sz="700" u="none" strike="noStrike" kern="1200" dirty="0" smtClean="0">
                          <a:effectLst/>
                        </a:rPr>
                        <a:t>位置之间出现不对称，机组中止进近。</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marL="0" algn="l" defTabSz="685800" rtl="0" eaLnBrk="1" fontAlgn="ctr" latinLnBrk="0" hangingPunct="1"/>
                      <a:r>
                        <a:rPr lang="zh-CN" altLang="en-US" sz="700" u="none" strike="noStrike" kern="1200" dirty="0" smtClean="0">
                          <a:effectLst/>
                        </a:rPr>
                        <a:t>飞机落地后，依据</a:t>
                      </a:r>
                      <a:r>
                        <a:rPr lang="en-US" altLang="zh-CN" sz="700" u="none" strike="noStrike" kern="1200" dirty="0" smtClean="0">
                          <a:effectLst/>
                        </a:rPr>
                        <a:t>AMM27-51-00</a:t>
                      </a:r>
                      <a:r>
                        <a:rPr lang="zh-CN" altLang="en-US" sz="700" u="none" strike="noStrike" kern="1200" dirty="0" smtClean="0">
                          <a:effectLst/>
                        </a:rPr>
                        <a:t>测试</a:t>
                      </a:r>
                      <a:r>
                        <a:rPr lang="en-US" altLang="zh-CN" sz="700" u="none" strike="noStrike" kern="1200" dirty="0" smtClean="0">
                          <a:effectLst/>
                        </a:rPr>
                        <a:t>FSEU</a:t>
                      </a:r>
                      <a:r>
                        <a:rPr lang="zh-CN" altLang="en-US" sz="700" u="none" strike="noStrike" kern="1200" dirty="0" smtClean="0">
                          <a:effectLst/>
                        </a:rPr>
                        <a:t>无故障代码，目视检查收放机构无损伤，多次收放测试均正常，飞机放行。航后依据</a:t>
                      </a:r>
                      <a:r>
                        <a:rPr lang="en-US" altLang="zh-CN" sz="700" u="none" strike="noStrike" kern="1200" dirty="0" smtClean="0">
                          <a:effectLst/>
                        </a:rPr>
                        <a:t>AMM27-58-02</a:t>
                      </a:r>
                      <a:r>
                        <a:rPr lang="zh-CN" altLang="en-US" sz="700" u="none" strike="noStrike" kern="1200" dirty="0" smtClean="0">
                          <a:effectLst/>
                        </a:rPr>
                        <a:t>更换襟翼位置指示表（</a:t>
                      </a:r>
                      <a:r>
                        <a:rPr lang="en-US" altLang="zh-CN" sz="700" u="none" strike="noStrike" kern="1200" dirty="0" smtClean="0">
                          <a:effectLst/>
                        </a:rPr>
                        <a:t>PN:2061-15-1</a:t>
                      </a:r>
                      <a:r>
                        <a:rPr lang="zh-CN" altLang="en-US" sz="700" u="none" strike="noStrike" kern="1200" dirty="0" smtClean="0">
                          <a:effectLst/>
                        </a:rPr>
                        <a:t>），依据</a:t>
                      </a:r>
                      <a:r>
                        <a:rPr lang="en-US" altLang="zh-CN" sz="700" u="none" strike="noStrike" kern="1200" dirty="0" smtClean="0">
                          <a:effectLst/>
                        </a:rPr>
                        <a:t>AMM27-58-01</a:t>
                      </a:r>
                      <a:r>
                        <a:rPr lang="zh-CN" altLang="en-US" sz="700" u="none" strike="noStrike" kern="1200" dirty="0" smtClean="0">
                          <a:effectLst/>
                        </a:rPr>
                        <a:t>更换右侧襟翼位置传感器（</a:t>
                      </a:r>
                      <a:r>
                        <a:rPr lang="en-US" altLang="zh-CN" sz="700" u="none" strike="noStrike" kern="1200" dirty="0" smtClean="0">
                          <a:effectLst/>
                        </a:rPr>
                        <a:t>PN:18-1738-12</a:t>
                      </a:r>
                      <a:r>
                        <a:rPr lang="zh-CN" altLang="en-US" sz="700" u="none" strike="noStrike" kern="1200" dirty="0" smtClean="0">
                          <a:effectLst/>
                        </a:rPr>
                        <a:t>），测试正常。</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r>
              <a:tr h="351064">
                <a:tc>
                  <a:txBody>
                    <a:bodyPr/>
                    <a:lstStyle/>
                    <a:p>
                      <a:pPr marL="0" algn="l" defTabSz="685800" rtl="0" eaLnBrk="1" fontAlgn="ctr" latinLnBrk="0" hangingPunct="1"/>
                      <a:r>
                        <a:rPr lang="en-US" altLang="zh-CN" sz="700" u="none" strike="noStrike" kern="1200" dirty="0" smtClean="0">
                          <a:effectLst/>
                        </a:rPr>
                        <a:t>20220205</a:t>
                      </a:r>
                      <a:endParaRPr lang="en-US" altLang="zh-CN"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solidFill>
                  </a:tcPr>
                </a:tc>
                <a:tc>
                  <a:txBody>
                    <a:bodyPr/>
                    <a:lstStyle/>
                    <a:p>
                      <a:pPr marL="0" algn="l" defTabSz="685800" rtl="0" eaLnBrk="1" fontAlgn="ctr" latinLnBrk="0" hangingPunct="1"/>
                      <a:r>
                        <a:rPr lang="en-US" sz="700" u="none" strike="noStrike" kern="1200" dirty="0" smtClean="0">
                          <a:effectLst/>
                        </a:rPr>
                        <a:t>B5211</a:t>
                      </a:r>
                      <a:endParaRPr 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solidFill>
                  </a:tcPr>
                </a:tc>
                <a:tc>
                  <a:txBody>
                    <a:bodyPr/>
                    <a:lstStyle/>
                    <a:p>
                      <a:pPr marL="0" algn="l" defTabSz="685800" rtl="0" eaLnBrk="1" fontAlgn="ctr" latinLnBrk="0" hangingPunct="1"/>
                      <a:r>
                        <a:rPr lang="en-US" sz="700" u="none" strike="noStrike" kern="1200" dirty="0" smtClean="0">
                          <a:effectLst/>
                        </a:rPr>
                        <a:t>15627FH/8832FC</a:t>
                      </a:r>
                      <a:endParaRPr 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solidFill>
                  </a:tcPr>
                </a:tc>
                <a:tc>
                  <a:txBody>
                    <a:bodyPr/>
                    <a:lstStyle/>
                    <a:p>
                      <a:pPr algn="l" fontAlgn="ctr"/>
                      <a:r>
                        <a:rPr lang="zh-CN" altLang="en-US" sz="700" u="none" strike="noStrike" dirty="0" smtClean="0">
                          <a:effectLst/>
                        </a:rPr>
                        <a:t>中止进近</a:t>
                      </a:r>
                      <a:r>
                        <a:rPr lang="en-US" altLang="zh-CN" sz="700" u="none" strike="noStrike" dirty="0" smtClean="0">
                          <a:effectLst/>
                        </a:rPr>
                        <a:t>/</a:t>
                      </a:r>
                      <a:r>
                        <a:rPr lang="zh-CN" altLang="en-US" sz="700" u="none" strike="noStrike" dirty="0" smtClean="0">
                          <a:effectLst/>
                        </a:rPr>
                        <a:t>延误</a:t>
                      </a:r>
                      <a:endParaRPr lang="en-US" altLang="zh-CN"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solidFill>
                  </a:tcPr>
                </a:tc>
                <a:tc>
                  <a:txBody>
                    <a:bodyPr/>
                    <a:lstStyle/>
                    <a:p>
                      <a:pPr marL="0" algn="l" defTabSz="685800" rtl="0" eaLnBrk="1" fontAlgn="ctr" latinLnBrk="0" hangingPunct="1"/>
                      <a:r>
                        <a:rPr lang="zh-CN" altLang="en-US" sz="700" u="none" strike="noStrike" kern="1200" dirty="0" smtClean="0">
                          <a:effectLst/>
                        </a:rPr>
                        <a:t>飞机执行</a:t>
                      </a:r>
                      <a:r>
                        <a:rPr lang="en-US" altLang="zh-CN" sz="700" u="none" strike="noStrike" kern="1200" dirty="0" smtClean="0">
                          <a:effectLst/>
                        </a:rPr>
                        <a:t>CA1488</a:t>
                      </a:r>
                      <a:r>
                        <a:rPr lang="zh-CN" altLang="en-US" sz="700" u="none" strike="noStrike" kern="1200" dirty="0" smtClean="0">
                          <a:effectLst/>
                        </a:rPr>
                        <a:t>（达州</a:t>
                      </a:r>
                      <a:r>
                        <a:rPr lang="en-US" altLang="zh-CN" sz="700" u="none" strike="noStrike" kern="1200" dirty="0" smtClean="0">
                          <a:effectLst/>
                        </a:rPr>
                        <a:t>-</a:t>
                      </a:r>
                      <a:r>
                        <a:rPr lang="zh-CN" altLang="en-US" sz="700" u="none" strike="noStrike" kern="1200" dirty="0" smtClean="0">
                          <a:effectLst/>
                        </a:rPr>
                        <a:t>北京）航班，</a:t>
                      </a:r>
                      <a:r>
                        <a:rPr lang="en-US" altLang="zh-CN" sz="700" u="none" strike="noStrike" kern="1200" dirty="0" smtClean="0">
                          <a:effectLst/>
                        </a:rPr>
                        <a:t>01</a:t>
                      </a:r>
                      <a:r>
                        <a:rPr lang="zh-CN" altLang="en-US" sz="700" u="none" strike="noStrike" kern="1200" dirty="0" smtClean="0">
                          <a:effectLst/>
                        </a:rPr>
                        <a:t>号跑道</a:t>
                      </a:r>
                      <a:r>
                        <a:rPr lang="en-US" altLang="zh-CN" sz="700" u="none" strike="noStrike" kern="1200" dirty="0" smtClean="0">
                          <a:effectLst/>
                        </a:rPr>
                        <a:t>ILS</a:t>
                      </a:r>
                      <a:r>
                        <a:rPr lang="zh-CN" altLang="en-US" sz="700" u="none" strike="noStrike" kern="1200" dirty="0" smtClean="0">
                          <a:effectLst/>
                        </a:rPr>
                        <a:t>进近，机组放襟翼</a:t>
                      </a:r>
                      <a:r>
                        <a:rPr lang="en-US" altLang="zh-CN" sz="700" u="none" strike="noStrike" kern="1200" dirty="0" smtClean="0">
                          <a:effectLst/>
                        </a:rPr>
                        <a:t>1</a:t>
                      </a:r>
                      <a:r>
                        <a:rPr lang="zh-CN" altLang="en-US" sz="700" u="none" strike="noStrike" kern="1200" dirty="0" smtClean="0">
                          <a:effectLst/>
                        </a:rPr>
                        <a:t>时前缘襟翼过渡灯亮，出现襟</a:t>
                      </a:r>
                      <a:r>
                        <a:rPr lang="zh-CN" altLang="en-US" sz="700" u="none" strike="noStrike" kern="1200" dirty="0" smtClean="0">
                          <a:effectLst/>
                        </a:rPr>
                        <a:t>翼不对称，</a:t>
                      </a:r>
                      <a:r>
                        <a:rPr lang="zh-CN" altLang="en-US" sz="700" u="none" strike="noStrike" kern="1200" dirty="0" smtClean="0">
                          <a:effectLst/>
                        </a:rPr>
                        <a:t>机组中止进近，执行检查单，备用放襟翼</a:t>
                      </a:r>
                      <a:r>
                        <a:rPr lang="en-US" altLang="zh-CN" sz="700" u="none" strike="noStrike" kern="1200" dirty="0" smtClean="0">
                          <a:effectLst/>
                        </a:rPr>
                        <a:t>15</a:t>
                      </a:r>
                      <a:r>
                        <a:rPr lang="zh-CN" altLang="en-US" sz="700" u="none" strike="noStrike" kern="1200" dirty="0" smtClean="0">
                          <a:effectLst/>
                        </a:rPr>
                        <a:t>安全落地。</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solidFill>
                  </a:tcPr>
                </a:tc>
                <a:tc>
                  <a:txBody>
                    <a:bodyPr/>
                    <a:lstStyle/>
                    <a:p>
                      <a:pPr marL="0" algn="l" defTabSz="685800" rtl="0" eaLnBrk="1" fontAlgn="ctr" latinLnBrk="0" hangingPunct="1"/>
                      <a:r>
                        <a:rPr lang="zh-CN" altLang="en-US" sz="700" u="none" strike="noStrike" kern="1200" dirty="0" smtClean="0">
                          <a:effectLst/>
                        </a:rPr>
                        <a:t>飞机落地后，地面读取</a:t>
                      </a:r>
                      <a:r>
                        <a:rPr lang="en-US" altLang="zh-CN" sz="700" u="none" strike="noStrike" kern="1200" dirty="0" smtClean="0">
                          <a:effectLst/>
                        </a:rPr>
                        <a:t>FSEU</a:t>
                      </a:r>
                      <a:r>
                        <a:rPr lang="zh-CN" altLang="en-US" sz="700" u="none" strike="noStrike" kern="1200" dirty="0" smtClean="0">
                          <a:effectLst/>
                        </a:rPr>
                        <a:t>有（</a:t>
                      </a:r>
                      <a:r>
                        <a:rPr lang="en-US" altLang="zh-CN" sz="700" u="none" strike="noStrike" kern="1200" dirty="0" smtClean="0">
                          <a:effectLst/>
                        </a:rPr>
                        <a:t>TE FLAP SNSR L</a:t>
                      </a:r>
                      <a:r>
                        <a:rPr lang="zh-CN" altLang="en-US" sz="700" u="none" strike="noStrike" kern="1200" dirty="0" smtClean="0">
                          <a:effectLst/>
                        </a:rPr>
                        <a:t>）故障信息，根据</a:t>
                      </a:r>
                      <a:r>
                        <a:rPr lang="en-US" altLang="zh-CN" sz="700" u="none" strike="noStrike" kern="1200" dirty="0" smtClean="0">
                          <a:effectLst/>
                        </a:rPr>
                        <a:t>AMM27-58-01</a:t>
                      </a:r>
                      <a:r>
                        <a:rPr lang="zh-CN" altLang="en-US" sz="700" u="none" strike="noStrike" kern="1200" dirty="0" smtClean="0">
                          <a:effectLst/>
                        </a:rPr>
                        <a:t>更换左侧后缘襟翼位置传感器（</a:t>
                      </a:r>
                      <a:r>
                        <a:rPr lang="en-US" altLang="zh-CN" sz="700" u="none" strike="noStrike" kern="1200" dirty="0" smtClean="0">
                          <a:effectLst/>
                        </a:rPr>
                        <a:t>PN:18-1738-12</a:t>
                      </a:r>
                      <a:r>
                        <a:rPr lang="zh-CN" altLang="en-US" sz="700" u="none" strike="noStrike" kern="1200" dirty="0" smtClean="0">
                          <a:effectLst/>
                        </a:rPr>
                        <a:t>），根据</a:t>
                      </a:r>
                      <a:r>
                        <a:rPr lang="en-US" altLang="zh-CN" sz="700" u="none" strike="noStrike" kern="1200" dirty="0" smtClean="0">
                          <a:effectLst/>
                        </a:rPr>
                        <a:t>AMM27-58-02</a:t>
                      </a:r>
                      <a:r>
                        <a:rPr lang="zh-CN" altLang="en-US" sz="700" u="none" strike="noStrike" kern="1200" dirty="0" smtClean="0">
                          <a:effectLst/>
                        </a:rPr>
                        <a:t>更换襟翼位置指位表（</a:t>
                      </a:r>
                      <a:r>
                        <a:rPr lang="en-US" altLang="zh-CN" sz="700" u="none" strike="noStrike" kern="1200" dirty="0" smtClean="0">
                          <a:effectLst/>
                        </a:rPr>
                        <a:t>PN:2061-15-1</a:t>
                      </a:r>
                      <a:r>
                        <a:rPr lang="zh-CN" altLang="en-US" sz="700" u="none" strike="noStrike" kern="1200" dirty="0" smtClean="0">
                          <a:effectLst/>
                        </a:rPr>
                        <a:t>），测试正常，放行飞机。</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solidFill>
                  </a:tcPr>
                </a:tc>
              </a:tr>
              <a:tr h="351064">
                <a:tc>
                  <a:txBody>
                    <a:bodyPr/>
                    <a:lstStyle/>
                    <a:p>
                      <a:pPr algn="l" fontAlgn="ctr"/>
                      <a:r>
                        <a:rPr lang="en-US" altLang="zh-CN" sz="700" u="none" strike="noStrike" kern="1200" dirty="0" smtClean="0">
                          <a:effectLst/>
                        </a:rPr>
                        <a:t>20220217</a:t>
                      </a:r>
                      <a:endParaRPr lang="en-US" altLang="zh-CN"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algn="l" fontAlgn="ctr"/>
                      <a:r>
                        <a:rPr lang="en-US" sz="700" u="none" strike="noStrike" kern="1200" dirty="0" smtClean="0">
                          <a:effectLst/>
                        </a:rPr>
                        <a:t>B1978</a:t>
                      </a:r>
                      <a:endParaRPr lang="en-US" sz="700" b="1"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algn="l" fontAlgn="ctr"/>
                      <a:r>
                        <a:rPr lang="en-US" sz="700" u="none" strike="noStrike" kern="1200" dirty="0" smtClean="0">
                          <a:effectLst/>
                        </a:rPr>
                        <a:t>18197FH/10633FC</a:t>
                      </a:r>
                      <a:endParaRPr lang="en-US" sz="700" b="1"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algn="l" fontAlgn="ctr"/>
                      <a:r>
                        <a:rPr lang="zh-CN" altLang="en-US" sz="700" u="none" strike="noStrike" dirty="0" smtClean="0">
                          <a:effectLst/>
                        </a:rPr>
                        <a:t>中止进近</a:t>
                      </a:r>
                      <a:r>
                        <a:rPr lang="en-US" altLang="zh-CN" sz="700" u="none" strike="noStrike" dirty="0" smtClean="0">
                          <a:effectLst/>
                        </a:rPr>
                        <a:t>/</a:t>
                      </a:r>
                      <a:r>
                        <a:rPr lang="zh-CN" altLang="en-US" sz="700" u="none" strike="noStrike" dirty="0" smtClean="0">
                          <a:effectLst/>
                        </a:rPr>
                        <a:t>延误</a:t>
                      </a:r>
                      <a:endParaRPr lang="en-US" altLang="zh-CN" sz="7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solidFill>
                      <a:schemeClr val="bg1">
                        <a:lumMod val="85000"/>
                      </a:schemeClr>
                    </a:solidFill>
                  </a:tcPr>
                </a:tc>
                <a:tc>
                  <a:txBody>
                    <a:bodyPr/>
                    <a:lstStyle/>
                    <a:p>
                      <a:pPr algn="l" fontAlgn="ctr"/>
                      <a:r>
                        <a:rPr lang="zh-CN" altLang="en-US" sz="700" u="none" strike="noStrike" kern="1200" dirty="0" smtClean="0">
                          <a:effectLst/>
                        </a:rPr>
                        <a:t>北京首都过站，机组反映在北京</a:t>
                      </a:r>
                      <a:r>
                        <a:rPr lang="en-US" altLang="zh-CN" sz="700" u="none" strike="noStrike" kern="1200" dirty="0" smtClean="0">
                          <a:effectLst/>
                        </a:rPr>
                        <a:t>01</a:t>
                      </a:r>
                      <a:r>
                        <a:rPr lang="zh-CN" altLang="en-US" sz="700" u="none" strike="noStrike" kern="1200" dirty="0" smtClean="0">
                          <a:effectLst/>
                        </a:rPr>
                        <a:t>号跑道</a:t>
                      </a:r>
                      <a:r>
                        <a:rPr lang="en-US" altLang="zh-CN" sz="700" u="none" strike="noStrike" kern="1200" dirty="0" smtClean="0">
                          <a:effectLst/>
                        </a:rPr>
                        <a:t>ILS</a:t>
                      </a:r>
                      <a:r>
                        <a:rPr lang="zh-CN" altLang="en-US" sz="700" u="none" strike="noStrike" kern="1200" dirty="0" smtClean="0">
                          <a:effectLst/>
                        </a:rPr>
                        <a:t>进近过程中，放襟翼</a:t>
                      </a:r>
                      <a:r>
                        <a:rPr lang="en-US" altLang="zh-CN" sz="700" u="none" strike="noStrike" kern="1200" dirty="0" smtClean="0">
                          <a:effectLst/>
                        </a:rPr>
                        <a:t>1</a:t>
                      </a:r>
                      <a:r>
                        <a:rPr lang="zh-CN" altLang="en-US" sz="700" u="none" strike="noStrike" kern="1200" dirty="0" smtClean="0">
                          <a:effectLst/>
                        </a:rPr>
                        <a:t>至</a:t>
                      </a:r>
                      <a:r>
                        <a:rPr lang="en-US" altLang="zh-CN" sz="700" u="none" strike="noStrike" kern="1200" dirty="0" smtClean="0">
                          <a:effectLst/>
                        </a:rPr>
                        <a:t>5</a:t>
                      </a:r>
                      <a:r>
                        <a:rPr lang="zh-CN" altLang="en-US" sz="700" u="none" strike="noStrike" kern="1200" dirty="0" smtClean="0">
                          <a:effectLst/>
                        </a:rPr>
                        <a:t>时，出现后缘襟</a:t>
                      </a:r>
                      <a:r>
                        <a:rPr lang="zh-CN" altLang="en-US" sz="700" u="none" strike="noStrike" kern="1200" dirty="0" smtClean="0">
                          <a:effectLst/>
                        </a:rPr>
                        <a:t>翼不对称，</a:t>
                      </a:r>
                      <a:r>
                        <a:rPr lang="zh-CN" altLang="en-US" sz="700" u="none" strike="noStrike" kern="1200" dirty="0" smtClean="0">
                          <a:effectLst/>
                        </a:rPr>
                        <a:t>襟翼指位表指示未移动且无其他异常指示，机组中止进近，执行后缘襟</a:t>
                      </a:r>
                      <a:r>
                        <a:rPr lang="zh-CN" altLang="en-US" sz="700" u="none" strike="noStrike" kern="1200" dirty="0" smtClean="0">
                          <a:effectLst/>
                        </a:rPr>
                        <a:t>翼不对称检</a:t>
                      </a:r>
                      <a:r>
                        <a:rPr lang="zh-CN" altLang="en-US" sz="700" u="none" strike="noStrike" kern="1200" dirty="0" smtClean="0">
                          <a:effectLst/>
                        </a:rPr>
                        <a:t>查单，备用放襟翼</a:t>
                      </a:r>
                      <a:r>
                        <a:rPr lang="en-US" altLang="zh-CN" sz="700" u="none" strike="noStrike" kern="1200" dirty="0" smtClean="0">
                          <a:effectLst/>
                        </a:rPr>
                        <a:t>15</a:t>
                      </a:r>
                      <a:r>
                        <a:rPr lang="zh-CN" altLang="en-US" sz="700" u="none" strike="noStrike" kern="1200" dirty="0" smtClean="0">
                          <a:effectLst/>
                        </a:rPr>
                        <a:t>安全落地。后续航班换</a:t>
                      </a:r>
                      <a:r>
                        <a:rPr lang="en-US" altLang="zh-CN" sz="700" u="none" strike="noStrike" kern="1200" dirty="0" smtClean="0">
                          <a:effectLst/>
                        </a:rPr>
                        <a:t>B-5326</a:t>
                      </a:r>
                      <a:r>
                        <a:rPr lang="zh-CN" altLang="en-US" sz="700" u="none" strike="noStrike" kern="1200" dirty="0" smtClean="0">
                          <a:effectLst/>
                        </a:rPr>
                        <a:t>执行。</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c>
                  <a:txBody>
                    <a:bodyPr/>
                    <a:lstStyle/>
                    <a:p>
                      <a:pPr algn="l" fontAlgn="ctr"/>
                      <a:r>
                        <a:rPr lang="en-US" altLang="zh-CN" sz="700" u="none" strike="noStrike" kern="1200" dirty="0" smtClean="0">
                          <a:effectLst/>
                        </a:rPr>
                        <a:t>B-1978</a:t>
                      </a:r>
                      <a:r>
                        <a:rPr lang="zh-CN" altLang="en-US" sz="700" u="none" strike="noStrike" kern="1200" dirty="0" smtClean="0">
                          <a:effectLst/>
                        </a:rPr>
                        <a:t>排故，测试</a:t>
                      </a:r>
                      <a:r>
                        <a:rPr lang="en-US" altLang="zh-CN" sz="700" u="none" strike="noStrike" kern="1200" dirty="0" smtClean="0">
                          <a:effectLst/>
                        </a:rPr>
                        <a:t>FSEU</a:t>
                      </a:r>
                      <a:r>
                        <a:rPr lang="zh-CN" altLang="en-US" sz="700" u="none" strike="noStrike" kern="1200" dirty="0" smtClean="0">
                          <a:effectLst/>
                        </a:rPr>
                        <a:t>有</a:t>
                      </a:r>
                      <a:r>
                        <a:rPr lang="en-US" altLang="zh-CN" sz="700" u="none" strike="noStrike" kern="1200" dirty="0" smtClean="0">
                          <a:effectLst/>
                        </a:rPr>
                        <a:t>27-52260</a:t>
                      </a:r>
                      <a:r>
                        <a:rPr lang="zh-CN" altLang="en-US" sz="700" u="none" strike="noStrike" kern="1200" dirty="0" smtClean="0">
                          <a:effectLst/>
                        </a:rPr>
                        <a:t>代码，</a:t>
                      </a:r>
                      <a:r>
                        <a:rPr lang="en-US" altLang="zh-CN" sz="700" u="none" strike="noStrike" kern="1200" dirty="0" smtClean="0">
                          <a:effectLst/>
                        </a:rPr>
                        <a:t>TE FLAP SNSR</a:t>
                      </a:r>
                      <a:r>
                        <a:rPr lang="zh-CN" altLang="en-US" sz="700" u="none" strike="noStrike" kern="1200" dirty="0" smtClean="0">
                          <a:effectLst/>
                        </a:rPr>
                        <a:t>信息。根据</a:t>
                      </a:r>
                      <a:r>
                        <a:rPr lang="en-US" altLang="zh-CN" sz="700" u="none" strike="noStrike" kern="1200" dirty="0" smtClean="0">
                          <a:effectLst/>
                        </a:rPr>
                        <a:t>FIM</a:t>
                      </a:r>
                      <a:r>
                        <a:rPr lang="zh-CN" altLang="en-US" sz="700" u="none" strike="noStrike" kern="1200" dirty="0" smtClean="0">
                          <a:effectLst/>
                        </a:rPr>
                        <a:t>量线，测量右后缘指示表线圈正常，测量线路未见异常，根据</a:t>
                      </a:r>
                      <a:r>
                        <a:rPr lang="en-US" altLang="zh-CN" sz="700" u="none" strike="noStrike" kern="1200" dirty="0" smtClean="0">
                          <a:effectLst/>
                        </a:rPr>
                        <a:t>AMM 27-58-01</a:t>
                      </a:r>
                      <a:r>
                        <a:rPr lang="zh-CN" altLang="en-US" sz="700" u="none" strike="noStrike" kern="1200" dirty="0" smtClean="0">
                          <a:effectLst/>
                        </a:rPr>
                        <a:t>更换右大翼襟翼位置传感器（</a:t>
                      </a:r>
                      <a:r>
                        <a:rPr lang="en-US" altLang="zh-CN" sz="700" u="none" strike="noStrike" kern="1200" dirty="0" smtClean="0">
                          <a:effectLst/>
                        </a:rPr>
                        <a:t>PN:18-1738-12</a:t>
                      </a:r>
                      <a:r>
                        <a:rPr lang="zh-CN" altLang="en-US" sz="700" u="none" strike="noStrike" kern="1200" dirty="0" smtClean="0">
                          <a:effectLst/>
                        </a:rPr>
                        <a:t>），测试正常。润滑右后缘襟翼传动机构，测试襟翼工作正常指示正常。</a:t>
                      </a:r>
                      <a:endParaRPr lang="zh-CN" altLang="en-US" sz="700" b="0" i="0" u="none" strike="noStrike" kern="1200" dirty="0">
                        <a:solidFill>
                          <a:srgbClr val="000000"/>
                        </a:solidFill>
                        <a:effectLst/>
                        <a:latin typeface="宋体" panose="02010600030101010101" pitchFamily="2" charset="-122"/>
                        <a:ea typeface="宋体" panose="02010600030101010101" pitchFamily="2" charset="-122"/>
                        <a:cs typeface="+mn-cs"/>
                      </a:endParaRPr>
                    </a:p>
                  </a:txBody>
                  <a:tcPr marL="9525" marR="9525" marT="9525" marB="0" anchor="ctr">
                    <a:solidFill>
                      <a:schemeClr val="bg1">
                        <a:lumMod val="85000"/>
                      </a:schemeClr>
                    </a:solidFill>
                  </a:tcPr>
                </a:tc>
              </a:tr>
            </a:tbl>
          </a:graphicData>
        </a:graphic>
      </p:graphicFrame>
      <p:grpSp>
        <p:nvGrpSpPr>
          <p:cNvPr id="5" name="组合 4"/>
          <p:cNvGrpSpPr/>
          <p:nvPr/>
        </p:nvGrpSpPr>
        <p:grpSpPr>
          <a:xfrm>
            <a:off x="615244" y="385009"/>
            <a:ext cx="432093" cy="41085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59" name="任意多边形 83"/>
          <p:cNvSpPr/>
          <p:nvPr/>
        </p:nvSpPr>
        <p:spPr bwMode="auto">
          <a:xfrm rot="16200000">
            <a:off x="355486" y="4173086"/>
            <a:ext cx="712883" cy="293153"/>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vert="eaVert"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r>
              <a:rPr lang="zh-CN" altLang="en-US" sz="900" b="1" kern="0" dirty="0" smtClean="0">
                <a:latin typeface="微软雅黑" panose="020B0503020204020204" pitchFamily="34" charset="-122"/>
                <a:ea typeface="微软雅黑" panose="020B0503020204020204" pitchFamily="34" charset="-122"/>
              </a:rPr>
              <a:t>相关信息</a:t>
            </a:r>
            <a:endParaRPr lang="zh-CN" altLang="en-US" sz="900" b="1" kern="0" dirty="0">
              <a:latin typeface="微软雅黑" panose="020B0503020204020204" pitchFamily="34" charset="-122"/>
              <a:ea typeface="微软雅黑" panose="020B0503020204020204" pitchFamily="34" charset="-122"/>
            </a:endParaRPr>
          </a:p>
        </p:txBody>
      </p:sp>
      <p:sp>
        <p:nvSpPr>
          <p:cNvPr id="60" name="文本框 59"/>
          <p:cNvSpPr txBox="1"/>
          <p:nvPr/>
        </p:nvSpPr>
        <p:spPr>
          <a:xfrm>
            <a:off x="866724" y="3963221"/>
            <a:ext cx="5598936" cy="877163"/>
          </a:xfrm>
          <a:prstGeom prst="rect">
            <a:avLst/>
          </a:prstGeom>
          <a:noFill/>
        </p:spPr>
        <p:txBody>
          <a:bodyPr wrap="square" rtlCol="0">
            <a:spAutoFit/>
          </a:bodyPr>
          <a:lstStyle/>
          <a:p>
            <a:pPr>
              <a:lnSpc>
                <a:spcPct val="150000"/>
              </a:lnSpc>
            </a:pPr>
            <a:r>
              <a:rPr lang="zh-CN" altLang="zh-CN" sz="800" dirty="0"/>
              <a:t>国航</a:t>
            </a:r>
            <a:r>
              <a:rPr lang="en-US" altLang="zh-CN" sz="800" dirty="0"/>
              <a:t>737NG</a:t>
            </a:r>
            <a:r>
              <a:rPr lang="zh-CN" altLang="zh-CN" sz="800" dirty="0"/>
              <a:t>机队运营状况：截止</a:t>
            </a:r>
            <a:r>
              <a:rPr lang="en-US" altLang="zh-CN" sz="800" dirty="0" smtClean="0"/>
              <a:t>2022-3</a:t>
            </a:r>
            <a:r>
              <a:rPr lang="zh-CN" altLang="zh-CN" sz="800" dirty="0" smtClean="0"/>
              <a:t>，</a:t>
            </a:r>
            <a:r>
              <a:rPr lang="zh-CN" altLang="zh-CN" sz="800" dirty="0"/>
              <a:t>国航</a:t>
            </a:r>
            <a:r>
              <a:rPr lang="en-US" altLang="zh-CN" sz="800" dirty="0"/>
              <a:t>737NG</a:t>
            </a:r>
            <a:r>
              <a:rPr lang="zh-CN" altLang="zh-CN" sz="800" dirty="0"/>
              <a:t>机队运营飞机总数为</a:t>
            </a:r>
            <a:r>
              <a:rPr lang="en-US" altLang="zh-CN" sz="1000" b="1" dirty="0" smtClean="0"/>
              <a:t>141</a:t>
            </a:r>
            <a:r>
              <a:rPr lang="zh-CN" altLang="zh-CN" sz="1000" b="1" dirty="0" smtClean="0"/>
              <a:t>架</a:t>
            </a:r>
            <a:r>
              <a:rPr lang="zh-CN" altLang="zh-CN" sz="800" dirty="0" smtClean="0"/>
              <a:t>。</a:t>
            </a:r>
          </a:p>
          <a:p>
            <a:pPr>
              <a:lnSpc>
                <a:spcPct val="150000"/>
              </a:lnSpc>
            </a:pPr>
            <a:r>
              <a:rPr lang="zh-CN" altLang="zh-CN" sz="800" dirty="0" smtClean="0"/>
              <a:t>襟翼位置指示器：</a:t>
            </a:r>
            <a:r>
              <a:rPr lang="en-US" altLang="zh-CN" sz="800" dirty="0" smtClean="0"/>
              <a:t>P/N 2061-15-1</a:t>
            </a:r>
            <a:r>
              <a:rPr lang="zh-CN" altLang="zh-CN" sz="800" dirty="0" smtClean="0"/>
              <a:t>（</a:t>
            </a:r>
            <a:r>
              <a:rPr lang="en-US" altLang="zh-CN" sz="800" dirty="0" smtClean="0"/>
              <a:t>CMM 27-50-04</a:t>
            </a:r>
            <a:r>
              <a:rPr lang="zh-CN" altLang="zh-CN" sz="800" dirty="0" smtClean="0"/>
              <a:t>），每架飞机装机数量（</a:t>
            </a:r>
            <a:r>
              <a:rPr lang="en-US" altLang="zh-CN" sz="800" dirty="0" smtClean="0"/>
              <a:t>QPA</a:t>
            </a:r>
            <a:r>
              <a:rPr lang="zh-CN" altLang="zh-CN" sz="800" dirty="0" smtClean="0"/>
              <a:t>）</a:t>
            </a:r>
            <a:r>
              <a:rPr lang="en-US" altLang="zh-CN" sz="800" dirty="0" smtClean="0"/>
              <a:t>:1</a:t>
            </a:r>
            <a:r>
              <a:rPr lang="zh-CN" altLang="zh-CN" sz="800" dirty="0" smtClean="0"/>
              <a:t>个。</a:t>
            </a:r>
          </a:p>
          <a:p>
            <a:pPr>
              <a:lnSpc>
                <a:spcPct val="150000"/>
              </a:lnSpc>
            </a:pPr>
            <a:r>
              <a:rPr lang="zh-CN" altLang="zh-CN" sz="800" dirty="0" smtClean="0"/>
              <a:t>襟翼位置传感器：</a:t>
            </a:r>
            <a:r>
              <a:rPr lang="en-US" altLang="zh-CN" sz="800" dirty="0" smtClean="0"/>
              <a:t>P/N 18-1738-12 /-10</a:t>
            </a:r>
            <a:r>
              <a:rPr lang="zh-CN" altLang="zh-CN" sz="800" dirty="0" smtClean="0"/>
              <a:t>（</a:t>
            </a:r>
            <a:r>
              <a:rPr lang="en-US" altLang="zh-CN" sz="800" dirty="0" smtClean="0"/>
              <a:t>CMM 27-58-09</a:t>
            </a:r>
            <a:r>
              <a:rPr lang="zh-CN" altLang="zh-CN" sz="800" dirty="0" smtClean="0"/>
              <a:t>），每架飞机装机数量（</a:t>
            </a:r>
            <a:r>
              <a:rPr lang="en-US" altLang="zh-CN" sz="800" dirty="0" smtClean="0"/>
              <a:t>QPA</a:t>
            </a:r>
            <a:r>
              <a:rPr lang="zh-CN" altLang="zh-CN" sz="800" dirty="0" smtClean="0"/>
              <a:t>）</a:t>
            </a:r>
            <a:r>
              <a:rPr lang="en-US" altLang="zh-CN" sz="800" dirty="0" smtClean="0"/>
              <a:t>:2</a:t>
            </a:r>
            <a:r>
              <a:rPr lang="zh-CN" altLang="zh-CN" sz="800" dirty="0" smtClean="0"/>
              <a:t>个。</a:t>
            </a:r>
            <a:endParaRPr lang="en-US" altLang="zh-CN" sz="800" dirty="0" smtClean="0"/>
          </a:p>
          <a:p>
            <a:pPr>
              <a:lnSpc>
                <a:spcPct val="150000"/>
              </a:lnSpc>
            </a:pPr>
            <a:endParaRPr lang="zh-CN" altLang="zh-CN" sz="800" dirty="0"/>
          </a:p>
        </p:txBody>
      </p:sp>
    </p:spTree>
    <p:extLst>
      <p:ext uri="{BB962C8B-B14F-4D97-AF65-F5344CB8AC3E}">
        <p14:creationId xmlns="" xmlns:p14="http://schemas.microsoft.com/office/powerpoint/2010/main" val="134208288"/>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fade">
                                      <p:cBhvr>
                                        <p:cTn id="26" dur="1000"/>
                                        <p:tgtEl>
                                          <p:spTgt spid="56"/>
                                        </p:tgtEl>
                                      </p:cBhvr>
                                    </p:animEffect>
                                    <p:anim calcmode="lin" valueType="num">
                                      <p:cBhvr>
                                        <p:cTn id="27" dur="1000" fill="hold"/>
                                        <p:tgtEl>
                                          <p:spTgt spid="56"/>
                                        </p:tgtEl>
                                        <p:attrNameLst>
                                          <p:attrName>ppt_x</p:attrName>
                                        </p:attrNameLst>
                                      </p:cBhvr>
                                      <p:tavLst>
                                        <p:tav tm="0">
                                          <p:val>
                                            <p:strVal val="#ppt_x"/>
                                          </p:val>
                                        </p:tav>
                                        <p:tav tm="100000">
                                          <p:val>
                                            <p:strVal val="#ppt_x"/>
                                          </p:val>
                                        </p:tav>
                                      </p:tavLst>
                                    </p:anim>
                                    <p:anim calcmode="lin" valueType="num">
                                      <p:cBhvr>
                                        <p:cTn id="28"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56" grpId="0" animBg="1"/>
      <p:bldP spid="59" grpId="0" animBg="1"/>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5244" y="385009"/>
            <a:ext cx="432093" cy="41085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5201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14" name="TextBox 11"/>
          <p:cNvSpPr txBox="1"/>
          <p:nvPr/>
        </p:nvSpPr>
        <p:spPr>
          <a:xfrm>
            <a:off x="2753550" y="344242"/>
            <a:ext cx="2113003"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背景说明及相关信息</a:t>
            </a:r>
            <a:endParaRPr lang="zh-CN" altLang="en-US" sz="400" dirty="0">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898285" y="365011"/>
            <a:ext cx="852474" cy="293710"/>
          </a:xfrm>
          <a:prstGeom prst="rect">
            <a:avLst/>
          </a:prstGeom>
        </p:spPr>
      </p:pic>
      <p:grpSp>
        <p:nvGrpSpPr>
          <p:cNvPr id="43" name="组合 42"/>
          <p:cNvGrpSpPr/>
          <p:nvPr/>
        </p:nvGrpSpPr>
        <p:grpSpPr>
          <a:xfrm>
            <a:off x="378666" y="928914"/>
            <a:ext cx="2024878" cy="488986"/>
            <a:chOff x="1129034" y="49188"/>
            <a:chExt cx="2086178" cy="1099937"/>
          </a:xfrm>
        </p:grpSpPr>
        <p:sp>
          <p:nvSpPr>
            <p:cNvPr id="44" name="任意多边形 43"/>
            <p:cNvSpPr/>
            <p:nvPr/>
          </p:nvSpPr>
          <p:spPr>
            <a:xfrm>
              <a:off x="1129034" y="49188"/>
              <a:ext cx="1570758"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45" name="TextBox 11"/>
            <p:cNvSpPr txBox="1"/>
            <p:nvPr/>
          </p:nvSpPr>
          <p:spPr>
            <a:xfrm>
              <a:off x="1246124" y="100261"/>
              <a:ext cx="1969088" cy="1048864"/>
            </a:xfrm>
            <a:prstGeom prst="rect">
              <a:avLst/>
            </a:prstGeom>
            <a:noFill/>
          </p:spPr>
          <p:txBody>
            <a:bodyPr wrap="square" rtlCol="0">
              <a:spAutoFit/>
            </a:bodyPr>
            <a:lstStyle/>
            <a:p>
              <a:r>
                <a:rPr lang="zh-CN" altLang="en-US" sz="1215" b="1" dirty="0">
                  <a:solidFill>
                    <a:schemeClr val="bg1"/>
                  </a:solidFill>
                  <a:latin typeface="方正粗倩简体" panose="03000509000000000000" pitchFamily="65" charset="-122"/>
                  <a:ea typeface="方正粗倩简体" panose="03000509000000000000" pitchFamily="65" charset="-122"/>
                </a:rPr>
                <a:t>后缘襟翼系统</a:t>
              </a:r>
              <a:r>
                <a:rPr lang="zh-CN" altLang="en-US" sz="1215" b="1" dirty="0" smtClean="0">
                  <a:solidFill>
                    <a:schemeClr val="bg1"/>
                  </a:solidFill>
                  <a:latin typeface="方正粗倩简体" panose="03000509000000000000" pitchFamily="65" charset="-122"/>
                  <a:ea typeface="方正粗倩简体" panose="03000509000000000000" pitchFamily="65" charset="-122"/>
                </a:rPr>
                <a:t>原理</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grpSp>
        <p:nvGrpSpPr>
          <p:cNvPr id="18" name="组合 17"/>
          <p:cNvGrpSpPr/>
          <p:nvPr/>
        </p:nvGrpSpPr>
        <p:grpSpPr>
          <a:xfrm>
            <a:off x="3076575" y="1067936"/>
            <a:ext cx="3781425" cy="2965403"/>
            <a:chOff x="2440788" y="874929"/>
            <a:chExt cx="3781425" cy="2965403"/>
          </a:xfrm>
        </p:grpSpPr>
        <p:grpSp>
          <p:nvGrpSpPr>
            <p:cNvPr id="13" name="组合 12"/>
            <p:cNvGrpSpPr/>
            <p:nvPr/>
          </p:nvGrpSpPr>
          <p:grpSpPr>
            <a:xfrm>
              <a:off x="2440788" y="874929"/>
              <a:ext cx="3781425" cy="2965403"/>
              <a:chOff x="2440788" y="874929"/>
              <a:chExt cx="3781425" cy="2965403"/>
            </a:xfrm>
          </p:grpSpPr>
          <p:pic>
            <p:nvPicPr>
              <p:cNvPr id="46" name="图片 45"/>
              <p:cNvPicPr/>
              <p:nvPr/>
            </p:nvPicPr>
            <p:blipFill rotWithShape="1">
              <a:blip r:embed="rId4" cstate="print">
                <a:extLst>
                  <a:ext uri="{28A0092B-C50C-407E-A947-70E740481C1C}">
                    <a14:useLocalDpi xmlns="" xmlns:a14="http://schemas.microsoft.com/office/drawing/2010/main" val="0"/>
                  </a:ext>
                </a:extLst>
              </a:blip>
              <a:srcRect l="2865" r="3959" b="8659"/>
              <a:stretch/>
            </p:blipFill>
            <p:spPr bwMode="auto">
              <a:xfrm>
                <a:off x="2440788" y="874929"/>
                <a:ext cx="3781425" cy="2914631"/>
              </a:xfrm>
              <a:prstGeom prst="rect">
                <a:avLst/>
              </a:prstGeom>
              <a:noFill/>
              <a:ln>
                <a:noFill/>
              </a:ln>
              <a:extLst>
                <a:ext uri="{53640926-AAD7-44D8-BBD7-CCE9431645EC}">
                  <a14:shadowObscured xmlns="" xmlns:a14="http://schemas.microsoft.com/office/drawing/2010/main"/>
                </a:ext>
              </a:extLst>
            </p:spPr>
          </p:pic>
          <p:sp>
            <p:nvSpPr>
              <p:cNvPr id="3" name="矩形 2"/>
              <p:cNvSpPr/>
              <p:nvPr/>
            </p:nvSpPr>
            <p:spPr>
              <a:xfrm>
                <a:off x="3578577" y="2528713"/>
                <a:ext cx="1202267" cy="6999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188178" y="3279421"/>
                <a:ext cx="751503" cy="5609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866553" y="2878668"/>
                <a:ext cx="732736" cy="2765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5599289" y="1761067"/>
              <a:ext cx="564444" cy="3386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矩形 52"/>
          <p:cNvSpPr/>
          <p:nvPr/>
        </p:nvSpPr>
        <p:spPr>
          <a:xfrm>
            <a:off x="183785" y="1431168"/>
            <a:ext cx="2892790" cy="2469907"/>
          </a:xfrm>
          <a:prstGeom prst="rect">
            <a:avLst/>
          </a:prstGeom>
        </p:spPr>
        <p:txBody>
          <a:bodyPr wrap="square">
            <a:spAutoFit/>
          </a:bodyPr>
          <a:lstStyle/>
          <a:p>
            <a:pPr marL="228600" lvl="0" indent="-228600">
              <a:lnSpc>
                <a:spcPct val="150000"/>
              </a:lnSpc>
              <a:buFont typeface="+mj-lt"/>
              <a:buAutoNum type="alphaLcPeriod"/>
            </a:pPr>
            <a:r>
              <a:rPr lang="zh-CN" altLang="zh-CN" sz="800" kern="100" dirty="0" smtClean="0">
                <a:latin typeface="Times New Roman" panose="02020603050405020304" pitchFamily="18" charset="0"/>
                <a:cs typeface="Times New Roman" panose="02020603050405020304" pitchFamily="18" charset="0"/>
              </a:rPr>
              <a:t>后缘</a:t>
            </a:r>
            <a:r>
              <a:rPr lang="zh-CN" altLang="zh-CN" sz="800" kern="100" dirty="0">
                <a:latin typeface="Times New Roman" panose="02020603050405020304" pitchFamily="18" charset="0"/>
                <a:cs typeface="Times New Roman" panose="02020603050405020304" pitchFamily="18" charset="0"/>
              </a:rPr>
              <a:t>襟翼作用：增加机翼面积和机翼中弧线弯度以帮助提高飞机起飞或着陆时的性能</a:t>
            </a:r>
            <a:r>
              <a:rPr lang="zh-CN" altLang="zh-CN" sz="800" kern="100" dirty="0" smtClean="0">
                <a:latin typeface="Times New Roman" panose="02020603050405020304" pitchFamily="18" charset="0"/>
                <a:cs typeface="Times New Roman" panose="02020603050405020304" pitchFamily="18" charset="0"/>
              </a:rPr>
              <a:t>。</a:t>
            </a:r>
            <a:endParaRPr lang="en-US" altLang="zh-CN" sz="800" kern="100" dirty="0" smtClean="0">
              <a:latin typeface="Times New Roman" panose="02020603050405020304" pitchFamily="18" charset="0"/>
              <a:cs typeface="Times New Roman" panose="02020603050405020304" pitchFamily="18" charset="0"/>
            </a:endParaRPr>
          </a:p>
          <a:p>
            <a:pPr marL="228600" indent="-228600">
              <a:lnSpc>
                <a:spcPct val="150000"/>
              </a:lnSpc>
              <a:spcBef>
                <a:spcPts val="600"/>
              </a:spcBef>
              <a:buFont typeface="+mj-lt"/>
              <a:buAutoNum type="alphaLcPeriod"/>
            </a:pPr>
            <a:r>
              <a:rPr lang="zh-CN" altLang="zh-CN" sz="800" dirty="0"/>
              <a:t>在起飞期间，每侧机翼上的两块双缝襟翼展开以增加升力；在巡航期间，后缘襟翼完全收上；在着陆时，后缘襟翼完全展开以增加升力和阻力</a:t>
            </a:r>
            <a:r>
              <a:rPr lang="zh-CN" altLang="zh-CN" sz="800" dirty="0" smtClean="0"/>
              <a:t>。</a:t>
            </a:r>
            <a:endParaRPr lang="zh-CN" altLang="zh-CN" sz="800" kern="100" dirty="0">
              <a:latin typeface="Calibri" panose="020F0502020204030204" pitchFamily="34" charset="0"/>
              <a:cs typeface="Times New Roman" panose="02020603050405020304" pitchFamily="18" charset="0"/>
            </a:endParaRPr>
          </a:p>
          <a:p>
            <a:pPr marL="228600" lvl="0" indent="-228600">
              <a:lnSpc>
                <a:spcPct val="150000"/>
              </a:lnSpc>
              <a:spcBef>
                <a:spcPts val="600"/>
              </a:spcBef>
              <a:buFont typeface="+mj-lt"/>
              <a:buAutoNum type="alphaLcPeriod"/>
            </a:pPr>
            <a:r>
              <a:rPr lang="zh-CN" altLang="zh-CN" sz="800" dirty="0" smtClean="0"/>
              <a:t>后缘</a:t>
            </a:r>
            <a:r>
              <a:rPr lang="zh-CN" altLang="zh-CN" sz="800" dirty="0"/>
              <a:t>襟翼</a:t>
            </a:r>
            <a:r>
              <a:rPr lang="en-US" altLang="zh-CN" sz="800" dirty="0"/>
              <a:t>3</a:t>
            </a:r>
            <a:r>
              <a:rPr lang="zh-CN" altLang="zh-CN" sz="800" dirty="0"/>
              <a:t>种保护模式：后缘襟翼倾斜、后缘襟翼不对称、后缘襟翼非指令移动（</a:t>
            </a:r>
            <a:r>
              <a:rPr lang="en-US" altLang="zh-CN" sz="800" dirty="0"/>
              <a:t>UCM</a:t>
            </a:r>
            <a:r>
              <a:rPr lang="zh-CN" altLang="zh-CN" sz="800" dirty="0"/>
              <a:t>）。通过后缘襟翼上的</a:t>
            </a:r>
            <a:r>
              <a:rPr lang="en-US" altLang="zh-CN" sz="800" dirty="0"/>
              <a:t>2</a:t>
            </a:r>
            <a:r>
              <a:rPr lang="zh-CN" altLang="zh-CN" sz="800" dirty="0"/>
              <a:t>个襟翼位置传感器和</a:t>
            </a:r>
            <a:r>
              <a:rPr lang="en-US" altLang="zh-CN" sz="800" dirty="0"/>
              <a:t>8</a:t>
            </a:r>
            <a:r>
              <a:rPr lang="zh-CN" altLang="zh-CN" sz="800" dirty="0"/>
              <a:t>个襟翼倾斜传感器向襟缝翼电子组件（</a:t>
            </a:r>
            <a:r>
              <a:rPr lang="en-US" altLang="zh-CN" sz="800" dirty="0"/>
              <a:t>FSEU</a:t>
            </a:r>
            <a:r>
              <a:rPr lang="zh-CN" altLang="zh-CN" sz="800" dirty="0"/>
              <a:t>）反馈襟翼位置情况。当探测到以上三种任何一种非正常情况时，由旁通活门旁通</a:t>
            </a:r>
            <a:r>
              <a:rPr lang="en-US" altLang="zh-CN" sz="800" dirty="0" smtClean="0"/>
              <a:t>B</a:t>
            </a:r>
            <a:r>
              <a:rPr lang="zh-CN" altLang="zh-CN" sz="800" dirty="0" smtClean="0"/>
              <a:t>系</a:t>
            </a:r>
            <a:r>
              <a:rPr lang="zh-CN" altLang="zh-CN" sz="800" dirty="0"/>
              <a:t>统液力，使后缘襟翼停止</a:t>
            </a:r>
            <a:r>
              <a:rPr lang="zh-CN" altLang="zh-CN" sz="800" dirty="0" smtClean="0"/>
              <a:t>运动</a:t>
            </a:r>
            <a:r>
              <a:rPr lang="zh-CN" altLang="en-US" sz="800" dirty="0" smtClean="0"/>
              <a:t>。</a:t>
            </a:r>
            <a:endParaRPr lang="zh-CN" altLang="zh-CN" sz="800" dirty="0"/>
          </a:p>
          <a:p>
            <a:pPr marL="342900" lvl="0" indent="-342900">
              <a:lnSpc>
                <a:spcPct val="125000"/>
              </a:lnSpc>
              <a:buFont typeface="Times New Roman" panose="02020603050405020304" pitchFamily="18" charset="0"/>
              <a:buAutoNum type="alphaLcPeriod"/>
            </a:pPr>
            <a:endParaRPr lang="zh-CN" altLang="zh-CN" sz="1000" kern="100" dirty="0">
              <a:latin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437582163"/>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42" presetClass="entr" presetSubtype="0"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1000"/>
                                        <p:tgtEl>
                                          <p:spTgt spid="43"/>
                                        </p:tgtEl>
                                      </p:cBhvr>
                                    </p:animEffect>
                                    <p:anim calcmode="lin" valueType="num">
                                      <p:cBhvr>
                                        <p:cTn id="25" dur="1000" fill="hold"/>
                                        <p:tgtEl>
                                          <p:spTgt spid="43"/>
                                        </p:tgtEl>
                                        <p:attrNameLst>
                                          <p:attrName>ppt_x</p:attrName>
                                        </p:attrNameLst>
                                      </p:cBhvr>
                                      <p:tavLst>
                                        <p:tav tm="0">
                                          <p:val>
                                            <p:strVal val="#ppt_x"/>
                                          </p:val>
                                        </p:tav>
                                        <p:tav tm="100000">
                                          <p:val>
                                            <p:strVal val="#ppt_x"/>
                                          </p:val>
                                        </p:tav>
                                      </p:tavLst>
                                    </p:anim>
                                    <p:anim calcmode="lin" valueType="num">
                                      <p:cBhvr>
                                        <p:cTn id="26"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down)">
                                      <p:cBhvr>
                                        <p:cTn id="31" dur="500"/>
                                        <p:tgtEl>
                                          <p:spTgt spid="53"/>
                                        </p:tgtEl>
                                      </p:cBhvr>
                                    </p:animEffect>
                                  </p:childTnLst>
                                </p:cTn>
                              </p:par>
                              <p:par>
                                <p:cTn id="32" presetID="22" presetClass="entr" presetSubtype="4"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srcRect r="4279" b="2561"/>
          <a:stretch/>
        </p:blipFill>
        <p:spPr>
          <a:xfrm>
            <a:off x="2438400" y="839930"/>
            <a:ext cx="4418624" cy="2711214"/>
          </a:xfrm>
          <a:prstGeom prst="rect">
            <a:avLst/>
          </a:prstGeom>
        </p:spPr>
      </p:pic>
      <p:grpSp>
        <p:nvGrpSpPr>
          <p:cNvPr id="5" name="组合 4"/>
          <p:cNvGrpSpPr/>
          <p:nvPr/>
        </p:nvGrpSpPr>
        <p:grpSpPr>
          <a:xfrm>
            <a:off x="615244" y="161158"/>
            <a:ext cx="432093" cy="41085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3"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428168"/>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14" name="TextBox 11"/>
          <p:cNvSpPr txBox="1"/>
          <p:nvPr/>
        </p:nvSpPr>
        <p:spPr>
          <a:xfrm>
            <a:off x="2753550" y="120391"/>
            <a:ext cx="2113003"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背景说明及相关信息</a:t>
            </a:r>
            <a:endParaRPr lang="zh-CN" altLang="en-US" sz="400" dirty="0">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4" cstate="screen">
            <a:extLst>
              <a:ext uri="{28A0092B-C50C-407E-A947-70E740481C1C}">
                <a14:useLocalDpi xmlns="" xmlns:a14="http://schemas.microsoft.com/office/drawing/2010/main"/>
              </a:ext>
            </a:extLst>
          </a:blip>
          <a:stretch>
            <a:fillRect/>
          </a:stretch>
        </p:blipFill>
        <p:spPr>
          <a:xfrm>
            <a:off x="1898285" y="141160"/>
            <a:ext cx="852474" cy="293710"/>
          </a:xfrm>
          <a:prstGeom prst="rect">
            <a:avLst/>
          </a:prstGeom>
        </p:spPr>
      </p:pic>
      <p:grpSp>
        <p:nvGrpSpPr>
          <p:cNvPr id="43" name="组合 42"/>
          <p:cNvGrpSpPr/>
          <p:nvPr/>
        </p:nvGrpSpPr>
        <p:grpSpPr>
          <a:xfrm>
            <a:off x="410798" y="621213"/>
            <a:ext cx="2061796" cy="345195"/>
            <a:chOff x="1129034" y="49188"/>
            <a:chExt cx="1969088" cy="656665"/>
          </a:xfrm>
        </p:grpSpPr>
        <p:sp>
          <p:nvSpPr>
            <p:cNvPr id="44" name="任意多边形 43"/>
            <p:cNvSpPr/>
            <p:nvPr/>
          </p:nvSpPr>
          <p:spPr>
            <a:xfrm>
              <a:off x="1129034" y="49188"/>
              <a:ext cx="1570758"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45" name="TextBox 11"/>
            <p:cNvSpPr txBox="1"/>
            <p:nvPr/>
          </p:nvSpPr>
          <p:spPr>
            <a:xfrm>
              <a:off x="1129034" y="140595"/>
              <a:ext cx="1969088" cy="450409"/>
            </a:xfrm>
            <a:prstGeom prst="rect">
              <a:avLst/>
            </a:prstGeom>
            <a:noFill/>
          </p:spPr>
          <p:txBody>
            <a:bodyPr wrap="square" rtlCol="0">
              <a:spAutoFit/>
            </a:bodyPr>
            <a:lstStyle/>
            <a:p>
              <a:r>
                <a:rPr lang="zh-CN" altLang="en-US" sz="1215" b="1" dirty="0">
                  <a:solidFill>
                    <a:schemeClr val="bg1"/>
                  </a:solidFill>
                  <a:latin typeface="方正粗倩简体" panose="03000509000000000000" pitchFamily="65" charset="-122"/>
                  <a:ea typeface="方正粗倩简体" panose="03000509000000000000" pitchFamily="65" charset="-122"/>
                </a:rPr>
                <a:t>后缘</a:t>
              </a:r>
              <a:r>
                <a:rPr lang="zh-CN" altLang="en-US" sz="1215" b="1" dirty="0" smtClean="0">
                  <a:solidFill>
                    <a:schemeClr val="bg1"/>
                  </a:solidFill>
                  <a:latin typeface="方正粗倩简体" panose="03000509000000000000" pitchFamily="65" charset="-122"/>
                  <a:ea typeface="方正粗倩简体" panose="03000509000000000000" pitchFamily="65" charset="-122"/>
                </a:rPr>
                <a:t>襟翼不对称探测</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sp>
        <p:nvSpPr>
          <p:cNvPr id="15" name="文本框 14"/>
          <p:cNvSpPr txBox="1"/>
          <p:nvPr/>
        </p:nvSpPr>
        <p:spPr>
          <a:xfrm>
            <a:off x="127000" y="966408"/>
            <a:ext cx="2449514" cy="3200876"/>
          </a:xfrm>
          <a:prstGeom prst="rect">
            <a:avLst/>
          </a:prstGeom>
          <a:noFill/>
        </p:spPr>
        <p:txBody>
          <a:bodyPr wrap="square" rtlCol="0">
            <a:spAutoFit/>
          </a:bodyPr>
          <a:lstStyle/>
          <a:p>
            <a:pPr marL="228600" lvl="0" indent="-228600">
              <a:lnSpc>
                <a:spcPct val="150000"/>
              </a:lnSpc>
              <a:buFont typeface="+mj-lt"/>
              <a:buAutoNum type="alphaLcPeriod"/>
            </a:pPr>
            <a:r>
              <a:rPr lang="zh-CN" altLang="en-US" sz="600" dirty="0"/>
              <a:t>每架</a:t>
            </a:r>
            <a:r>
              <a:rPr lang="zh-CN" altLang="en-US" sz="600" dirty="0" smtClean="0"/>
              <a:t>飞机装有两个襟翼位置传感器，起量程为</a:t>
            </a:r>
            <a:r>
              <a:rPr lang="en-US" altLang="zh-CN" sz="600" dirty="0" smtClean="0"/>
              <a:t>270°</a:t>
            </a:r>
            <a:r>
              <a:rPr lang="zh-CN" altLang="en-US" sz="600" dirty="0" smtClean="0"/>
              <a:t>，</a:t>
            </a:r>
            <a:r>
              <a:rPr lang="zh-CN" altLang="en-US" sz="600" dirty="0"/>
              <a:t>在襟翼收上时为</a:t>
            </a:r>
            <a:r>
              <a:rPr lang="en-US" altLang="zh-CN" sz="600" dirty="0"/>
              <a:t>0 </a:t>
            </a:r>
            <a:r>
              <a:rPr lang="zh-CN" altLang="en-US" sz="600" dirty="0"/>
              <a:t>度，放下到</a:t>
            </a:r>
            <a:r>
              <a:rPr lang="en-US" altLang="zh-CN" sz="600" dirty="0"/>
              <a:t>40 </a:t>
            </a:r>
            <a:r>
              <a:rPr lang="zh-CN" altLang="en-US" sz="600" dirty="0"/>
              <a:t>单位时为</a:t>
            </a:r>
            <a:r>
              <a:rPr lang="en-US" altLang="zh-CN" sz="600" dirty="0"/>
              <a:t>270</a:t>
            </a:r>
            <a:r>
              <a:rPr lang="zh-CN" altLang="en-US" sz="600" dirty="0"/>
              <a:t>度</a:t>
            </a:r>
            <a:r>
              <a:rPr lang="zh-CN" altLang="en-US" sz="600" dirty="0" smtClean="0"/>
              <a:t>。</a:t>
            </a:r>
            <a:r>
              <a:rPr lang="zh-CN" altLang="en-US" sz="600" dirty="0"/>
              <a:t>每个传感器有三个同步器，也就是三组线圈，分别给自动驾驶系统，失速保护系统和后缘襟翼指示系统提供信号</a:t>
            </a:r>
            <a:r>
              <a:rPr lang="zh-CN" altLang="en-US" sz="600" dirty="0" smtClean="0"/>
              <a:t>。</a:t>
            </a:r>
            <a:endParaRPr lang="en-US" altLang="zh-CN" sz="600" dirty="0" smtClean="0"/>
          </a:p>
          <a:p>
            <a:pPr marL="228600" lvl="0" indent="-228600">
              <a:lnSpc>
                <a:spcPct val="150000"/>
              </a:lnSpc>
              <a:spcBef>
                <a:spcPts val="600"/>
              </a:spcBef>
              <a:buFont typeface="+mj-lt"/>
              <a:buAutoNum type="alphaLcPeriod"/>
            </a:pPr>
            <a:r>
              <a:rPr lang="zh-CN" altLang="en-US" sz="600" dirty="0"/>
              <a:t>襟翼位置传感器和位置指示器内部采用联动三相电磁线圈，通过</a:t>
            </a:r>
            <a:r>
              <a:rPr lang="en-US" altLang="zh-CN" sz="600" dirty="0"/>
              <a:t>FSEU</a:t>
            </a:r>
            <a:r>
              <a:rPr lang="zh-CN" altLang="en-US" sz="600" dirty="0"/>
              <a:t>进行连接</a:t>
            </a:r>
            <a:r>
              <a:rPr lang="zh-CN" altLang="en-US" sz="600" dirty="0" smtClean="0"/>
              <a:t>。</a:t>
            </a:r>
            <a:r>
              <a:rPr lang="zh-CN" altLang="en-US" sz="600" dirty="0"/>
              <a:t>当襟翼运动时，位置传感器将襟翼传动杆的转动转化为其内部电磁线圈的位置偏转，由于传感器线圈和指示器的线圈采用联动形式，当传感器线圈位置发生变化时，传感器和指示器的电磁线圈之间就形成了电位差。</a:t>
            </a:r>
            <a:r>
              <a:rPr lang="en-US" altLang="zh-CN" sz="600" dirty="0" smtClean="0"/>
              <a:t>FSEU</a:t>
            </a:r>
            <a:r>
              <a:rPr lang="zh-CN" altLang="en-US" sz="600" dirty="0"/>
              <a:t>测量传感器和指示器同步器静子之间的电压，来得出襟翼位置</a:t>
            </a:r>
            <a:r>
              <a:rPr lang="zh-CN" altLang="en-US" sz="600" dirty="0" smtClean="0"/>
              <a:t>。同时，改电位差将在</a:t>
            </a:r>
            <a:r>
              <a:rPr lang="zh-CN" altLang="en-US" sz="600" dirty="0"/>
              <a:t>传感器和指示器的电磁线圈之间</a:t>
            </a:r>
            <a:r>
              <a:rPr lang="zh-CN" altLang="en-US" sz="600" dirty="0" smtClean="0"/>
              <a:t>两</a:t>
            </a:r>
            <a:r>
              <a:rPr lang="zh-CN" altLang="en-US" sz="600" dirty="0"/>
              <a:t>个线圈的回路之间形成电流，驱动指示器线圈也发生位置</a:t>
            </a:r>
            <a:r>
              <a:rPr lang="zh-CN" altLang="en-US" sz="600" dirty="0" smtClean="0"/>
              <a:t>改变。</a:t>
            </a:r>
            <a:endParaRPr lang="zh-CN" altLang="zh-CN" sz="600" dirty="0"/>
          </a:p>
          <a:p>
            <a:pPr marL="228600" lvl="0" indent="-228600">
              <a:lnSpc>
                <a:spcPct val="150000"/>
              </a:lnSpc>
              <a:spcBef>
                <a:spcPts val="600"/>
              </a:spcBef>
              <a:buFont typeface="+mj-lt"/>
              <a:buAutoNum type="alphaLcPeriod"/>
            </a:pPr>
            <a:r>
              <a:rPr lang="en-US" altLang="zh-CN" sz="600" dirty="0"/>
              <a:t>FSEU</a:t>
            </a:r>
            <a:r>
              <a:rPr lang="zh-CN" altLang="zh-CN" sz="600" dirty="0"/>
              <a:t>比较左</a:t>
            </a:r>
            <a:r>
              <a:rPr lang="en-US" altLang="zh-CN" sz="600" dirty="0"/>
              <a:t>/</a:t>
            </a:r>
            <a:r>
              <a:rPr lang="zh-CN" altLang="zh-CN" sz="600" dirty="0"/>
              <a:t>右后缘襟翼位置传感器数据以监控后缘襟翼位置。若</a:t>
            </a:r>
            <a:r>
              <a:rPr lang="en-US" altLang="zh-CN" sz="600" dirty="0"/>
              <a:t>FSEU</a:t>
            </a:r>
            <a:r>
              <a:rPr lang="zh-CN" altLang="zh-CN" sz="600" dirty="0"/>
              <a:t>探测到左</a:t>
            </a:r>
            <a:r>
              <a:rPr lang="en-US" altLang="zh-CN" sz="600" dirty="0"/>
              <a:t>/</a:t>
            </a:r>
            <a:r>
              <a:rPr lang="zh-CN" altLang="zh-CN" sz="600" dirty="0"/>
              <a:t>右后缘襟翼位置传感器数值相差大于</a:t>
            </a:r>
            <a:r>
              <a:rPr lang="en-US" altLang="zh-CN" sz="600" dirty="0"/>
              <a:t>9</a:t>
            </a:r>
            <a:r>
              <a:rPr lang="zh-CN" altLang="zh-CN" sz="600" dirty="0"/>
              <a:t>个解算度，则接通旁通活门电源，停止后缘襟翼液压马达操纵。</a:t>
            </a:r>
          </a:p>
          <a:p>
            <a:pPr marL="228600" lvl="0" indent="-228600">
              <a:lnSpc>
                <a:spcPct val="150000"/>
              </a:lnSpc>
              <a:spcBef>
                <a:spcPts val="600"/>
              </a:spcBef>
              <a:buFont typeface="+mj-lt"/>
              <a:buAutoNum type="alphaLcPeriod"/>
            </a:pPr>
            <a:r>
              <a:rPr lang="zh-CN" altLang="zh-CN" sz="600" dirty="0"/>
              <a:t>后缘襟翼不对称故障现象：驾驶舱位置指示器左右跳动，或指示剪刀叉（此现象可能为真实故障，或间歇性故障，或襟翼探测系统故障）；驾驶员空中放襟翼后，操纵飞机有左</a:t>
            </a:r>
            <a:r>
              <a:rPr lang="en-US" altLang="zh-CN" sz="600" dirty="0"/>
              <a:t>/</a:t>
            </a:r>
            <a:r>
              <a:rPr lang="zh-CN" altLang="zh-CN" sz="600" dirty="0"/>
              <a:t>右倾斜现象（此现象基本判断为真实故障）。</a:t>
            </a:r>
          </a:p>
          <a:p>
            <a:endParaRPr lang="zh-CN" altLang="en-US" sz="700" dirty="0"/>
          </a:p>
        </p:txBody>
      </p:sp>
    </p:spTree>
    <p:extLst>
      <p:ext uri="{BB962C8B-B14F-4D97-AF65-F5344CB8AC3E}">
        <p14:creationId xmlns="" xmlns:p14="http://schemas.microsoft.com/office/powerpoint/2010/main" val="4269270949"/>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42" presetClass="entr" presetSubtype="0"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1000"/>
                                        <p:tgtEl>
                                          <p:spTgt spid="43"/>
                                        </p:tgtEl>
                                      </p:cBhvr>
                                    </p:animEffect>
                                    <p:anim calcmode="lin" valueType="num">
                                      <p:cBhvr>
                                        <p:cTn id="25" dur="1000" fill="hold"/>
                                        <p:tgtEl>
                                          <p:spTgt spid="43"/>
                                        </p:tgtEl>
                                        <p:attrNameLst>
                                          <p:attrName>ppt_x</p:attrName>
                                        </p:attrNameLst>
                                      </p:cBhvr>
                                      <p:tavLst>
                                        <p:tav tm="0">
                                          <p:val>
                                            <p:strVal val="#ppt_x"/>
                                          </p:val>
                                        </p:tav>
                                        <p:tav tm="100000">
                                          <p:val>
                                            <p:strVal val="#ppt_x"/>
                                          </p:val>
                                        </p:tav>
                                      </p:tavLst>
                                    </p:anim>
                                    <p:anim calcmode="lin" valueType="num">
                                      <p:cBhvr>
                                        <p:cTn id="26"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615244" y="161158"/>
            <a:ext cx="432093" cy="41085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428168"/>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14" name="TextBox 11"/>
          <p:cNvSpPr txBox="1"/>
          <p:nvPr/>
        </p:nvSpPr>
        <p:spPr>
          <a:xfrm>
            <a:off x="2753550" y="120391"/>
            <a:ext cx="2113003"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背景说明及相关信息</a:t>
            </a:r>
            <a:endParaRPr lang="zh-CN" altLang="en-US" sz="400" dirty="0">
              <a:latin typeface="微软雅黑" panose="020B0503020204020204" pitchFamily="34" charset="-122"/>
              <a:ea typeface="微软雅黑" panose="020B0503020204020204" pitchFamily="34" charset="-122"/>
            </a:endParaRPr>
          </a:p>
        </p:txBody>
      </p:sp>
      <p:pic>
        <p:nvPicPr>
          <p:cNvPr id="48" name="图片 47"/>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898285" y="141160"/>
            <a:ext cx="852474" cy="293710"/>
          </a:xfrm>
          <a:prstGeom prst="rect">
            <a:avLst/>
          </a:prstGeom>
        </p:spPr>
      </p:pic>
      <p:grpSp>
        <p:nvGrpSpPr>
          <p:cNvPr id="5" name="组合 42"/>
          <p:cNvGrpSpPr/>
          <p:nvPr/>
        </p:nvGrpSpPr>
        <p:grpSpPr>
          <a:xfrm>
            <a:off x="410798" y="621213"/>
            <a:ext cx="2061796" cy="345195"/>
            <a:chOff x="1129034" y="49188"/>
            <a:chExt cx="1969088" cy="656665"/>
          </a:xfrm>
        </p:grpSpPr>
        <p:sp>
          <p:nvSpPr>
            <p:cNvPr id="44" name="任意多边形 43"/>
            <p:cNvSpPr/>
            <p:nvPr/>
          </p:nvSpPr>
          <p:spPr>
            <a:xfrm>
              <a:off x="1129034" y="49188"/>
              <a:ext cx="1570758"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45" name="TextBox 11"/>
            <p:cNvSpPr txBox="1"/>
            <p:nvPr/>
          </p:nvSpPr>
          <p:spPr>
            <a:xfrm>
              <a:off x="1129034" y="140595"/>
              <a:ext cx="1969088" cy="450409"/>
            </a:xfrm>
            <a:prstGeom prst="rect">
              <a:avLst/>
            </a:prstGeom>
            <a:noFill/>
          </p:spPr>
          <p:txBody>
            <a:bodyPr wrap="square" rtlCol="0">
              <a:spAutoFit/>
            </a:bodyPr>
            <a:lstStyle/>
            <a:p>
              <a:r>
                <a:rPr lang="zh-CN" altLang="en-US" sz="1215" b="1" dirty="0">
                  <a:solidFill>
                    <a:schemeClr val="bg1"/>
                  </a:solidFill>
                  <a:latin typeface="方正粗倩简体" panose="03000509000000000000" pitchFamily="65" charset="-122"/>
                  <a:ea typeface="方正粗倩简体" panose="03000509000000000000" pitchFamily="65" charset="-122"/>
                </a:rPr>
                <a:t>后缘</a:t>
              </a:r>
              <a:r>
                <a:rPr lang="zh-CN" altLang="en-US" sz="1215" b="1" dirty="0" smtClean="0">
                  <a:solidFill>
                    <a:schemeClr val="bg1"/>
                  </a:solidFill>
                  <a:latin typeface="方正粗倩简体" panose="03000509000000000000" pitchFamily="65" charset="-122"/>
                  <a:ea typeface="方正粗倩简体" panose="03000509000000000000" pitchFamily="65" charset="-122"/>
                </a:rPr>
                <a:t>襟翼不对称探测</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pic>
        <p:nvPicPr>
          <p:cNvPr id="16" name="图片 15"/>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726955" y="1190625"/>
            <a:ext cx="5508999" cy="3006275"/>
          </a:xfrm>
          <a:prstGeom prst="rect">
            <a:avLst/>
          </a:prstGeom>
        </p:spPr>
      </p:pic>
    </p:spTree>
    <p:extLst>
      <p:ext uri="{BB962C8B-B14F-4D97-AF65-F5344CB8AC3E}">
        <p14:creationId xmlns="" xmlns:p14="http://schemas.microsoft.com/office/powerpoint/2010/main" val="4269270949"/>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07818" y="391339"/>
            <a:ext cx="539519" cy="51003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5834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18" name="矩形 17"/>
          <p:cNvSpPr/>
          <p:nvPr/>
        </p:nvSpPr>
        <p:spPr>
          <a:xfrm>
            <a:off x="2135" y="1284613"/>
            <a:ext cx="513695" cy="68546"/>
          </a:xfrm>
          <a:prstGeom prst="rect">
            <a:avLst/>
          </a:prstGeom>
          <a:solidFill>
            <a:srgbClr val="40404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799" dirty="0">
              <a:ea typeface="微软雅黑" panose="020B0503020204020204" pitchFamily="34" charset="-122"/>
            </a:endParaRPr>
          </a:p>
        </p:txBody>
      </p:sp>
      <p:sp>
        <p:nvSpPr>
          <p:cNvPr id="19" name="椭圆 18"/>
          <p:cNvSpPr/>
          <p:nvPr/>
        </p:nvSpPr>
        <p:spPr>
          <a:xfrm>
            <a:off x="358427" y="1079548"/>
            <a:ext cx="510070" cy="510070"/>
          </a:xfrm>
          <a:prstGeom prst="ellipse">
            <a:avLst/>
          </a:prstGeom>
          <a:solidFill>
            <a:srgbClr val="40404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dirty="0" smtClean="0">
                <a:ea typeface="微软雅黑" panose="020B0503020204020204" pitchFamily="34" charset="-122"/>
              </a:rPr>
              <a:t>1</a:t>
            </a:r>
            <a:endParaRPr lang="zh-CN" altLang="en-US" sz="1799" dirty="0">
              <a:ea typeface="微软雅黑" panose="020B0503020204020204" pitchFamily="34" charset="-122"/>
            </a:endParaRPr>
          </a:p>
        </p:txBody>
      </p:sp>
      <p:grpSp>
        <p:nvGrpSpPr>
          <p:cNvPr id="23" name="组 10"/>
          <p:cNvGrpSpPr/>
          <p:nvPr/>
        </p:nvGrpSpPr>
        <p:grpSpPr>
          <a:xfrm>
            <a:off x="1011720" y="1091736"/>
            <a:ext cx="5660856" cy="527055"/>
            <a:chOff x="247498" y="2041375"/>
            <a:chExt cx="3039907" cy="562044"/>
          </a:xfrm>
        </p:grpSpPr>
        <p:sp>
          <p:nvSpPr>
            <p:cNvPr id="24" name="文本框 23"/>
            <p:cNvSpPr txBox="1"/>
            <p:nvPr/>
          </p:nvSpPr>
          <p:spPr>
            <a:xfrm>
              <a:off x="255339" y="2291620"/>
              <a:ext cx="3032066" cy="3117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46">
                <a:lnSpc>
                  <a:spcPct val="130000"/>
                </a:lnSpc>
                <a:defRPr/>
              </a:pPr>
              <a:r>
                <a:rPr lang="zh-CN" altLang="en-US" sz="1000" dirty="0" smtClean="0">
                  <a:solidFill>
                    <a:schemeClr val="tx1">
                      <a:lumMod val="75000"/>
                      <a:lumOff val="25000"/>
                    </a:schemeClr>
                  </a:solidFill>
                  <a:latin typeface="Century Gothic"/>
                  <a:ea typeface="微软雅黑"/>
                </a:rPr>
                <a:t>国航未出现过因襟翼驱动系统故障导致襟翼卡阻等故障的情况。</a:t>
              </a:r>
              <a:endParaRPr lang="zh-CN" altLang="en-US" sz="1000" dirty="0">
                <a:solidFill>
                  <a:schemeClr val="tx1">
                    <a:lumMod val="75000"/>
                    <a:lumOff val="25000"/>
                  </a:schemeClr>
                </a:solidFill>
                <a:latin typeface="Century Gothic"/>
                <a:ea typeface="微软雅黑"/>
              </a:endParaRPr>
            </a:p>
          </p:txBody>
        </p:sp>
        <p:sp>
          <p:nvSpPr>
            <p:cNvPr id="25" name="矩形 24"/>
            <p:cNvSpPr/>
            <p:nvPr/>
          </p:nvSpPr>
          <p:spPr>
            <a:xfrm>
              <a:off x="247498" y="2041375"/>
              <a:ext cx="1328418" cy="322464"/>
            </a:xfrm>
            <a:prstGeom prst="rect">
              <a:avLst/>
            </a:prstGeom>
          </p:spPr>
          <p:txBody>
            <a:bodyPr wrap="none">
              <a:spAutoFit/>
            </a:bodyPr>
            <a:lstStyle/>
            <a:p>
              <a:pPr defTabSz="685446">
                <a:lnSpc>
                  <a:spcPct val="130000"/>
                </a:lnSpc>
                <a:defRPr/>
              </a:pPr>
              <a:r>
                <a:rPr lang="zh-CN" altLang="en-US" sz="1050" b="1" kern="0" dirty="0" smtClean="0">
                  <a:solidFill>
                    <a:schemeClr val="tx1">
                      <a:lumMod val="75000"/>
                      <a:lumOff val="25000"/>
                    </a:schemeClr>
                  </a:solidFill>
                  <a:ea typeface="微软雅黑" panose="020B0503020204020204" pitchFamily="34" charset="-122"/>
                </a:rPr>
                <a:t>后缘襟翼驱动系统故障导致的襟翼卡阻</a:t>
              </a:r>
              <a:endParaRPr lang="en-US" altLang="zh-CN" sz="1050" b="1" kern="0" dirty="0">
                <a:solidFill>
                  <a:schemeClr val="tx1">
                    <a:lumMod val="75000"/>
                    <a:lumOff val="25000"/>
                  </a:schemeClr>
                </a:solidFill>
                <a:ea typeface="微软雅黑" panose="020B0503020204020204" pitchFamily="34" charset="-122"/>
              </a:endParaRPr>
            </a:p>
          </p:txBody>
        </p:sp>
      </p:grpSp>
      <p:grpSp>
        <p:nvGrpSpPr>
          <p:cNvPr id="26" name="组 13"/>
          <p:cNvGrpSpPr/>
          <p:nvPr/>
        </p:nvGrpSpPr>
        <p:grpSpPr>
          <a:xfrm>
            <a:off x="1047914" y="1716949"/>
            <a:ext cx="5653129" cy="690164"/>
            <a:chOff x="247498" y="2041375"/>
            <a:chExt cx="3032066" cy="920667"/>
          </a:xfrm>
        </p:grpSpPr>
        <p:sp>
          <p:nvSpPr>
            <p:cNvPr id="27" name="文本框 26"/>
            <p:cNvSpPr txBox="1"/>
            <p:nvPr/>
          </p:nvSpPr>
          <p:spPr>
            <a:xfrm>
              <a:off x="247498" y="2331048"/>
              <a:ext cx="3032066" cy="63099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46">
                <a:lnSpc>
                  <a:spcPct val="150000"/>
                </a:lnSpc>
                <a:defRPr/>
              </a:pPr>
              <a:r>
                <a:rPr lang="zh-CN" altLang="en-US" sz="1000" dirty="0">
                  <a:solidFill>
                    <a:srgbClr val="404040"/>
                  </a:solidFill>
                  <a:latin typeface="Century Gothic"/>
                  <a:ea typeface="微软雅黑"/>
                </a:rPr>
                <a:t>国航</a:t>
              </a:r>
              <a:r>
                <a:rPr lang="zh-CN" altLang="en-US" sz="1000" dirty="0" smtClean="0">
                  <a:solidFill>
                    <a:srgbClr val="404040"/>
                  </a:solidFill>
                  <a:latin typeface="Century Gothic"/>
                  <a:ea typeface="微软雅黑"/>
                </a:rPr>
                <a:t>近五年</a:t>
              </a:r>
              <a:r>
                <a:rPr lang="zh-CN" altLang="en-US" sz="1000" dirty="0">
                  <a:solidFill>
                    <a:srgbClr val="404040"/>
                  </a:solidFill>
                  <a:latin typeface="Century Gothic"/>
                  <a:ea typeface="微软雅黑"/>
                </a:rPr>
                <a:t>未有</a:t>
              </a:r>
              <a:r>
                <a:rPr lang="zh-CN" altLang="en-US" sz="1000" dirty="0" smtClean="0">
                  <a:solidFill>
                    <a:srgbClr val="404040"/>
                  </a:solidFill>
                  <a:latin typeface="Century Gothic"/>
                  <a:ea typeface="微软雅黑"/>
                </a:rPr>
                <a:t>因旁通活门故障导致的襟翼卡阻。</a:t>
              </a:r>
              <a:endParaRPr lang="en-US" altLang="zh-CN" sz="1000" dirty="0">
                <a:solidFill>
                  <a:srgbClr val="404040"/>
                </a:solidFill>
                <a:latin typeface="Century Gothic"/>
                <a:ea typeface="微软雅黑"/>
              </a:endParaRPr>
            </a:p>
            <a:p>
              <a:pPr defTabSz="685446">
                <a:lnSpc>
                  <a:spcPct val="130000"/>
                </a:lnSpc>
                <a:defRPr/>
              </a:pPr>
              <a:endParaRPr lang="zh-CN" altLang="en-US" sz="749" dirty="0">
                <a:solidFill>
                  <a:schemeClr val="tx1">
                    <a:lumMod val="75000"/>
                    <a:lumOff val="25000"/>
                  </a:schemeClr>
                </a:solidFill>
                <a:latin typeface="Century Gothic"/>
                <a:ea typeface="微软雅黑"/>
              </a:endParaRPr>
            </a:p>
          </p:txBody>
        </p:sp>
        <p:sp>
          <p:nvSpPr>
            <p:cNvPr id="28" name="矩形 27"/>
            <p:cNvSpPr/>
            <p:nvPr/>
          </p:nvSpPr>
          <p:spPr>
            <a:xfrm>
              <a:off x="247498" y="2041375"/>
              <a:ext cx="1471245" cy="403383"/>
            </a:xfrm>
            <a:prstGeom prst="rect">
              <a:avLst/>
            </a:prstGeom>
          </p:spPr>
          <p:txBody>
            <a:bodyPr wrap="none">
              <a:spAutoFit/>
            </a:bodyPr>
            <a:lstStyle/>
            <a:p>
              <a:pPr defTabSz="685446">
                <a:lnSpc>
                  <a:spcPct val="130000"/>
                </a:lnSpc>
                <a:defRPr/>
              </a:pPr>
              <a:r>
                <a:rPr lang="zh-CN" altLang="en-US" sz="1050" b="1" kern="0" dirty="0" smtClean="0">
                  <a:solidFill>
                    <a:schemeClr val="tx1">
                      <a:lumMod val="75000"/>
                      <a:lumOff val="25000"/>
                    </a:schemeClr>
                  </a:solidFill>
                  <a:ea typeface="微软雅黑" panose="020B0503020204020204" pitchFamily="34" charset="-122"/>
                </a:rPr>
                <a:t>襟翼保护系统旁通活门故障导致的襟翼卡阻</a:t>
              </a:r>
              <a:endParaRPr lang="en-US" altLang="zh-CN" sz="1050" b="1" kern="0" dirty="0">
                <a:solidFill>
                  <a:schemeClr val="tx1">
                    <a:lumMod val="75000"/>
                    <a:lumOff val="25000"/>
                  </a:schemeClr>
                </a:solidFill>
                <a:ea typeface="微软雅黑" panose="020B0503020204020204" pitchFamily="34" charset="-122"/>
              </a:endParaRPr>
            </a:p>
          </p:txBody>
        </p:sp>
      </p:grpSp>
      <p:grpSp>
        <p:nvGrpSpPr>
          <p:cNvPr id="29" name="组 16"/>
          <p:cNvGrpSpPr/>
          <p:nvPr/>
        </p:nvGrpSpPr>
        <p:grpSpPr>
          <a:xfrm>
            <a:off x="1012120" y="2363749"/>
            <a:ext cx="5739200" cy="2352181"/>
            <a:chOff x="247498" y="2041376"/>
            <a:chExt cx="3032066" cy="2627686"/>
          </a:xfrm>
        </p:grpSpPr>
        <p:sp>
          <p:nvSpPr>
            <p:cNvPr id="30" name="文本框 29"/>
            <p:cNvSpPr txBox="1"/>
            <p:nvPr/>
          </p:nvSpPr>
          <p:spPr>
            <a:xfrm>
              <a:off x="247498" y="2331047"/>
              <a:ext cx="3032066" cy="233801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46">
                <a:lnSpc>
                  <a:spcPct val="130000"/>
                </a:lnSpc>
                <a:defRPr/>
              </a:pPr>
              <a:r>
                <a:rPr lang="en-US" altLang="zh-CN" sz="1000" dirty="0" smtClean="0">
                  <a:solidFill>
                    <a:schemeClr val="tx1">
                      <a:lumMod val="75000"/>
                      <a:lumOff val="25000"/>
                    </a:schemeClr>
                  </a:solidFill>
                  <a:latin typeface="Century Gothic"/>
                  <a:ea typeface="微软雅黑"/>
                </a:rPr>
                <a:t>2022</a:t>
              </a:r>
              <a:r>
                <a:rPr lang="zh-CN" altLang="en-US" sz="1000" dirty="0" smtClean="0">
                  <a:solidFill>
                    <a:schemeClr val="tx1">
                      <a:lumMod val="75000"/>
                      <a:lumOff val="25000"/>
                    </a:schemeClr>
                  </a:solidFill>
                  <a:latin typeface="Century Gothic"/>
                  <a:ea typeface="微软雅黑"/>
                </a:rPr>
                <a:t>年第一季度国</a:t>
              </a:r>
              <a:r>
                <a:rPr lang="zh-CN" altLang="en-US" sz="1000" dirty="0">
                  <a:solidFill>
                    <a:schemeClr val="tx1">
                      <a:lumMod val="75000"/>
                      <a:lumOff val="25000"/>
                    </a:schemeClr>
                  </a:solidFill>
                  <a:latin typeface="Century Gothic"/>
                  <a:ea typeface="微软雅黑"/>
                </a:rPr>
                <a:t>航</a:t>
              </a:r>
              <a:r>
                <a:rPr lang="en-US" altLang="zh-CN" sz="1000" dirty="0">
                  <a:solidFill>
                    <a:schemeClr val="tx1">
                      <a:lumMod val="75000"/>
                      <a:lumOff val="25000"/>
                    </a:schemeClr>
                  </a:solidFill>
                  <a:latin typeface="Century Gothic"/>
                  <a:ea typeface="微软雅黑"/>
                </a:rPr>
                <a:t>737NG</a:t>
              </a:r>
              <a:r>
                <a:rPr lang="zh-CN" altLang="en-US" sz="1000" dirty="0">
                  <a:solidFill>
                    <a:schemeClr val="tx1">
                      <a:lumMod val="75000"/>
                      <a:lumOff val="25000"/>
                    </a:schemeClr>
                  </a:solidFill>
                  <a:latin typeface="Century Gothic"/>
                  <a:ea typeface="微软雅黑"/>
                </a:rPr>
                <a:t>机队因襟翼故障</a:t>
              </a:r>
              <a:r>
                <a:rPr lang="zh-CN" altLang="en-US" sz="1000" dirty="0" smtClean="0">
                  <a:solidFill>
                    <a:schemeClr val="tx1">
                      <a:lumMod val="75000"/>
                      <a:lumOff val="25000"/>
                    </a:schemeClr>
                  </a:solidFill>
                  <a:latin typeface="Century Gothic"/>
                  <a:ea typeface="微软雅黑"/>
                </a:rPr>
                <a:t>导</a:t>
              </a:r>
              <a:r>
                <a:rPr lang="en-US" altLang="zh-CN" sz="1000" dirty="0" smtClean="0">
                  <a:solidFill>
                    <a:schemeClr val="tx1">
                      <a:lumMod val="75000"/>
                      <a:lumOff val="25000"/>
                    </a:schemeClr>
                  </a:solidFill>
                  <a:latin typeface="Century Gothic"/>
                  <a:ea typeface="微软雅黑"/>
                </a:rPr>
                <a:t>4</a:t>
              </a:r>
              <a:r>
                <a:rPr lang="zh-CN" altLang="en-US" sz="1000" dirty="0" smtClean="0">
                  <a:solidFill>
                    <a:schemeClr val="tx1">
                      <a:lumMod val="75000"/>
                      <a:lumOff val="25000"/>
                    </a:schemeClr>
                  </a:solidFill>
                  <a:latin typeface="Century Gothic"/>
                  <a:ea typeface="微软雅黑"/>
                </a:rPr>
                <a:t>起</a:t>
              </a:r>
              <a:r>
                <a:rPr lang="zh-CN" altLang="en-US" sz="1000" dirty="0">
                  <a:solidFill>
                    <a:schemeClr val="tx1">
                      <a:lumMod val="75000"/>
                      <a:lumOff val="25000"/>
                    </a:schemeClr>
                  </a:solidFill>
                  <a:latin typeface="Century Gothic"/>
                  <a:ea typeface="微软雅黑"/>
                </a:rPr>
                <a:t>不正常事件中，均</a:t>
              </a:r>
              <a:r>
                <a:rPr lang="zh-CN" altLang="en-US" sz="1000" dirty="0" smtClean="0">
                  <a:solidFill>
                    <a:schemeClr val="tx1">
                      <a:lumMod val="75000"/>
                      <a:lumOff val="25000"/>
                    </a:schemeClr>
                  </a:solidFill>
                  <a:latin typeface="Century Gothic"/>
                  <a:ea typeface="微软雅黑"/>
                </a:rPr>
                <a:t>为襟</a:t>
              </a:r>
              <a:r>
                <a:rPr lang="zh-CN" altLang="en-US" sz="1000" dirty="0">
                  <a:solidFill>
                    <a:schemeClr val="tx1">
                      <a:lumMod val="75000"/>
                      <a:lumOff val="25000"/>
                    </a:schemeClr>
                  </a:solidFill>
                  <a:latin typeface="Century Gothic"/>
                  <a:ea typeface="微软雅黑"/>
                </a:rPr>
                <a:t>翼探测系统故障引</a:t>
              </a:r>
              <a:r>
                <a:rPr lang="zh-CN" altLang="en-US" sz="1000" dirty="0" smtClean="0">
                  <a:solidFill>
                    <a:schemeClr val="tx1">
                      <a:lumMod val="75000"/>
                      <a:lumOff val="25000"/>
                    </a:schemeClr>
                  </a:solidFill>
                  <a:latin typeface="Century Gothic"/>
                  <a:ea typeface="微软雅黑"/>
                </a:rPr>
                <a:t>起。从近五年的故障历史来看，引起襟翼卡阻的不正常事件中，绝大部分是由探测系统故障导致。排</a:t>
              </a:r>
              <a:r>
                <a:rPr lang="zh-CN" altLang="en-US" sz="1000" dirty="0">
                  <a:solidFill>
                    <a:schemeClr val="tx1">
                      <a:lumMod val="75000"/>
                      <a:lumOff val="25000"/>
                    </a:schemeClr>
                  </a:solidFill>
                  <a:latin typeface="Century Gothic"/>
                  <a:ea typeface="微软雅黑"/>
                </a:rPr>
                <a:t>故拆换件主要集中在传感器、</a:t>
              </a:r>
              <a:r>
                <a:rPr lang="en-US" altLang="zh-CN" sz="1000" dirty="0" smtClean="0">
                  <a:solidFill>
                    <a:schemeClr val="tx1">
                      <a:lumMod val="75000"/>
                      <a:lumOff val="25000"/>
                    </a:schemeClr>
                  </a:solidFill>
                  <a:latin typeface="Century Gothic"/>
                  <a:ea typeface="微软雅黑"/>
                </a:rPr>
                <a:t>FSEU</a:t>
              </a:r>
              <a:r>
                <a:rPr lang="zh-CN" altLang="en-US" sz="1000" dirty="0" smtClean="0">
                  <a:solidFill>
                    <a:schemeClr val="tx1">
                      <a:lumMod val="75000"/>
                      <a:lumOff val="25000"/>
                    </a:schemeClr>
                  </a:solidFill>
                  <a:latin typeface="Century Gothic"/>
                  <a:ea typeface="微软雅黑"/>
                </a:rPr>
                <a:t>以及指</a:t>
              </a:r>
              <a:r>
                <a:rPr lang="zh-CN" altLang="en-US" sz="1000" dirty="0">
                  <a:solidFill>
                    <a:schemeClr val="tx1">
                      <a:lumMod val="75000"/>
                      <a:lumOff val="25000"/>
                    </a:schemeClr>
                  </a:solidFill>
                  <a:latin typeface="Century Gothic"/>
                  <a:ea typeface="微软雅黑"/>
                </a:rPr>
                <a:t>示</a:t>
              </a:r>
              <a:r>
                <a:rPr lang="zh-CN" altLang="en-US" sz="1000" dirty="0" smtClean="0">
                  <a:solidFill>
                    <a:schemeClr val="tx1">
                      <a:lumMod val="75000"/>
                      <a:lumOff val="25000"/>
                    </a:schemeClr>
                  </a:solidFill>
                  <a:latin typeface="Century Gothic"/>
                  <a:ea typeface="微软雅黑"/>
                </a:rPr>
                <a:t>器。</a:t>
              </a:r>
              <a:endParaRPr lang="en-US" altLang="zh-CN" sz="1000" dirty="0" smtClean="0">
                <a:solidFill>
                  <a:schemeClr val="tx1">
                    <a:lumMod val="75000"/>
                    <a:lumOff val="25000"/>
                  </a:schemeClr>
                </a:solidFill>
                <a:latin typeface="Century Gothic"/>
                <a:ea typeface="微软雅黑"/>
              </a:endParaRPr>
            </a:p>
            <a:p>
              <a:pPr defTabSz="685446">
                <a:lnSpc>
                  <a:spcPct val="130000"/>
                </a:lnSpc>
                <a:defRPr/>
              </a:pPr>
              <a:r>
                <a:rPr lang="zh-CN" altLang="zh-CN" sz="1000" dirty="0" smtClean="0">
                  <a:solidFill>
                    <a:schemeClr val="tx1">
                      <a:lumMod val="75000"/>
                      <a:lumOff val="25000"/>
                    </a:schemeClr>
                  </a:solidFill>
                  <a:latin typeface="Century Gothic"/>
                  <a:ea typeface="微软雅黑"/>
                </a:rPr>
                <a:t>此类故障大部分发生在飞机降落阶段。</a:t>
              </a:r>
              <a:r>
                <a:rPr lang="zh-CN" altLang="en-US" sz="1000" dirty="0" smtClean="0">
                  <a:solidFill>
                    <a:schemeClr val="tx1">
                      <a:lumMod val="75000"/>
                      <a:lumOff val="25000"/>
                    </a:schemeClr>
                  </a:solidFill>
                  <a:latin typeface="Century Gothic"/>
                  <a:ea typeface="微软雅黑"/>
                </a:rPr>
                <a:t>分析认为：</a:t>
              </a:r>
              <a:r>
                <a:rPr lang="zh-CN" altLang="zh-CN" sz="1000" dirty="0" smtClean="0">
                  <a:solidFill>
                    <a:schemeClr val="tx1">
                      <a:lumMod val="75000"/>
                      <a:lumOff val="25000"/>
                    </a:schemeClr>
                  </a:solidFill>
                  <a:latin typeface="Century Gothic"/>
                  <a:ea typeface="微软雅黑"/>
                </a:rPr>
                <a:t>在飞机下降阶段，其后缘襟翼比起飞阶段要承受更大的气动载荷</a:t>
              </a:r>
              <a:r>
                <a:rPr lang="zh-CN" altLang="en-US" sz="1000" dirty="0" smtClean="0">
                  <a:solidFill>
                    <a:schemeClr val="tx1">
                      <a:lumMod val="75000"/>
                      <a:lumOff val="25000"/>
                    </a:schemeClr>
                  </a:solidFill>
                  <a:latin typeface="Century Gothic"/>
                  <a:ea typeface="微软雅黑"/>
                </a:rPr>
                <a:t>。当襟翼做动时，</a:t>
              </a:r>
              <a:r>
                <a:rPr lang="zh-CN" altLang="zh-CN" sz="1000" dirty="0" smtClean="0">
                  <a:solidFill>
                    <a:schemeClr val="tx1">
                      <a:lumMod val="75000"/>
                      <a:lumOff val="25000"/>
                    </a:schemeClr>
                  </a:solidFill>
                  <a:latin typeface="Century Gothic"/>
                  <a:ea typeface="微软雅黑"/>
                </a:rPr>
                <a:t>如遇到</a:t>
              </a:r>
              <a:r>
                <a:rPr lang="zh-CN" altLang="en-US" sz="1000" dirty="0" smtClean="0">
                  <a:solidFill>
                    <a:schemeClr val="tx1">
                      <a:lumMod val="75000"/>
                      <a:lumOff val="25000"/>
                    </a:schemeClr>
                  </a:solidFill>
                  <a:latin typeface="Century Gothic"/>
                  <a:ea typeface="微软雅黑"/>
                </a:rPr>
                <a:t>强烈震动，加之襟翼传感器或指示器的输出存在误差，将导致</a:t>
              </a:r>
              <a:r>
                <a:rPr lang="en-US" altLang="zh-CN" sz="1000" dirty="0" smtClean="0">
                  <a:solidFill>
                    <a:schemeClr val="tx1">
                      <a:lumMod val="75000"/>
                      <a:lumOff val="25000"/>
                    </a:schemeClr>
                  </a:solidFill>
                  <a:latin typeface="Century Gothic"/>
                  <a:ea typeface="微软雅黑"/>
                </a:rPr>
                <a:t>FSEU</a:t>
              </a:r>
              <a:r>
                <a:rPr lang="zh-CN" altLang="en-US" sz="1000" dirty="0" smtClean="0">
                  <a:solidFill>
                    <a:schemeClr val="tx1">
                      <a:lumMod val="75000"/>
                      <a:lumOff val="25000"/>
                    </a:schemeClr>
                  </a:solidFill>
                  <a:latin typeface="Century Gothic"/>
                  <a:ea typeface="微软雅黑"/>
                </a:rPr>
                <a:t>探测到的左右两侧襟翼传感器输出波形存在偏差</a:t>
              </a:r>
              <a:r>
                <a:rPr lang="zh-CN" altLang="zh-CN" sz="1000" dirty="0" smtClean="0">
                  <a:solidFill>
                    <a:schemeClr val="tx1">
                      <a:lumMod val="75000"/>
                      <a:lumOff val="25000"/>
                    </a:schemeClr>
                  </a:solidFill>
                  <a:latin typeface="Century Gothic"/>
                  <a:ea typeface="微软雅黑"/>
                </a:rPr>
                <a:t>。</a:t>
              </a:r>
              <a:r>
                <a:rPr lang="zh-CN" altLang="en-US" sz="1000" dirty="0" smtClean="0">
                  <a:solidFill>
                    <a:schemeClr val="tx1">
                      <a:lumMod val="75000"/>
                      <a:lumOff val="25000"/>
                    </a:schemeClr>
                  </a:solidFill>
                  <a:latin typeface="Century Gothic"/>
                  <a:ea typeface="微软雅黑"/>
                </a:rPr>
                <a:t>继而导致</a:t>
              </a:r>
              <a:r>
                <a:rPr lang="zh-CN" altLang="zh-CN" sz="1000" dirty="0" smtClean="0">
                  <a:solidFill>
                    <a:schemeClr val="tx1">
                      <a:lumMod val="75000"/>
                      <a:lumOff val="25000"/>
                    </a:schemeClr>
                  </a:solidFill>
                  <a:latin typeface="Century Gothic"/>
                  <a:ea typeface="微软雅黑"/>
                </a:rPr>
                <a:t>襟翼保护系统工作，切断液力系统</a:t>
              </a:r>
              <a:r>
                <a:rPr lang="zh-CN" altLang="en-US" sz="1000" dirty="0" smtClean="0">
                  <a:solidFill>
                    <a:schemeClr val="tx1">
                      <a:lumMod val="75000"/>
                      <a:lumOff val="25000"/>
                    </a:schemeClr>
                  </a:solidFill>
                  <a:latin typeface="Century Gothic"/>
                  <a:ea typeface="微软雅黑"/>
                </a:rPr>
                <a:t>；使得襟翼</a:t>
              </a:r>
              <a:r>
                <a:rPr lang="zh-CN" altLang="zh-CN" sz="1000" dirty="0" smtClean="0">
                  <a:solidFill>
                    <a:schemeClr val="tx1">
                      <a:lumMod val="75000"/>
                      <a:lumOff val="25000"/>
                    </a:schemeClr>
                  </a:solidFill>
                  <a:latin typeface="Century Gothic"/>
                  <a:ea typeface="微软雅黑"/>
                </a:rPr>
                <a:t>无法操作，即表现为后缘襟翼卡阻。当飞机落地后同时满足以下三个条件时：左右襟翼位置差〈</a:t>
              </a:r>
              <a:r>
                <a:rPr lang="en-US" altLang="zh-CN" sz="1000" dirty="0" smtClean="0">
                  <a:solidFill>
                    <a:schemeClr val="tx1">
                      <a:lumMod val="75000"/>
                      <a:lumOff val="25000"/>
                    </a:schemeClr>
                  </a:solidFill>
                  <a:latin typeface="Century Gothic"/>
                  <a:ea typeface="微软雅黑"/>
                </a:rPr>
                <a:t>7.5</a:t>
              </a:r>
              <a:r>
                <a:rPr lang="zh-CN" altLang="zh-CN" sz="1000" dirty="0" smtClean="0">
                  <a:solidFill>
                    <a:schemeClr val="tx1">
                      <a:lumMod val="75000"/>
                      <a:lumOff val="25000"/>
                    </a:schemeClr>
                  </a:solidFill>
                  <a:latin typeface="Century Gothic"/>
                  <a:ea typeface="微软雅黑"/>
                </a:rPr>
                <a:t>度；飞机在地面；飞机〈</a:t>
              </a:r>
              <a:r>
                <a:rPr lang="en-US" altLang="zh-CN" sz="1000" dirty="0" smtClean="0">
                  <a:solidFill>
                    <a:schemeClr val="tx1">
                      <a:lumMod val="75000"/>
                      <a:lumOff val="25000"/>
                    </a:schemeClr>
                  </a:solidFill>
                  <a:latin typeface="Century Gothic"/>
                  <a:ea typeface="微软雅黑"/>
                </a:rPr>
                <a:t>60</a:t>
              </a:r>
              <a:r>
                <a:rPr lang="zh-CN" altLang="zh-CN" sz="1000" dirty="0" smtClean="0">
                  <a:solidFill>
                    <a:schemeClr val="tx1">
                      <a:lumMod val="75000"/>
                      <a:lumOff val="25000"/>
                    </a:schemeClr>
                  </a:solidFill>
                  <a:latin typeface="Century Gothic"/>
                  <a:ea typeface="微软雅黑"/>
                </a:rPr>
                <a:t>节；旁通活门会自动复位，卡阻情况消失。</a:t>
              </a:r>
              <a:r>
                <a:rPr lang="zh-CN" altLang="en-US" sz="1000" dirty="0" smtClean="0">
                  <a:solidFill>
                    <a:schemeClr val="tx1">
                      <a:lumMod val="75000"/>
                      <a:lumOff val="25000"/>
                    </a:schemeClr>
                  </a:solidFill>
                  <a:latin typeface="Century Gothic"/>
                  <a:ea typeface="微软雅黑"/>
                </a:rPr>
                <a:t>因此，此故障在地面难以复原。这也为判断故障根本原因带来了不小的困难。</a:t>
              </a:r>
              <a:endParaRPr lang="zh-CN" altLang="zh-CN" sz="1000" dirty="0" smtClean="0">
                <a:solidFill>
                  <a:schemeClr val="tx1">
                    <a:lumMod val="75000"/>
                    <a:lumOff val="25000"/>
                  </a:schemeClr>
                </a:solidFill>
                <a:latin typeface="Century Gothic"/>
                <a:ea typeface="微软雅黑"/>
              </a:endParaRPr>
            </a:p>
            <a:p>
              <a:pPr defTabSz="685446">
                <a:lnSpc>
                  <a:spcPct val="130000"/>
                </a:lnSpc>
                <a:defRPr/>
              </a:pPr>
              <a:endParaRPr lang="zh-CN" altLang="en-US" sz="1000" dirty="0">
                <a:solidFill>
                  <a:schemeClr val="tx1">
                    <a:lumMod val="75000"/>
                    <a:lumOff val="25000"/>
                  </a:schemeClr>
                </a:solidFill>
                <a:latin typeface="Century Gothic"/>
                <a:ea typeface="微软雅黑"/>
              </a:endParaRPr>
            </a:p>
          </p:txBody>
        </p:sp>
        <p:sp>
          <p:nvSpPr>
            <p:cNvPr id="31" name="矩形 30"/>
            <p:cNvSpPr/>
            <p:nvPr/>
          </p:nvSpPr>
          <p:spPr>
            <a:xfrm>
              <a:off x="247498" y="2041376"/>
              <a:ext cx="1935284" cy="403384"/>
            </a:xfrm>
            <a:prstGeom prst="rect">
              <a:avLst/>
            </a:prstGeom>
          </p:spPr>
          <p:txBody>
            <a:bodyPr wrap="none">
              <a:spAutoFit/>
            </a:bodyPr>
            <a:lstStyle/>
            <a:p>
              <a:pPr defTabSz="685446">
                <a:lnSpc>
                  <a:spcPct val="130000"/>
                </a:lnSpc>
                <a:defRPr/>
              </a:pPr>
              <a:r>
                <a:rPr lang="zh-CN" altLang="en-US" sz="1050" b="1" kern="0" dirty="0">
                  <a:solidFill>
                    <a:schemeClr val="tx1">
                      <a:lumMod val="75000"/>
                      <a:lumOff val="25000"/>
                    </a:schemeClr>
                  </a:solidFill>
                  <a:ea typeface="微软雅黑" panose="020B0503020204020204" pitchFamily="34" charset="-122"/>
                </a:rPr>
                <a:t>探测</a:t>
              </a:r>
              <a:r>
                <a:rPr lang="zh-CN" altLang="en-US" sz="1050" b="1" kern="0" dirty="0" smtClean="0">
                  <a:solidFill>
                    <a:schemeClr val="tx1">
                      <a:lumMod val="75000"/>
                      <a:lumOff val="25000"/>
                    </a:schemeClr>
                  </a:solidFill>
                  <a:ea typeface="微软雅黑" panose="020B0503020204020204" pitchFamily="34" charset="-122"/>
                </a:rPr>
                <a:t>系统故障：传感器、电子组件（</a:t>
              </a:r>
              <a:r>
                <a:rPr lang="en-US" altLang="zh-CN" sz="1050" b="1" kern="0" dirty="0" smtClean="0">
                  <a:solidFill>
                    <a:schemeClr val="tx1">
                      <a:lumMod val="75000"/>
                      <a:lumOff val="25000"/>
                    </a:schemeClr>
                  </a:solidFill>
                  <a:ea typeface="微软雅黑" panose="020B0503020204020204" pitchFamily="34" charset="-122"/>
                </a:rPr>
                <a:t>FSEU</a:t>
              </a:r>
              <a:r>
                <a:rPr lang="zh-CN" altLang="en-US" sz="1050" b="1" kern="0" dirty="0" smtClean="0">
                  <a:solidFill>
                    <a:schemeClr val="tx1">
                      <a:lumMod val="75000"/>
                      <a:lumOff val="25000"/>
                    </a:schemeClr>
                  </a:solidFill>
                  <a:ea typeface="微软雅黑" panose="020B0503020204020204" pitchFamily="34" charset="-122"/>
                </a:rPr>
                <a:t>）或线路故障</a:t>
              </a:r>
              <a:endParaRPr lang="en-US" altLang="zh-CN" sz="1050" b="1" kern="0" dirty="0">
                <a:solidFill>
                  <a:schemeClr val="tx1">
                    <a:lumMod val="75000"/>
                    <a:lumOff val="25000"/>
                  </a:schemeClr>
                </a:solidFill>
                <a:ea typeface="微软雅黑" panose="020B0503020204020204" pitchFamily="34" charset="-122"/>
              </a:endParaRPr>
            </a:p>
          </p:txBody>
        </p:sp>
      </p:grpSp>
      <p:sp>
        <p:nvSpPr>
          <p:cNvPr id="35" name="TextBox 11"/>
          <p:cNvSpPr txBox="1"/>
          <p:nvPr/>
        </p:nvSpPr>
        <p:spPr>
          <a:xfrm>
            <a:off x="2753550" y="344242"/>
            <a:ext cx="2113003"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背景说明及相关信息</a:t>
            </a:r>
            <a:endParaRPr lang="zh-CN" altLang="en-US" sz="400" dirty="0">
              <a:latin typeface="微软雅黑" panose="020B0503020204020204" pitchFamily="34" charset="-122"/>
              <a:ea typeface="微软雅黑" panose="020B0503020204020204" pitchFamily="34" charset="-122"/>
            </a:endParaRPr>
          </a:p>
        </p:txBody>
      </p:sp>
      <p:pic>
        <p:nvPicPr>
          <p:cNvPr id="36" name="图片 35"/>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898285" y="365011"/>
            <a:ext cx="852474" cy="293710"/>
          </a:xfrm>
          <a:prstGeom prst="rect">
            <a:avLst/>
          </a:prstGeom>
        </p:spPr>
      </p:pic>
      <p:grpSp>
        <p:nvGrpSpPr>
          <p:cNvPr id="37" name="组合 36"/>
          <p:cNvGrpSpPr/>
          <p:nvPr/>
        </p:nvGrpSpPr>
        <p:grpSpPr>
          <a:xfrm>
            <a:off x="3403238" y="740985"/>
            <a:ext cx="3111865" cy="306371"/>
            <a:chOff x="5283922" y="1205118"/>
            <a:chExt cx="3384376" cy="264650"/>
          </a:xfrm>
        </p:grpSpPr>
        <p:sp>
          <p:nvSpPr>
            <p:cNvPr id="38" name="矩形 37"/>
            <p:cNvSpPr/>
            <p:nvPr/>
          </p:nvSpPr>
          <p:spPr>
            <a:xfrm>
              <a:off x="5283922" y="1205118"/>
              <a:ext cx="3384376" cy="26465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59" dirty="0">
                <a:ea typeface="微软雅黑" panose="020B0503020204020204" pitchFamily="34" charset="-122"/>
              </a:endParaRPr>
            </a:p>
          </p:txBody>
        </p:sp>
        <p:sp>
          <p:nvSpPr>
            <p:cNvPr id="39" name="TextBox 15"/>
            <p:cNvSpPr txBox="1"/>
            <p:nvPr/>
          </p:nvSpPr>
          <p:spPr>
            <a:xfrm>
              <a:off x="5366507" y="1216094"/>
              <a:ext cx="3219204" cy="239278"/>
            </a:xfrm>
            <a:prstGeom prst="rect">
              <a:avLst/>
            </a:prstGeom>
            <a:noFill/>
          </p:spPr>
          <p:txBody>
            <a:bodyPr wrap="square" rtlCol="0">
              <a:spAutoFit/>
            </a:bodyPr>
            <a:lstStyle/>
            <a:p>
              <a:r>
                <a:rPr lang="en-US" altLang="zh-CN"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737NG</a:t>
              </a:r>
              <a:r>
                <a:rPr lang="zh-CN" altLang="en-US"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后</a:t>
              </a:r>
              <a:r>
                <a:rPr lang="zh-CN" altLang="en-US" sz="1200" b="1" dirty="0">
                  <a:solidFill>
                    <a:schemeClr val="bg1"/>
                  </a:solidFill>
                  <a:latin typeface="Times New Roman" panose="02020603050405020304" pitchFamily="18" charset="0"/>
                  <a:ea typeface="方正兰亭准黑_GBK" pitchFamily="2" charset="-122"/>
                  <a:cs typeface="Times New Roman" panose="02020603050405020304" pitchFamily="18" charset="0"/>
                </a:rPr>
                <a:t>缘襟翼故障工程</a:t>
              </a:r>
              <a:r>
                <a:rPr lang="zh-CN" altLang="en-US"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调查</a:t>
              </a:r>
              <a:endParaRPr lang="zh-CN" altLang="en-US" sz="1200" b="1" dirty="0">
                <a:solidFill>
                  <a:schemeClr val="bg1"/>
                </a:solidFill>
                <a:latin typeface="Times New Roman" panose="02020603050405020304" pitchFamily="18" charset="0"/>
                <a:ea typeface="方正兰亭准黑_GBK" pitchFamily="2" charset="-122"/>
                <a:cs typeface="Times New Roman" panose="02020603050405020304" pitchFamily="18" charset="0"/>
              </a:endParaRPr>
            </a:p>
          </p:txBody>
        </p:sp>
      </p:grpSp>
      <p:sp>
        <p:nvSpPr>
          <p:cNvPr id="40" name="矩形 39"/>
          <p:cNvSpPr/>
          <p:nvPr/>
        </p:nvSpPr>
        <p:spPr>
          <a:xfrm>
            <a:off x="0" y="1857383"/>
            <a:ext cx="513695" cy="68546"/>
          </a:xfrm>
          <a:prstGeom prst="rect">
            <a:avLst/>
          </a:prstGeom>
          <a:solidFill>
            <a:srgbClr val="40404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799" dirty="0">
              <a:ea typeface="微软雅黑" panose="020B0503020204020204" pitchFamily="34" charset="-122"/>
            </a:endParaRPr>
          </a:p>
        </p:txBody>
      </p:sp>
      <p:sp>
        <p:nvSpPr>
          <p:cNvPr id="41" name="椭圆 40"/>
          <p:cNvSpPr/>
          <p:nvPr/>
        </p:nvSpPr>
        <p:spPr>
          <a:xfrm>
            <a:off x="356292" y="1652318"/>
            <a:ext cx="510070" cy="510070"/>
          </a:xfrm>
          <a:prstGeom prst="ellipse">
            <a:avLst/>
          </a:prstGeom>
          <a:solidFill>
            <a:srgbClr val="40404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dirty="0" smtClean="0">
                <a:ea typeface="微软雅黑" panose="020B0503020204020204" pitchFamily="34" charset="-122"/>
              </a:rPr>
              <a:t>2</a:t>
            </a:r>
            <a:endParaRPr lang="zh-CN" altLang="en-US" sz="1799" dirty="0">
              <a:ea typeface="微软雅黑" panose="020B0503020204020204" pitchFamily="34" charset="-122"/>
            </a:endParaRPr>
          </a:p>
        </p:txBody>
      </p:sp>
      <p:sp>
        <p:nvSpPr>
          <p:cNvPr id="42" name="矩形 41"/>
          <p:cNvSpPr/>
          <p:nvPr/>
        </p:nvSpPr>
        <p:spPr>
          <a:xfrm>
            <a:off x="0" y="2491113"/>
            <a:ext cx="513695" cy="68546"/>
          </a:xfrm>
          <a:prstGeom prst="rect">
            <a:avLst/>
          </a:prstGeom>
          <a:solidFill>
            <a:srgbClr val="40404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799" dirty="0">
              <a:ea typeface="微软雅黑" panose="020B0503020204020204" pitchFamily="34" charset="-122"/>
            </a:endParaRPr>
          </a:p>
        </p:txBody>
      </p:sp>
      <p:sp>
        <p:nvSpPr>
          <p:cNvPr id="43" name="椭圆 42"/>
          <p:cNvSpPr/>
          <p:nvPr/>
        </p:nvSpPr>
        <p:spPr>
          <a:xfrm>
            <a:off x="356292" y="2286048"/>
            <a:ext cx="510070" cy="510070"/>
          </a:xfrm>
          <a:prstGeom prst="ellipse">
            <a:avLst/>
          </a:prstGeom>
          <a:solidFill>
            <a:srgbClr val="40404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dirty="0">
                <a:ea typeface="微软雅黑" panose="020B0503020204020204" pitchFamily="34" charset="-122"/>
              </a:rPr>
              <a:t>3</a:t>
            </a:r>
            <a:endParaRPr lang="zh-CN" altLang="en-US" sz="1799" dirty="0">
              <a:ea typeface="微软雅黑" panose="020B0503020204020204" pitchFamily="34" charset="-122"/>
            </a:endParaRPr>
          </a:p>
        </p:txBody>
      </p:sp>
    </p:spTree>
    <p:extLst>
      <p:ext uri="{BB962C8B-B14F-4D97-AF65-F5344CB8AC3E}">
        <p14:creationId xmlns="" xmlns:p14="http://schemas.microsoft.com/office/powerpoint/2010/main" val="3170539256"/>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arn(inVertical)">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500" fill="hold"/>
                                        <p:tgtEl>
                                          <p:spTgt spid="23"/>
                                        </p:tgtEl>
                                        <p:attrNameLst>
                                          <p:attrName>ppt_w</p:attrName>
                                        </p:attrNameLst>
                                      </p:cBhvr>
                                      <p:tavLst>
                                        <p:tav tm="0">
                                          <p:val>
                                            <p:fltVal val="0"/>
                                          </p:val>
                                        </p:tav>
                                        <p:tav tm="100000">
                                          <p:val>
                                            <p:strVal val="#ppt_w"/>
                                          </p:val>
                                        </p:tav>
                                      </p:tavLst>
                                    </p:anim>
                                    <p:anim calcmode="lin" valueType="num">
                                      <p:cBhvr>
                                        <p:cTn id="32" dur="500" fill="hold"/>
                                        <p:tgtEl>
                                          <p:spTgt spid="23"/>
                                        </p:tgtEl>
                                        <p:attrNameLst>
                                          <p:attrName>ppt_h</p:attrName>
                                        </p:attrNameLst>
                                      </p:cBhvr>
                                      <p:tavLst>
                                        <p:tav tm="0">
                                          <p:val>
                                            <p:fltVal val="0"/>
                                          </p:val>
                                        </p:tav>
                                        <p:tav tm="100000">
                                          <p:val>
                                            <p:strVal val="#ppt_h"/>
                                          </p:val>
                                        </p:tav>
                                      </p:tavLst>
                                    </p:anim>
                                    <p:animEffect transition="in" filter="fade">
                                      <p:cBhvr>
                                        <p:cTn id="33" dur="500"/>
                                        <p:tgtEl>
                                          <p:spTgt spid="2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p:cTn id="36" dur="500" fill="hold"/>
                                        <p:tgtEl>
                                          <p:spTgt spid="40"/>
                                        </p:tgtEl>
                                        <p:attrNameLst>
                                          <p:attrName>ppt_w</p:attrName>
                                        </p:attrNameLst>
                                      </p:cBhvr>
                                      <p:tavLst>
                                        <p:tav tm="0">
                                          <p:val>
                                            <p:fltVal val="0"/>
                                          </p:val>
                                        </p:tav>
                                        <p:tav tm="100000">
                                          <p:val>
                                            <p:strVal val="#ppt_w"/>
                                          </p:val>
                                        </p:tav>
                                      </p:tavLst>
                                    </p:anim>
                                    <p:anim calcmode="lin" valueType="num">
                                      <p:cBhvr>
                                        <p:cTn id="37" dur="500" fill="hold"/>
                                        <p:tgtEl>
                                          <p:spTgt spid="40"/>
                                        </p:tgtEl>
                                        <p:attrNameLst>
                                          <p:attrName>ppt_h</p:attrName>
                                        </p:attrNameLst>
                                      </p:cBhvr>
                                      <p:tavLst>
                                        <p:tav tm="0">
                                          <p:val>
                                            <p:fltVal val="0"/>
                                          </p:val>
                                        </p:tav>
                                        <p:tav tm="100000">
                                          <p:val>
                                            <p:strVal val="#ppt_h"/>
                                          </p:val>
                                        </p:tav>
                                      </p:tavLst>
                                    </p:anim>
                                    <p:animEffect transition="in" filter="fade">
                                      <p:cBhvr>
                                        <p:cTn id="38" dur="500"/>
                                        <p:tgtEl>
                                          <p:spTgt spid="4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p:cTn id="41" dur="500" fill="hold"/>
                                        <p:tgtEl>
                                          <p:spTgt spid="41"/>
                                        </p:tgtEl>
                                        <p:attrNameLst>
                                          <p:attrName>ppt_w</p:attrName>
                                        </p:attrNameLst>
                                      </p:cBhvr>
                                      <p:tavLst>
                                        <p:tav tm="0">
                                          <p:val>
                                            <p:fltVal val="0"/>
                                          </p:val>
                                        </p:tav>
                                        <p:tav tm="100000">
                                          <p:val>
                                            <p:strVal val="#ppt_w"/>
                                          </p:val>
                                        </p:tav>
                                      </p:tavLst>
                                    </p:anim>
                                    <p:anim calcmode="lin" valueType="num">
                                      <p:cBhvr>
                                        <p:cTn id="42" dur="500" fill="hold"/>
                                        <p:tgtEl>
                                          <p:spTgt spid="41"/>
                                        </p:tgtEl>
                                        <p:attrNameLst>
                                          <p:attrName>ppt_h</p:attrName>
                                        </p:attrNameLst>
                                      </p:cBhvr>
                                      <p:tavLst>
                                        <p:tav tm="0">
                                          <p:val>
                                            <p:fltVal val="0"/>
                                          </p:val>
                                        </p:tav>
                                        <p:tav tm="100000">
                                          <p:val>
                                            <p:strVal val="#ppt_h"/>
                                          </p:val>
                                        </p:tav>
                                      </p:tavLst>
                                    </p:anim>
                                    <p:animEffect transition="in" filter="fade">
                                      <p:cBhvr>
                                        <p:cTn id="43" dur="500"/>
                                        <p:tgtEl>
                                          <p:spTgt spid="4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p:cTn id="46" dur="500" fill="hold"/>
                                        <p:tgtEl>
                                          <p:spTgt spid="42"/>
                                        </p:tgtEl>
                                        <p:attrNameLst>
                                          <p:attrName>ppt_w</p:attrName>
                                        </p:attrNameLst>
                                      </p:cBhvr>
                                      <p:tavLst>
                                        <p:tav tm="0">
                                          <p:val>
                                            <p:fltVal val="0"/>
                                          </p:val>
                                        </p:tav>
                                        <p:tav tm="100000">
                                          <p:val>
                                            <p:strVal val="#ppt_w"/>
                                          </p:val>
                                        </p:tav>
                                      </p:tavLst>
                                    </p:anim>
                                    <p:anim calcmode="lin" valueType="num">
                                      <p:cBhvr>
                                        <p:cTn id="47" dur="500" fill="hold"/>
                                        <p:tgtEl>
                                          <p:spTgt spid="42"/>
                                        </p:tgtEl>
                                        <p:attrNameLst>
                                          <p:attrName>ppt_h</p:attrName>
                                        </p:attrNameLst>
                                      </p:cBhvr>
                                      <p:tavLst>
                                        <p:tav tm="0">
                                          <p:val>
                                            <p:fltVal val="0"/>
                                          </p:val>
                                        </p:tav>
                                        <p:tav tm="100000">
                                          <p:val>
                                            <p:strVal val="#ppt_h"/>
                                          </p:val>
                                        </p:tav>
                                      </p:tavLst>
                                    </p:anim>
                                    <p:animEffect transition="in" filter="fade">
                                      <p:cBhvr>
                                        <p:cTn id="48" dur="500"/>
                                        <p:tgtEl>
                                          <p:spTgt spid="42"/>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p:cTn id="51" dur="500" fill="hold"/>
                                        <p:tgtEl>
                                          <p:spTgt spid="43"/>
                                        </p:tgtEl>
                                        <p:attrNameLst>
                                          <p:attrName>ppt_w</p:attrName>
                                        </p:attrNameLst>
                                      </p:cBhvr>
                                      <p:tavLst>
                                        <p:tav tm="0">
                                          <p:val>
                                            <p:fltVal val="0"/>
                                          </p:val>
                                        </p:tav>
                                        <p:tav tm="100000">
                                          <p:val>
                                            <p:strVal val="#ppt_w"/>
                                          </p:val>
                                        </p:tav>
                                      </p:tavLst>
                                    </p:anim>
                                    <p:anim calcmode="lin" valueType="num">
                                      <p:cBhvr>
                                        <p:cTn id="52" dur="500" fill="hold"/>
                                        <p:tgtEl>
                                          <p:spTgt spid="43"/>
                                        </p:tgtEl>
                                        <p:attrNameLst>
                                          <p:attrName>ppt_h</p:attrName>
                                        </p:attrNameLst>
                                      </p:cBhvr>
                                      <p:tavLst>
                                        <p:tav tm="0">
                                          <p:val>
                                            <p:fltVal val="0"/>
                                          </p:val>
                                        </p:tav>
                                        <p:tav tm="100000">
                                          <p:val>
                                            <p:strVal val="#ppt_h"/>
                                          </p:val>
                                        </p:tav>
                                      </p:tavLst>
                                    </p:anim>
                                    <p:animEffect transition="in" filter="fade">
                                      <p:cBhvr>
                                        <p:cTn id="53" dur="500"/>
                                        <p:tgtEl>
                                          <p:spTgt spid="43"/>
                                        </p:tgtEl>
                                      </p:cBhvr>
                                    </p:animEffect>
                                  </p:childTnLst>
                                </p:cTn>
                              </p:par>
                              <p:par>
                                <p:cTn id="54" presetID="53" presetClass="entr" presetSubtype="16"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 calcmode="lin" valueType="num">
                                      <p:cBhvr>
                                        <p:cTn id="56" dur="500" fill="hold"/>
                                        <p:tgtEl>
                                          <p:spTgt spid="26"/>
                                        </p:tgtEl>
                                        <p:attrNameLst>
                                          <p:attrName>ppt_w</p:attrName>
                                        </p:attrNameLst>
                                      </p:cBhvr>
                                      <p:tavLst>
                                        <p:tav tm="0">
                                          <p:val>
                                            <p:fltVal val="0"/>
                                          </p:val>
                                        </p:tav>
                                        <p:tav tm="100000">
                                          <p:val>
                                            <p:strVal val="#ppt_w"/>
                                          </p:val>
                                        </p:tav>
                                      </p:tavLst>
                                    </p:anim>
                                    <p:anim calcmode="lin" valueType="num">
                                      <p:cBhvr>
                                        <p:cTn id="57" dur="500" fill="hold"/>
                                        <p:tgtEl>
                                          <p:spTgt spid="26"/>
                                        </p:tgtEl>
                                        <p:attrNameLst>
                                          <p:attrName>ppt_h</p:attrName>
                                        </p:attrNameLst>
                                      </p:cBhvr>
                                      <p:tavLst>
                                        <p:tav tm="0">
                                          <p:val>
                                            <p:fltVal val="0"/>
                                          </p:val>
                                        </p:tav>
                                        <p:tav tm="100000">
                                          <p:val>
                                            <p:strVal val="#ppt_h"/>
                                          </p:val>
                                        </p:tav>
                                      </p:tavLst>
                                    </p:anim>
                                    <p:animEffect transition="in" filter="fade">
                                      <p:cBhvr>
                                        <p:cTn id="58" dur="500"/>
                                        <p:tgtEl>
                                          <p:spTgt spid="26"/>
                                        </p:tgtEl>
                                      </p:cBhvr>
                                    </p:animEffect>
                                  </p:childTnLst>
                                </p:cTn>
                              </p:par>
                              <p:par>
                                <p:cTn id="59" presetID="53" presetClass="entr" presetSubtype="16"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 calcmode="lin" valueType="num">
                                      <p:cBhvr>
                                        <p:cTn id="61" dur="500" fill="hold"/>
                                        <p:tgtEl>
                                          <p:spTgt spid="29"/>
                                        </p:tgtEl>
                                        <p:attrNameLst>
                                          <p:attrName>ppt_w</p:attrName>
                                        </p:attrNameLst>
                                      </p:cBhvr>
                                      <p:tavLst>
                                        <p:tav tm="0">
                                          <p:val>
                                            <p:fltVal val="0"/>
                                          </p:val>
                                        </p:tav>
                                        <p:tav tm="100000">
                                          <p:val>
                                            <p:strVal val="#ppt_w"/>
                                          </p:val>
                                        </p:tav>
                                      </p:tavLst>
                                    </p:anim>
                                    <p:anim calcmode="lin" valueType="num">
                                      <p:cBhvr>
                                        <p:cTn id="62" dur="500" fill="hold"/>
                                        <p:tgtEl>
                                          <p:spTgt spid="29"/>
                                        </p:tgtEl>
                                        <p:attrNameLst>
                                          <p:attrName>ppt_h</p:attrName>
                                        </p:attrNameLst>
                                      </p:cBhvr>
                                      <p:tavLst>
                                        <p:tav tm="0">
                                          <p:val>
                                            <p:fltVal val="0"/>
                                          </p:val>
                                        </p:tav>
                                        <p:tav tm="100000">
                                          <p:val>
                                            <p:strVal val="#ppt_h"/>
                                          </p:val>
                                        </p:tav>
                                      </p:tavLst>
                                    </p:anim>
                                    <p:animEffect transition="in" filter="fade">
                                      <p:cBhvr>
                                        <p:cTn id="63" dur="500"/>
                                        <p:tgtEl>
                                          <p:spTgt spid="29"/>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fltVal val="0"/>
                                          </p:val>
                                        </p:tav>
                                        <p:tav tm="100000">
                                          <p:val>
                                            <p:strVal val="#ppt_w"/>
                                          </p:val>
                                        </p:tav>
                                      </p:tavLst>
                                    </p:anim>
                                    <p:anim calcmode="lin" valueType="num">
                                      <p:cBhvr>
                                        <p:cTn id="67" dur="500" fill="hold"/>
                                        <p:tgtEl>
                                          <p:spTgt spid="18"/>
                                        </p:tgtEl>
                                        <p:attrNameLst>
                                          <p:attrName>ppt_h</p:attrName>
                                        </p:attrNameLst>
                                      </p:cBhvr>
                                      <p:tavLst>
                                        <p:tav tm="0">
                                          <p:val>
                                            <p:fltVal val="0"/>
                                          </p:val>
                                        </p:tav>
                                        <p:tav tm="100000">
                                          <p:val>
                                            <p:strVal val="#ppt_h"/>
                                          </p:val>
                                        </p:tav>
                                      </p:tavLst>
                                    </p:anim>
                                    <p:animEffect transition="in" filter="fade">
                                      <p:cBhvr>
                                        <p:cTn id="68" dur="500"/>
                                        <p:tgtEl>
                                          <p:spTgt spid="18"/>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p:cTn id="71" dur="500" fill="hold"/>
                                        <p:tgtEl>
                                          <p:spTgt spid="19"/>
                                        </p:tgtEl>
                                        <p:attrNameLst>
                                          <p:attrName>ppt_w</p:attrName>
                                        </p:attrNameLst>
                                      </p:cBhvr>
                                      <p:tavLst>
                                        <p:tav tm="0">
                                          <p:val>
                                            <p:fltVal val="0"/>
                                          </p:val>
                                        </p:tav>
                                        <p:tav tm="100000">
                                          <p:val>
                                            <p:strVal val="#ppt_w"/>
                                          </p:val>
                                        </p:tav>
                                      </p:tavLst>
                                    </p:anim>
                                    <p:anim calcmode="lin" valueType="num">
                                      <p:cBhvr>
                                        <p:cTn id="72" dur="500" fill="hold"/>
                                        <p:tgtEl>
                                          <p:spTgt spid="19"/>
                                        </p:tgtEl>
                                        <p:attrNameLst>
                                          <p:attrName>ppt_h</p:attrName>
                                        </p:attrNameLst>
                                      </p:cBhvr>
                                      <p:tavLst>
                                        <p:tav tm="0">
                                          <p:val>
                                            <p:fltVal val="0"/>
                                          </p:val>
                                        </p:tav>
                                        <p:tav tm="100000">
                                          <p:val>
                                            <p:strVal val="#ppt_h"/>
                                          </p:val>
                                        </p:tav>
                                      </p:tavLst>
                                    </p:anim>
                                    <p:animEffect transition="in" filter="fade">
                                      <p:cBhvr>
                                        <p:cTn id="7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19" grpId="0" animBg="1"/>
      <p:bldP spid="35" grpId="0"/>
      <p:bldP spid="40" grpId="0" animBg="1"/>
      <p:bldP spid="41" grpId="0" animBg="1"/>
      <p:bldP spid="42"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13609" y="1291810"/>
            <a:ext cx="2532562" cy="2047292"/>
          </a:xfrm>
          <a:prstGeom prst="rect">
            <a:avLst/>
          </a:prstGeom>
          <a:noFill/>
        </p:spPr>
        <p:txBody>
          <a:bodyPr wrap="square" rtlCol="0" anchor="ctr">
            <a:spAutoFit/>
          </a:bodyPr>
          <a:lstStyle/>
          <a:p>
            <a:pPr algn="ctr">
              <a:lnSpc>
                <a:spcPct val="150000"/>
              </a:lnSpc>
            </a:pPr>
            <a:r>
              <a:rPr lang="en-US" altLang="zh-CN" sz="9600" dirty="0">
                <a:latin typeface="微软雅黑" panose="020B0503020204020204" pitchFamily="34" charset="-122"/>
                <a:ea typeface="微软雅黑" panose="020B0503020204020204" pitchFamily="34" charset="-122"/>
              </a:rPr>
              <a:t>2</a:t>
            </a:r>
          </a:p>
        </p:txBody>
      </p:sp>
      <p:sp>
        <p:nvSpPr>
          <p:cNvPr id="6" name="文本框 5"/>
          <p:cNvSpPr txBox="1"/>
          <p:nvPr/>
        </p:nvSpPr>
        <p:spPr>
          <a:xfrm>
            <a:off x="3311688" y="2097103"/>
            <a:ext cx="2758911" cy="646331"/>
          </a:xfrm>
          <a:prstGeom prst="rect">
            <a:avLst/>
          </a:prstGeom>
          <a:noFill/>
        </p:spPr>
        <p:txBody>
          <a:bodyPr wrap="square" rtlCol="0">
            <a:spAutoFit/>
          </a:bodyPr>
          <a:lstStyle/>
          <a:p>
            <a:pPr algn="just">
              <a:lnSpc>
                <a:spcPct val="150000"/>
              </a:lnSpc>
            </a:pPr>
            <a:r>
              <a:rPr lang="zh-CN" altLang="en-US" sz="2400" dirty="0" smtClean="0">
                <a:latin typeface="微软雅黑" panose="020B0503020204020204" pitchFamily="34" charset="-122"/>
                <a:ea typeface="微软雅黑" panose="020B0503020204020204" pitchFamily="34" charset="-122"/>
              </a:rPr>
              <a:t>可</a:t>
            </a:r>
            <a:r>
              <a:rPr lang="zh-CN" altLang="en-US" sz="2400" dirty="0">
                <a:latin typeface="微软雅黑" panose="020B0503020204020204" pitchFamily="34" charset="-122"/>
                <a:ea typeface="微软雅黑" panose="020B0503020204020204" pitchFamily="34" charset="-122"/>
              </a:rPr>
              <a:t>靠性数据</a:t>
            </a:r>
            <a:endParaRPr lang="en-US" altLang="zh-CN" sz="2400"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2025650" y="2262203"/>
            <a:ext cx="1043527" cy="344343"/>
          </a:xfrm>
          <a:prstGeom prst="rect">
            <a:avLst/>
          </a:prstGeom>
        </p:spPr>
      </p:pic>
    </p:spTree>
    <p:extLst>
      <p:ext uri="{BB962C8B-B14F-4D97-AF65-F5344CB8AC3E}">
        <p14:creationId xmlns="" xmlns:p14="http://schemas.microsoft.com/office/powerpoint/2010/main" val="225068891"/>
      </p:ext>
    </p:extLst>
  </p:cSld>
  <p:clrMapOvr>
    <a:masterClrMapping/>
  </p:clrMapOvr>
  <mc:AlternateContent xmlns:mc="http://schemas.openxmlformats.org/markup-compatibility/2006">
    <mc:Choice xmlns=""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1500"/>
                                        <p:tgtEl>
                                          <p:spTgt spid="4"/>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07818" y="346889"/>
            <a:ext cx="539519" cy="51003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grpSp>
        <p:nvGrpSpPr>
          <p:cNvPr id="21" name="组合 20"/>
          <p:cNvGrpSpPr/>
          <p:nvPr/>
        </p:nvGrpSpPr>
        <p:grpSpPr>
          <a:xfrm>
            <a:off x="378666" y="928914"/>
            <a:ext cx="2024878" cy="302012"/>
            <a:chOff x="1129034" y="49188"/>
            <a:chExt cx="2086178" cy="679353"/>
          </a:xfrm>
        </p:grpSpPr>
        <p:sp>
          <p:nvSpPr>
            <p:cNvPr id="23" name="任意多边形 22"/>
            <p:cNvSpPr/>
            <p:nvPr/>
          </p:nvSpPr>
          <p:spPr>
            <a:xfrm>
              <a:off x="1129034" y="49188"/>
              <a:ext cx="1307581"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24" name="TextBox 11"/>
            <p:cNvSpPr txBox="1"/>
            <p:nvPr/>
          </p:nvSpPr>
          <p:spPr>
            <a:xfrm>
              <a:off x="1246124" y="100261"/>
              <a:ext cx="1969088" cy="628280"/>
            </a:xfrm>
            <a:prstGeom prst="rect">
              <a:avLst/>
            </a:prstGeom>
            <a:noFill/>
          </p:spPr>
          <p:txBody>
            <a:bodyPr wrap="square" rtlCol="0">
              <a:spAutoFit/>
            </a:bodyPr>
            <a:lstStyle/>
            <a:p>
              <a:r>
                <a:rPr lang="zh-CN" altLang="en-US" sz="1215" b="1" dirty="0" smtClean="0">
                  <a:solidFill>
                    <a:schemeClr val="bg1"/>
                  </a:solidFill>
                  <a:latin typeface="方正粗倩简体" panose="03000509000000000000" pitchFamily="65" charset="-122"/>
                  <a:ea typeface="方正粗倩简体" panose="03000509000000000000" pitchFamily="65" charset="-122"/>
                </a:rPr>
                <a:t>不正常千次率</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sp>
        <p:nvSpPr>
          <p:cNvPr id="27" name="矩形 26"/>
          <p:cNvSpPr/>
          <p:nvPr/>
        </p:nvSpPr>
        <p:spPr>
          <a:xfrm>
            <a:off x="0" y="1522738"/>
            <a:ext cx="513695" cy="68546"/>
          </a:xfrm>
          <a:prstGeom prst="rect">
            <a:avLst/>
          </a:prstGeom>
          <a:solidFill>
            <a:srgbClr val="40404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799" dirty="0">
              <a:ea typeface="微软雅黑" panose="020B0503020204020204" pitchFamily="34" charset="-122"/>
            </a:endParaRPr>
          </a:p>
        </p:txBody>
      </p:sp>
      <p:sp>
        <p:nvSpPr>
          <p:cNvPr id="31" name="椭圆 30"/>
          <p:cNvSpPr/>
          <p:nvPr/>
        </p:nvSpPr>
        <p:spPr>
          <a:xfrm>
            <a:off x="356292" y="1317673"/>
            <a:ext cx="510070" cy="510070"/>
          </a:xfrm>
          <a:prstGeom prst="ellipse">
            <a:avLst/>
          </a:prstGeom>
          <a:solidFill>
            <a:srgbClr val="40404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dirty="0" smtClean="0">
                <a:ea typeface="微软雅黑" panose="020B0503020204020204" pitchFamily="34" charset="-122"/>
              </a:rPr>
              <a:t>1</a:t>
            </a:r>
            <a:endParaRPr lang="zh-CN" altLang="en-US" sz="1799" dirty="0">
              <a:ea typeface="微软雅黑" panose="020B0503020204020204" pitchFamily="34" charset="-122"/>
            </a:endParaRPr>
          </a:p>
        </p:txBody>
      </p:sp>
      <p:sp>
        <p:nvSpPr>
          <p:cNvPr id="33" name="文本框 23"/>
          <p:cNvSpPr txBox="1"/>
          <p:nvPr/>
        </p:nvSpPr>
        <p:spPr>
          <a:xfrm>
            <a:off x="1024186" y="1333501"/>
            <a:ext cx="5646255" cy="6924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46">
              <a:lnSpc>
                <a:spcPct val="130000"/>
              </a:lnSpc>
              <a:defRPr/>
            </a:pPr>
            <a:r>
              <a:rPr lang="zh-CN" altLang="en-US" sz="1000" dirty="0" smtClean="0">
                <a:solidFill>
                  <a:schemeClr val="tx1">
                    <a:lumMod val="75000"/>
                    <a:lumOff val="25000"/>
                  </a:schemeClr>
                </a:solidFill>
                <a:latin typeface="Century Gothic"/>
                <a:ea typeface="微软雅黑"/>
              </a:rPr>
              <a:t>根据国航的定义，不正常事件包括：复飞、延误、航班取消、返航以及备降事件。经查可靠性系统，近五年内，</a:t>
            </a:r>
            <a:r>
              <a:rPr lang="en-US" altLang="zh-CN" sz="1000" dirty="0" smtClean="0">
                <a:solidFill>
                  <a:schemeClr val="tx1">
                    <a:lumMod val="75000"/>
                    <a:lumOff val="25000"/>
                  </a:schemeClr>
                </a:solidFill>
                <a:latin typeface="Century Gothic"/>
                <a:ea typeface="微软雅黑"/>
              </a:rPr>
              <a:t>ATA2751</a:t>
            </a:r>
            <a:r>
              <a:rPr lang="zh-CN" altLang="en-US" sz="1000" dirty="0" smtClean="0">
                <a:solidFill>
                  <a:schemeClr val="tx1">
                    <a:lumMod val="75000"/>
                    <a:lumOff val="25000"/>
                  </a:schemeClr>
                </a:solidFill>
                <a:latin typeface="Century Gothic"/>
                <a:ea typeface="微软雅黑"/>
              </a:rPr>
              <a:t>所发生的不正常事件共计</a:t>
            </a:r>
            <a:r>
              <a:rPr lang="en-US" altLang="zh-CN" sz="1000" b="1" dirty="0" smtClean="0">
                <a:solidFill>
                  <a:srgbClr val="FF0000"/>
                </a:solidFill>
                <a:latin typeface="Century Gothic"/>
                <a:ea typeface="微软雅黑"/>
              </a:rPr>
              <a:t>56</a:t>
            </a:r>
            <a:r>
              <a:rPr lang="zh-CN" altLang="en-US" sz="1000" dirty="0" smtClean="0">
                <a:solidFill>
                  <a:schemeClr val="tx1">
                    <a:lumMod val="75000"/>
                    <a:lumOff val="25000"/>
                  </a:schemeClr>
                </a:solidFill>
                <a:latin typeface="Century Gothic"/>
                <a:ea typeface="微软雅黑"/>
              </a:rPr>
              <a:t>起，月平均不正常千次率</a:t>
            </a:r>
            <a:r>
              <a:rPr lang="en-US" altLang="zh-CN" sz="1000" dirty="0" smtClean="0">
                <a:solidFill>
                  <a:schemeClr val="tx1">
                    <a:lumMod val="75000"/>
                    <a:lumOff val="25000"/>
                  </a:schemeClr>
                </a:solidFill>
                <a:latin typeface="Century Gothic"/>
                <a:ea typeface="微软雅黑"/>
              </a:rPr>
              <a:t>0.007%</a:t>
            </a:r>
            <a:r>
              <a:rPr lang="zh-CN" altLang="en-US" sz="1000" dirty="0" smtClean="0">
                <a:solidFill>
                  <a:schemeClr val="tx1">
                    <a:lumMod val="75000"/>
                    <a:lumOff val="25000"/>
                  </a:schemeClr>
                </a:solidFill>
                <a:latin typeface="Century Gothic"/>
                <a:ea typeface="微软雅黑"/>
              </a:rPr>
              <a:t>。自</a:t>
            </a:r>
            <a:r>
              <a:rPr lang="en-US" altLang="zh-CN" sz="1000" dirty="0" smtClean="0">
                <a:solidFill>
                  <a:schemeClr val="tx1">
                    <a:lumMod val="75000"/>
                    <a:lumOff val="25000"/>
                  </a:schemeClr>
                </a:solidFill>
                <a:latin typeface="Century Gothic"/>
                <a:ea typeface="微软雅黑"/>
              </a:rPr>
              <a:t>2017</a:t>
            </a:r>
            <a:r>
              <a:rPr lang="zh-CN" altLang="en-US" sz="1000" dirty="0" smtClean="0">
                <a:solidFill>
                  <a:schemeClr val="tx1">
                    <a:lumMod val="75000"/>
                    <a:lumOff val="25000"/>
                  </a:schemeClr>
                </a:solidFill>
                <a:latin typeface="Century Gothic"/>
                <a:ea typeface="微软雅黑"/>
              </a:rPr>
              <a:t>年</a:t>
            </a:r>
            <a:r>
              <a:rPr lang="en-US" altLang="zh-CN" sz="1000" dirty="0" smtClean="0">
                <a:solidFill>
                  <a:schemeClr val="tx1">
                    <a:lumMod val="75000"/>
                    <a:lumOff val="25000"/>
                  </a:schemeClr>
                </a:solidFill>
                <a:latin typeface="Century Gothic"/>
                <a:ea typeface="微软雅黑"/>
              </a:rPr>
              <a:t>3</a:t>
            </a:r>
            <a:r>
              <a:rPr lang="zh-CN" altLang="en-US" sz="1000" dirty="0" smtClean="0">
                <a:solidFill>
                  <a:schemeClr val="tx1">
                    <a:lumMod val="75000"/>
                    <a:lumOff val="25000"/>
                  </a:schemeClr>
                </a:solidFill>
                <a:latin typeface="Century Gothic"/>
                <a:ea typeface="微软雅黑"/>
              </a:rPr>
              <a:t>月至今，月不正常事件千次率趋势如下图。</a:t>
            </a:r>
            <a:endParaRPr lang="zh-CN" altLang="en-US" sz="1000" dirty="0">
              <a:solidFill>
                <a:schemeClr val="tx1">
                  <a:lumMod val="75000"/>
                  <a:lumOff val="25000"/>
                </a:schemeClr>
              </a:solidFill>
              <a:latin typeface="Century Gothic"/>
              <a:ea typeface="微软雅黑"/>
            </a:endParaRPr>
          </a:p>
        </p:txBody>
      </p:sp>
      <p:pic>
        <p:nvPicPr>
          <p:cNvPr id="40" name="图片 39" descr="NG ATA2751 近五年不正常千次率趋势图.jpg"/>
          <p:cNvPicPr>
            <a:picLocks noChangeAspect="1"/>
          </p:cNvPicPr>
          <p:nvPr/>
        </p:nvPicPr>
        <p:blipFill>
          <a:blip r:embed="rId4" cstate="print"/>
          <a:stretch>
            <a:fillRect/>
          </a:stretch>
        </p:blipFill>
        <p:spPr>
          <a:xfrm>
            <a:off x="0" y="2124075"/>
            <a:ext cx="6858000" cy="2466975"/>
          </a:xfrm>
          <a:prstGeom prst="rect">
            <a:avLst/>
          </a:prstGeom>
        </p:spPr>
      </p:pic>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par>
                                <p:cTn id="21" presetID="42"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1000"/>
                                        <p:tgtEl>
                                          <p:spTgt spid="21"/>
                                        </p:tgtEl>
                                      </p:cBhvr>
                                    </p:animEffect>
                                    <p:anim calcmode="lin" valueType="num">
                                      <p:cBhvr>
                                        <p:cTn id="24" dur="1000" fill="hold"/>
                                        <p:tgtEl>
                                          <p:spTgt spid="21"/>
                                        </p:tgtEl>
                                        <p:attrNameLst>
                                          <p:attrName>ppt_x</p:attrName>
                                        </p:attrNameLst>
                                      </p:cBhvr>
                                      <p:tavLst>
                                        <p:tav tm="0">
                                          <p:val>
                                            <p:strVal val="#ppt_x"/>
                                          </p:val>
                                        </p:tav>
                                        <p:tav tm="100000">
                                          <p:val>
                                            <p:strVal val="#ppt_x"/>
                                          </p:val>
                                        </p:tav>
                                      </p:tavLst>
                                    </p:anim>
                                    <p:anim calcmode="lin" valueType="num">
                                      <p:cBhvr>
                                        <p:cTn id="2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ppt_x"/>
                                          </p:val>
                                        </p:tav>
                                        <p:tav tm="100000">
                                          <p:val>
                                            <p:strVal val="#ppt_x"/>
                                          </p:val>
                                        </p:tav>
                                      </p:tavLst>
                                    </p:anim>
                                    <p:anim calcmode="lin" valueType="num">
                                      <p:cBhvr additive="base">
                                        <p:cTn id="31"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additive="base">
                                        <p:cTn id="36" dur="500" fill="hold"/>
                                        <p:tgtEl>
                                          <p:spTgt spid="31"/>
                                        </p:tgtEl>
                                        <p:attrNameLst>
                                          <p:attrName>ppt_x</p:attrName>
                                        </p:attrNameLst>
                                      </p:cBhvr>
                                      <p:tavLst>
                                        <p:tav tm="0">
                                          <p:val>
                                            <p:strVal val="#ppt_x"/>
                                          </p:val>
                                        </p:tav>
                                        <p:tav tm="100000">
                                          <p:val>
                                            <p:strVal val="#ppt_x"/>
                                          </p:val>
                                        </p:tav>
                                      </p:tavLst>
                                    </p:anim>
                                    <p:anim calcmode="lin" valueType="num">
                                      <p:cBhvr additive="base">
                                        <p:cTn id="37" dur="500" fill="hold"/>
                                        <p:tgtEl>
                                          <p:spTgt spid="31"/>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cBhvr additive="base">
                                        <p:cTn id="44" dur="500" fill="hold"/>
                                        <p:tgtEl>
                                          <p:spTgt spid="33"/>
                                        </p:tgtEl>
                                        <p:attrNameLst>
                                          <p:attrName>ppt_x</p:attrName>
                                        </p:attrNameLst>
                                      </p:cBhvr>
                                      <p:tavLst>
                                        <p:tav tm="0">
                                          <p:val>
                                            <p:strVal val="#ppt_x"/>
                                          </p:val>
                                        </p:tav>
                                        <p:tav tm="100000">
                                          <p:val>
                                            <p:strVal val="#ppt_x"/>
                                          </p:val>
                                        </p:tav>
                                      </p:tavLst>
                                    </p:anim>
                                    <p:anim calcmode="lin" valueType="num">
                                      <p:cBhvr additive="base">
                                        <p:cTn id="4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27" grpId="0" animBg="1"/>
      <p:bldP spid="31" grpId="0" animBg="1"/>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507818" y="346889"/>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grpSp>
        <p:nvGrpSpPr>
          <p:cNvPr id="5" name="组合 20"/>
          <p:cNvGrpSpPr/>
          <p:nvPr/>
        </p:nvGrpSpPr>
        <p:grpSpPr>
          <a:xfrm>
            <a:off x="378666" y="928914"/>
            <a:ext cx="2024878" cy="302012"/>
            <a:chOff x="1129034" y="49188"/>
            <a:chExt cx="2086178" cy="679353"/>
          </a:xfrm>
        </p:grpSpPr>
        <p:sp>
          <p:nvSpPr>
            <p:cNvPr id="23" name="任意多边形 22"/>
            <p:cNvSpPr/>
            <p:nvPr/>
          </p:nvSpPr>
          <p:spPr>
            <a:xfrm>
              <a:off x="1129034" y="49188"/>
              <a:ext cx="1307581"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24" name="TextBox 11"/>
            <p:cNvSpPr txBox="1"/>
            <p:nvPr/>
          </p:nvSpPr>
          <p:spPr>
            <a:xfrm>
              <a:off x="1246124" y="100261"/>
              <a:ext cx="1969088" cy="628280"/>
            </a:xfrm>
            <a:prstGeom prst="rect">
              <a:avLst/>
            </a:prstGeom>
            <a:noFill/>
          </p:spPr>
          <p:txBody>
            <a:bodyPr wrap="square" rtlCol="0">
              <a:spAutoFit/>
            </a:bodyPr>
            <a:lstStyle/>
            <a:p>
              <a:r>
                <a:rPr lang="zh-CN" altLang="en-US" sz="1215" b="1" dirty="0" smtClean="0">
                  <a:solidFill>
                    <a:schemeClr val="bg1"/>
                  </a:solidFill>
                  <a:latin typeface="方正粗倩简体" panose="03000509000000000000" pitchFamily="65" charset="-122"/>
                  <a:ea typeface="方正粗倩简体" panose="03000509000000000000" pitchFamily="65" charset="-122"/>
                </a:rPr>
                <a:t>不正常千次率</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sp>
        <p:nvSpPr>
          <p:cNvPr id="35" name="矩形 34"/>
          <p:cNvSpPr/>
          <p:nvPr/>
        </p:nvSpPr>
        <p:spPr>
          <a:xfrm>
            <a:off x="0" y="1485908"/>
            <a:ext cx="513695" cy="68546"/>
          </a:xfrm>
          <a:prstGeom prst="rect">
            <a:avLst/>
          </a:prstGeom>
          <a:solidFill>
            <a:srgbClr val="404040"/>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799" dirty="0">
              <a:ea typeface="微软雅黑" panose="020B0503020204020204" pitchFamily="34" charset="-122"/>
            </a:endParaRPr>
          </a:p>
        </p:txBody>
      </p:sp>
      <p:sp>
        <p:nvSpPr>
          <p:cNvPr id="36" name="椭圆 35"/>
          <p:cNvSpPr/>
          <p:nvPr/>
        </p:nvSpPr>
        <p:spPr>
          <a:xfrm>
            <a:off x="356292" y="1280843"/>
            <a:ext cx="510070" cy="510070"/>
          </a:xfrm>
          <a:prstGeom prst="ellipse">
            <a:avLst/>
          </a:prstGeom>
          <a:solidFill>
            <a:srgbClr val="404040"/>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799" dirty="0" smtClean="0">
                <a:ea typeface="微软雅黑" panose="020B0503020204020204" pitchFamily="34" charset="-122"/>
              </a:rPr>
              <a:t>2</a:t>
            </a:r>
            <a:endParaRPr lang="zh-CN" altLang="en-US" sz="1799" dirty="0">
              <a:ea typeface="微软雅黑" panose="020B0503020204020204" pitchFamily="34" charset="-122"/>
            </a:endParaRPr>
          </a:p>
        </p:txBody>
      </p:sp>
      <p:sp>
        <p:nvSpPr>
          <p:cNvPr id="39" name="文本框 23"/>
          <p:cNvSpPr txBox="1"/>
          <p:nvPr/>
        </p:nvSpPr>
        <p:spPr>
          <a:xfrm>
            <a:off x="1078395" y="1304926"/>
            <a:ext cx="5646255" cy="67274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446">
              <a:lnSpc>
                <a:spcPct val="130000"/>
              </a:lnSpc>
              <a:defRPr/>
            </a:pPr>
            <a:r>
              <a:rPr lang="zh-CN" altLang="en-US" sz="1000" dirty="0" smtClean="0">
                <a:solidFill>
                  <a:schemeClr val="tx1">
                    <a:lumMod val="75000"/>
                    <a:lumOff val="25000"/>
                  </a:schemeClr>
                </a:solidFill>
                <a:latin typeface="Century Gothic"/>
                <a:ea typeface="微软雅黑"/>
              </a:rPr>
              <a:t>根据波音的定义，不正常事件包括：延误、航班取消、返航以及备降事件。与国航的定义相比，波音不将复飞事件纳入到不正常事件中。因此，经对国航不正常事件定义与波音相统一后，近一年国航机队不正常事件千次率与波音统计的世界机队的数据比较如下图。</a:t>
            </a:r>
            <a:endParaRPr lang="en-US" altLang="zh-CN" sz="1000" dirty="0" smtClean="0">
              <a:solidFill>
                <a:schemeClr val="tx1">
                  <a:lumMod val="75000"/>
                  <a:lumOff val="25000"/>
                </a:schemeClr>
              </a:solidFill>
              <a:latin typeface="Century Gothic"/>
              <a:ea typeface="微软雅黑"/>
            </a:endParaRPr>
          </a:p>
        </p:txBody>
      </p:sp>
      <p:graphicFrame>
        <p:nvGraphicFramePr>
          <p:cNvPr id="21" name="图表 20"/>
          <p:cNvGraphicFramePr>
            <a:graphicFrameLocks/>
          </p:cNvGraphicFramePr>
          <p:nvPr/>
        </p:nvGraphicFramePr>
        <p:xfrm>
          <a:off x="180975" y="2076449"/>
          <a:ext cx="6515100" cy="26193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500" fill="hold"/>
                                        <p:tgtEl>
                                          <p:spTgt spid="21"/>
                                        </p:tgtEl>
                                        <p:attrNameLst>
                                          <p:attrName>ppt_x</p:attrName>
                                        </p:attrNameLst>
                                      </p:cBhvr>
                                      <p:tavLst>
                                        <p:tav tm="0">
                                          <p:val>
                                            <p:strVal val="#ppt_x"/>
                                          </p:val>
                                        </p:tav>
                                        <p:tav tm="100000">
                                          <p:val>
                                            <p:strVal val="#ppt_x"/>
                                          </p:val>
                                        </p:tav>
                                      </p:tavLst>
                                    </p:anim>
                                    <p:anim calcmode="lin" valueType="num">
                                      <p:cBhvr additive="base">
                                        <p:cTn id="3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 calcmode="lin" valueType="num">
                                      <p:cBhvr additive="base">
                                        <p:cTn id="36" dur="500" fill="hold"/>
                                        <p:tgtEl>
                                          <p:spTgt spid="36"/>
                                        </p:tgtEl>
                                        <p:attrNameLst>
                                          <p:attrName>ppt_x</p:attrName>
                                        </p:attrNameLst>
                                      </p:cBhvr>
                                      <p:tavLst>
                                        <p:tav tm="0">
                                          <p:val>
                                            <p:strVal val="#ppt_x"/>
                                          </p:val>
                                        </p:tav>
                                        <p:tav tm="100000">
                                          <p:val>
                                            <p:strVal val="#ppt_x"/>
                                          </p:val>
                                        </p:tav>
                                      </p:tavLst>
                                    </p:anim>
                                    <p:anim calcmode="lin" valueType="num">
                                      <p:cBhvr additive="base">
                                        <p:cTn id="37" dur="500" fill="hold"/>
                                        <p:tgtEl>
                                          <p:spTgt spid="36"/>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 calcmode="lin" valueType="num">
                                      <p:cBhvr additive="base">
                                        <p:cTn id="40" dur="500" fill="hold"/>
                                        <p:tgtEl>
                                          <p:spTgt spid="35"/>
                                        </p:tgtEl>
                                        <p:attrNameLst>
                                          <p:attrName>ppt_x</p:attrName>
                                        </p:attrNameLst>
                                      </p:cBhvr>
                                      <p:tavLst>
                                        <p:tav tm="0">
                                          <p:val>
                                            <p:strVal val="#ppt_x"/>
                                          </p:val>
                                        </p:tav>
                                        <p:tav tm="100000">
                                          <p:val>
                                            <p:strVal val="#ppt_x"/>
                                          </p:val>
                                        </p:tav>
                                      </p:tavLst>
                                    </p:anim>
                                    <p:anim calcmode="lin" valueType="num">
                                      <p:cBhvr additive="base">
                                        <p:cTn id="41" dur="500" fill="hold"/>
                                        <p:tgtEl>
                                          <p:spTgt spid="3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ppt_x"/>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35" grpId="0" animBg="1"/>
      <p:bldP spid="36" grpId="0" animBg="1"/>
      <p:bldP spid="39" grpId="0"/>
      <p:bldGraphic spid="21"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507818" y="346889"/>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grpSp>
        <p:nvGrpSpPr>
          <p:cNvPr id="5" name="组合 20"/>
          <p:cNvGrpSpPr/>
          <p:nvPr/>
        </p:nvGrpSpPr>
        <p:grpSpPr>
          <a:xfrm>
            <a:off x="378666" y="928914"/>
            <a:ext cx="2024878" cy="302012"/>
            <a:chOff x="1129034" y="49188"/>
            <a:chExt cx="2086178" cy="679353"/>
          </a:xfrm>
        </p:grpSpPr>
        <p:sp>
          <p:nvSpPr>
            <p:cNvPr id="23" name="任意多边形 22"/>
            <p:cNvSpPr/>
            <p:nvPr/>
          </p:nvSpPr>
          <p:spPr>
            <a:xfrm>
              <a:off x="1129034" y="49188"/>
              <a:ext cx="1444968" cy="656665"/>
            </a:xfrm>
            <a:custGeom>
              <a:avLst/>
              <a:gdLst>
                <a:gd name="connsiteX0" fmla="*/ 347608 w 1390436"/>
                <a:gd name="connsiteY0" fmla="*/ 0 h 842499"/>
                <a:gd name="connsiteX1" fmla="*/ 1075798 w 1390436"/>
                <a:gd name="connsiteY1" fmla="*/ 0 h 842499"/>
                <a:gd name="connsiteX2" fmla="*/ 1075798 w 1390436"/>
                <a:gd name="connsiteY2" fmla="*/ 4029 h 842499"/>
                <a:gd name="connsiteX3" fmla="*/ 1112882 w 1390436"/>
                <a:gd name="connsiteY3" fmla="*/ 8559 h 842499"/>
                <a:gd name="connsiteX4" fmla="*/ 1390436 w 1390436"/>
                <a:gd name="connsiteY4" fmla="*/ 421250 h 842499"/>
                <a:gd name="connsiteX5" fmla="*/ 1112882 w 1390436"/>
                <a:gd name="connsiteY5" fmla="*/ 833941 h 842499"/>
                <a:gd name="connsiteX6" fmla="*/ 1075798 w 1390436"/>
                <a:gd name="connsiteY6" fmla="*/ 838471 h 842499"/>
                <a:gd name="connsiteX7" fmla="*/ 1075798 w 1390436"/>
                <a:gd name="connsiteY7" fmla="*/ 842497 h 842499"/>
                <a:gd name="connsiteX8" fmla="*/ 1042843 w 1390436"/>
                <a:gd name="connsiteY8" fmla="*/ 842497 h 842499"/>
                <a:gd name="connsiteX9" fmla="*/ 1042827 w 1390436"/>
                <a:gd name="connsiteY9" fmla="*/ 842499 h 842499"/>
                <a:gd name="connsiteX10" fmla="*/ 1042811 w 1390436"/>
                <a:gd name="connsiteY10" fmla="*/ 842497 h 842499"/>
                <a:gd name="connsiteX11" fmla="*/ 347625 w 1390436"/>
                <a:gd name="connsiteY11" fmla="*/ 842497 h 842499"/>
                <a:gd name="connsiteX12" fmla="*/ 347609 w 1390436"/>
                <a:gd name="connsiteY12" fmla="*/ 842499 h 842499"/>
                <a:gd name="connsiteX13" fmla="*/ 0 w 1390436"/>
                <a:gd name="connsiteY13" fmla="*/ 421250 h 842499"/>
                <a:gd name="connsiteX14" fmla="*/ 277554 w 1390436"/>
                <a:gd name="connsiteY14" fmla="*/ 8559 h 842499"/>
                <a:gd name="connsiteX15" fmla="*/ 347608 w 1390436"/>
                <a:gd name="connsiteY15" fmla="*/ 1 h 84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90436" h="842499">
                  <a:moveTo>
                    <a:pt x="347608" y="0"/>
                  </a:moveTo>
                  <a:lnTo>
                    <a:pt x="1075798" y="0"/>
                  </a:lnTo>
                  <a:lnTo>
                    <a:pt x="1075798" y="4029"/>
                  </a:lnTo>
                  <a:lnTo>
                    <a:pt x="1112882" y="8559"/>
                  </a:lnTo>
                  <a:cubicBezTo>
                    <a:pt x="1271282" y="47839"/>
                    <a:pt x="1390436" y="217682"/>
                    <a:pt x="1390436" y="421250"/>
                  </a:cubicBezTo>
                  <a:cubicBezTo>
                    <a:pt x="1390436" y="624818"/>
                    <a:pt x="1271282" y="794661"/>
                    <a:pt x="1112882" y="833941"/>
                  </a:cubicBezTo>
                  <a:lnTo>
                    <a:pt x="1075798" y="838471"/>
                  </a:lnTo>
                  <a:lnTo>
                    <a:pt x="1075798" y="842497"/>
                  </a:lnTo>
                  <a:lnTo>
                    <a:pt x="1042843" y="842497"/>
                  </a:lnTo>
                  <a:lnTo>
                    <a:pt x="1042827" y="842499"/>
                  </a:lnTo>
                  <a:lnTo>
                    <a:pt x="1042811" y="842497"/>
                  </a:lnTo>
                  <a:lnTo>
                    <a:pt x="347625" y="842497"/>
                  </a:lnTo>
                  <a:lnTo>
                    <a:pt x="347609" y="842499"/>
                  </a:lnTo>
                  <a:cubicBezTo>
                    <a:pt x="155630" y="842499"/>
                    <a:pt x="0" y="653899"/>
                    <a:pt x="0" y="421250"/>
                  </a:cubicBezTo>
                  <a:cubicBezTo>
                    <a:pt x="0" y="217682"/>
                    <a:pt x="119154" y="47839"/>
                    <a:pt x="277554" y="8559"/>
                  </a:cubicBezTo>
                  <a:lnTo>
                    <a:pt x="347608" y="1"/>
                  </a:lnTo>
                  <a:close/>
                </a:path>
              </a:pathLst>
            </a:custGeom>
            <a:solidFill>
              <a:srgbClr val="404040"/>
            </a:solidFill>
            <a:ln>
              <a:noFill/>
            </a:ln>
            <a:effectLst>
              <a:innerShdw blurRad="76200" dist="63500" dir="13500000">
                <a:schemeClr val="tx1">
                  <a:lumMod val="85000"/>
                  <a:lumOff val="1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15" dirty="0">
                <a:solidFill>
                  <a:prstClr val="white"/>
                </a:solidFill>
                <a:ea typeface="微软雅黑" panose="020B0503020204020204" pitchFamily="34" charset="-122"/>
              </a:endParaRPr>
            </a:p>
          </p:txBody>
        </p:sp>
        <p:sp>
          <p:nvSpPr>
            <p:cNvPr id="24" name="TextBox 11"/>
            <p:cNvSpPr txBox="1"/>
            <p:nvPr/>
          </p:nvSpPr>
          <p:spPr>
            <a:xfrm>
              <a:off x="1246124" y="100261"/>
              <a:ext cx="1969088" cy="628280"/>
            </a:xfrm>
            <a:prstGeom prst="rect">
              <a:avLst/>
            </a:prstGeom>
            <a:noFill/>
          </p:spPr>
          <p:txBody>
            <a:bodyPr wrap="square" rtlCol="0">
              <a:spAutoFit/>
            </a:bodyPr>
            <a:lstStyle/>
            <a:p>
              <a:r>
                <a:rPr lang="zh-CN" altLang="en-US" sz="1215" b="1" dirty="0" smtClean="0">
                  <a:solidFill>
                    <a:schemeClr val="bg1"/>
                  </a:solidFill>
                  <a:latin typeface="方正粗倩简体" panose="03000509000000000000" pitchFamily="65" charset="-122"/>
                  <a:ea typeface="方正粗倩简体" panose="03000509000000000000" pitchFamily="65" charset="-122"/>
                </a:rPr>
                <a:t>附件可靠性信息</a:t>
              </a:r>
              <a:endParaRPr lang="zh-CN" altLang="en-US" sz="1215" b="1" dirty="0">
                <a:solidFill>
                  <a:schemeClr val="bg1"/>
                </a:solidFill>
                <a:latin typeface="方正粗倩简体" panose="03000509000000000000" pitchFamily="65" charset="-122"/>
                <a:ea typeface="方正粗倩简体" panose="03000509000000000000" pitchFamily="65" charset="-122"/>
              </a:endParaRPr>
            </a:p>
          </p:txBody>
        </p:sp>
      </p:grpSp>
      <p:sp>
        <p:nvSpPr>
          <p:cNvPr id="25" name="TextBox 9"/>
          <p:cNvSpPr txBox="1"/>
          <p:nvPr/>
        </p:nvSpPr>
        <p:spPr>
          <a:xfrm>
            <a:off x="2016788" y="1894850"/>
            <a:ext cx="3312140" cy="228103"/>
          </a:xfrm>
          <a:prstGeom prst="rect">
            <a:avLst/>
          </a:prstGeom>
          <a:noFill/>
        </p:spPr>
        <p:txBody>
          <a:bodyPr wrap="square" lIns="68545" tIns="34272" rIns="68545" bIns="34272" rtlCol="0">
            <a:spAutoFit/>
          </a:bodyPr>
          <a:lstStyle/>
          <a:p>
            <a:pPr algn="just">
              <a:lnSpc>
                <a:spcPts val="974"/>
              </a:lnSpc>
            </a:pPr>
            <a:r>
              <a:rPr lang="zh-CN" altLang="zh-CN" sz="1800" dirty="0">
                <a:latin typeface="Adobe 黑体 Std R" panose="020B0400000000000000" pitchFamily="34" charset="-122"/>
                <a:ea typeface="Adobe 黑体 Std R" panose="020B0400000000000000" pitchFamily="34" charset="-122"/>
              </a:rPr>
              <a:t>后缘襟翼</a:t>
            </a:r>
            <a:r>
              <a:rPr lang="zh-CN" altLang="zh-CN" sz="1800" dirty="0" smtClean="0">
                <a:latin typeface="Adobe 黑体 Std R" panose="020B0400000000000000" pitchFamily="34" charset="-122"/>
                <a:ea typeface="Adobe 黑体 Std R" panose="020B0400000000000000" pitchFamily="34" charset="-122"/>
              </a:rPr>
              <a:t>位置</a:t>
            </a:r>
            <a:r>
              <a:rPr lang="zh-CN" altLang="en-US" sz="1800" dirty="0" smtClean="0">
                <a:latin typeface="Adobe 黑体 Std R" panose="020B0400000000000000" pitchFamily="34" charset="-122"/>
                <a:ea typeface="Adobe 黑体 Std R" panose="020B0400000000000000" pitchFamily="34" charset="-122"/>
              </a:rPr>
              <a:t>指示器</a:t>
            </a:r>
            <a:endParaRPr lang="zh-CN" altLang="en-US" sz="1600" dirty="0">
              <a:latin typeface="方正兰亭纤黑简体" pitchFamily="65" charset="-122"/>
              <a:ea typeface="方正兰亭纤黑简体" pitchFamily="65" charset="-122"/>
            </a:endParaRPr>
          </a:p>
        </p:txBody>
      </p:sp>
      <p:pic>
        <p:nvPicPr>
          <p:cNvPr id="26" name="图片 25"/>
          <p:cNvPicPr>
            <a:picLocks noChangeAspect="1"/>
          </p:cNvPicPr>
          <p:nvPr/>
        </p:nvPicPr>
        <p:blipFill>
          <a:blip r:embed="rId4" cstate="print"/>
          <a:stretch>
            <a:fillRect/>
          </a:stretch>
        </p:blipFill>
        <p:spPr>
          <a:xfrm>
            <a:off x="422093" y="1545394"/>
            <a:ext cx="958851" cy="1284736"/>
          </a:xfrm>
          <a:prstGeom prst="rect">
            <a:avLst/>
          </a:prstGeom>
        </p:spPr>
      </p:pic>
      <p:sp>
        <p:nvSpPr>
          <p:cNvPr id="27" name="文本框 2"/>
          <p:cNvSpPr txBox="1"/>
          <p:nvPr/>
        </p:nvSpPr>
        <p:spPr>
          <a:xfrm>
            <a:off x="2240286" y="2187762"/>
            <a:ext cx="4413250" cy="484748"/>
          </a:xfrm>
          <a:prstGeom prst="rect">
            <a:avLst/>
          </a:prstGeom>
          <a:noFill/>
        </p:spPr>
        <p:txBody>
          <a:bodyPr wrap="square" rtlCol="0">
            <a:spAutoFit/>
          </a:bodyPr>
          <a:lstStyle/>
          <a:p>
            <a:r>
              <a:rPr lang="zh-CN" altLang="en-US" sz="1100" dirty="0">
                <a:latin typeface="Times New Roman" panose="02020603050405020304" pitchFamily="18" charset="0"/>
                <a:cs typeface="Times New Roman" panose="02020603050405020304" pitchFamily="18" charset="0"/>
              </a:rPr>
              <a:t>位置指示器 </a:t>
            </a:r>
            <a:r>
              <a:rPr lang="en-US" altLang="zh-CN" sz="1100" dirty="0">
                <a:latin typeface="Times New Roman" panose="02020603050405020304" pitchFamily="18" charset="0"/>
                <a:cs typeface="Times New Roman" panose="02020603050405020304" pitchFamily="18" charset="0"/>
              </a:rPr>
              <a:t>P/N 2061-15-1</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CMM 27-50-04</a:t>
            </a:r>
            <a:r>
              <a:rPr lang="zh-CN" altLang="en-US" sz="1100" dirty="0">
                <a:latin typeface="Times New Roman" panose="02020603050405020304" pitchFamily="18" charset="0"/>
                <a:cs typeface="Times New Roman" panose="02020603050405020304" pitchFamily="18" charset="0"/>
              </a:rPr>
              <a:t>）</a:t>
            </a:r>
            <a:endParaRPr lang="en-US" altLang="zh-CN" sz="1100" dirty="0">
              <a:latin typeface="Times New Roman" panose="02020603050405020304" pitchFamily="18" charset="0"/>
              <a:cs typeface="Times New Roman" panose="02020603050405020304" pitchFamily="18" charset="0"/>
            </a:endParaRPr>
          </a:p>
          <a:p>
            <a:endParaRPr lang="zh-CN" altLang="en-US" dirty="0"/>
          </a:p>
        </p:txBody>
      </p:sp>
      <p:pic>
        <p:nvPicPr>
          <p:cNvPr id="31" name="图片 30"/>
          <p:cNvPicPr>
            <a:picLocks noChangeAspect="1"/>
          </p:cNvPicPr>
          <p:nvPr/>
        </p:nvPicPr>
        <p:blipFill>
          <a:blip r:embed="rId5" cstate="print"/>
          <a:stretch>
            <a:fillRect/>
          </a:stretch>
        </p:blipFill>
        <p:spPr>
          <a:xfrm>
            <a:off x="465976" y="3132910"/>
            <a:ext cx="2092604" cy="972321"/>
          </a:xfrm>
          <a:prstGeom prst="rect">
            <a:avLst/>
          </a:prstGeom>
        </p:spPr>
      </p:pic>
      <p:sp>
        <p:nvSpPr>
          <p:cNvPr id="32" name="TextBox 9"/>
          <p:cNvSpPr txBox="1"/>
          <p:nvPr/>
        </p:nvSpPr>
        <p:spPr>
          <a:xfrm>
            <a:off x="2788313" y="3485105"/>
            <a:ext cx="3312140" cy="197454"/>
          </a:xfrm>
          <a:prstGeom prst="rect">
            <a:avLst/>
          </a:prstGeom>
          <a:noFill/>
        </p:spPr>
        <p:txBody>
          <a:bodyPr wrap="square" lIns="68545" tIns="34272" rIns="68545" bIns="34272" rtlCol="0">
            <a:spAutoFit/>
          </a:bodyPr>
          <a:lstStyle/>
          <a:p>
            <a:pPr algn="just">
              <a:lnSpc>
                <a:spcPts val="974"/>
              </a:lnSpc>
            </a:pPr>
            <a:r>
              <a:rPr lang="zh-CN" altLang="zh-CN" sz="1800" dirty="0">
                <a:latin typeface="Adobe 黑体 Std R" panose="020B0400000000000000" pitchFamily="34" charset="-122"/>
                <a:ea typeface="Adobe 黑体 Std R" panose="020B0400000000000000" pitchFamily="34" charset="-122"/>
              </a:rPr>
              <a:t>后缘襟翼</a:t>
            </a:r>
            <a:r>
              <a:rPr lang="zh-CN" altLang="zh-CN" sz="1800" dirty="0" smtClean="0">
                <a:latin typeface="Adobe 黑体 Std R" panose="020B0400000000000000" pitchFamily="34" charset="-122"/>
                <a:ea typeface="Adobe 黑体 Std R" panose="020B0400000000000000" pitchFamily="34" charset="-122"/>
              </a:rPr>
              <a:t>位置</a:t>
            </a:r>
            <a:r>
              <a:rPr lang="zh-CN" altLang="en-US" sz="1800" dirty="0">
                <a:latin typeface="Adobe 黑体 Std R" panose="020B0400000000000000" pitchFamily="34" charset="-122"/>
                <a:ea typeface="Adobe 黑体 Std R" panose="020B0400000000000000" pitchFamily="34" charset="-122"/>
              </a:rPr>
              <a:t>传感器</a:t>
            </a:r>
            <a:endParaRPr lang="zh-CN" altLang="en-US" sz="1600" dirty="0">
              <a:latin typeface="方正兰亭纤黑简体" pitchFamily="65" charset="-122"/>
              <a:ea typeface="方正兰亭纤黑简体" pitchFamily="65" charset="-122"/>
            </a:endParaRPr>
          </a:p>
        </p:txBody>
      </p:sp>
      <p:sp>
        <p:nvSpPr>
          <p:cNvPr id="33" name="文本框 24"/>
          <p:cNvSpPr txBox="1"/>
          <p:nvPr/>
        </p:nvSpPr>
        <p:spPr>
          <a:xfrm>
            <a:off x="2889250" y="3753241"/>
            <a:ext cx="3359150" cy="261610"/>
          </a:xfrm>
          <a:prstGeom prst="rect">
            <a:avLst/>
          </a:prstGeom>
          <a:noFill/>
        </p:spPr>
        <p:txBody>
          <a:bodyPr wrap="square" rtlCol="0">
            <a:spAutoFit/>
          </a:bodyPr>
          <a:lstStyle/>
          <a:p>
            <a:r>
              <a:rPr lang="zh-CN" altLang="en-US" sz="1100" dirty="0">
                <a:latin typeface="Times New Roman" panose="02020603050405020304" pitchFamily="18" charset="0"/>
                <a:cs typeface="Times New Roman" panose="02020603050405020304" pitchFamily="18" charset="0"/>
              </a:rPr>
              <a:t>位置指示器 </a:t>
            </a:r>
            <a:r>
              <a:rPr lang="en-US" altLang="zh-CN" sz="1100" dirty="0">
                <a:latin typeface="Times New Roman" panose="02020603050405020304" pitchFamily="18" charset="0"/>
                <a:cs typeface="Times New Roman" panose="02020603050405020304" pitchFamily="18" charset="0"/>
              </a:rPr>
              <a:t>P/N 18-1738-12 /-10</a:t>
            </a:r>
            <a:r>
              <a:rPr lang="zh-CN" altLang="zh-CN" sz="11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CMM 27-58-09</a:t>
            </a:r>
            <a:r>
              <a:rPr lang="zh-CN" altLang="en-US" sz="1100" dirty="0">
                <a:latin typeface="Times New Roman" panose="02020603050405020304" pitchFamily="18" charset="0"/>
                <a:cs typeface="Times New Roman" panose="02020603050405020304" pitchFamily="18" charset="0"/>
              </a:rPr>
              <a:t>）</a:t>
            </a:r>
          </a:p>
        </p:txBody>
      </p:sp>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par>
                                <p:cTn id="21" presetID="42"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par>
                                <p:cTn id="26" presetID="16" presetClass="entr" presetSubtype="21"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barn(inVertical)">
                                      <p:cBhvr>
                                        <p:cTn id="28" dur="500"/>
                                        <p:tgtEl>
                                          <p:spTgt spid="25"/>
                                        </p:tgtEl>
                                      </p:cBhvr>
                                    </p:animEffect>
                                  </p:childTnLst>
                                </p:cTn>
                              </p:par>
                              <p:par>
                                <p:cTn id="29" presetID="16" presetClass="entr" presetSubtype="21"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barn(inVertical)">
                                      <p:cBhvr>
                                        <p:cTn id="31" dur="500"/>
                                        <p:tgtEl>
                                          <p:spTgt spid="26"/>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par>
                                <p:cTn id="35" presetID="6" presetClass="entr" presetSubtype="16"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circle(in)">
                                      <p:cBhvr>
                                        <p:cTn id="37" dur="2000"/>
                                        <p:tgtEl>
                                          <p:spTgt spid="31"/>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circle(in)">
                                      <p:cBhvr>
                                        <p:cTn id="40" dur="2000"/>
                                        <p:tgtEl>
                                          <p:spTgt spid="32"/>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circle(in)">
                                      <p:cBhvr>
                                        <p:cTn id="43"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25" grpId="0"/>
      <p:bldP spid="27" grpId="0"/>
      <p:bldP spid="32" grpId="0"/>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507818" y="346889"/>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grpSp>
        <p:nvGrpSpPr>
          <p:cNvPr id="21" name="组合 20"/>
          <p:cNvGrpSpPr/>
          <p:nvPr/>
        </p:nvGrpSpPr>
        <p:grpSpPr>
          <a:xfrm>
            <a:off x="3403238" y="740985"/>
            <a:ext cx="3111865" cy="306371"/>
            <a:chOff x="5283922" y="1205118"/>
            <a:chExt cx="3384376" cy="264650"/>
          </a:xfrm>
        </p:grpSpPr>
        <p:sp>
          <p:nvSpPr>
            <p:cNvPr id="22" name="矩形 21"/>
            <p:cNvSpPr/>
            <p:nvPr/>
          </p:nvSpPr>
          <p:spPr>
            <a:xfrm>
              <a:off x="5283922" y="1205118"/>
              <a:ext cx="3384376" cy="26465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59" dirty="0">
                <a:ea typeface="微软雅黑" panose="020B0503020204020204" pitchFamily="34" charset="-122"/>
              </a:endParaRPr>
            </a:p>
          </p:txBody>
        </p:sp>
        <p:sp>
          <p:nvSpPr>
            <p:cNvPr id="28" name="TextBox 15"/>
            <p:cNvSpPr txBox="1"/>
            <p:nvPr/>
          </p:nvSpPr>
          <p:spPr>
            <a:xfrm>
              <a:off x="5366507" y="1216094"/>
              <a:ext cx="3219204" cy="239278"/>
            </a:xfrm>
            <a:prstGeom prst="rect">
              <a:avLst/>
            </a:prstGeom>
            <a:noFill/>
          </p:spPr>
          <p:txBody>
            <a:bodyPr wrap="square" rtlCol="0">
              <a:spAutoFit/>
            </a:bodyPr>
            <a:lstStyle/>
            <a:p>
              <a:r>
                <a:rPr lang="zh-CN" altLang="en-US"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缘襟翼位置指示器</a:t>
              </a:r>
              <a:endParaRPr lang="zh-CN" altLang="en-US" sz="1200" b="1" dirty="0">
                <a:solidFill>
                  <a:schemeClr val="bg1"/>
                </a:solidFill>
                <a:latin typeface="Times New Roman" panose="02020603050405020304" pitchFamily="18" charset="0"/>
                <a:ea typeface="方正兰亭准黑_GBK" pitchFamily="2" charset="-122"/>
                <a:cs typeface="Times New Roman" panose="02020603050405020304" pitchFamily="18" charset="0"/>
              </a:endParaRPr>
            </a:p>
          </p:txBody>
        </p:sp>
      </p:grpSp>
      <p:sp>
        <p:nvSpPr>
          <p:cNvPr id="29" name="矩形 28"/>
          <p:cNvSpPr/>
          <p:nvPr/>
        </p:nvSpPr>
        <p:spPr>
          <a:xfrm>
            <a:off x="628540" y="1147427"/>
            <a:ext cx="6229460" cy="784830"/>
          </a:xfrm>
          <a:prstGeom prst="rect">
            <a:avLst/>
          </a:prstGeom>
        </p:spPr>
        <p:txBody>
          <a:bodyPr wrap="square">
            <a:spAutoFit/>
          </a:bodyPr>
          <a:lstStyle/>
          <a:p>
            <a:pPr lvl="0">
              <a:lnSpc>
                <a:spcPct val="150000"/>
              </a:lnSpc>
            </a:pPr>
            <a:r>
              <a:rPr lang="zh-CN" altLang="zh-CN" sz="1000" b="1" kern="100" dirty="0">
                <a:latin typeface="微软雅黑" panose="020B0503020204020204" pitchFamily="34" charset="-122"/>
                <a:ea typeface="微软雅黑" panose="020B0503020204020204" pitchFamily="34" charset="-122"/>
                <a:cs typeface="Times New Roman" panose="02020603050405020304" pitchFamily="18" charset="0"/>
              </a:rPr>
              <a:t>自</a:t>
            </a:r>
            <a:r>
              <a:rPr lang="en-US"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2017-3</a:t>
            </a:r>
            <a:r>
              <a:rPr lang="zh-CN"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至</a:t>
            </a:r>
            <a:r>
              <a:rPr lang="en-US"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2022-2</a:t>
            </a:r>
            <a:r>
              <a:rPr lang="zh-CN"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襟翼</a:t>
            </a:r>
            <a:r>
              <a:rPr lang="zh-CN" altLang="zh-CN" sz="1000" kern="100" dirty="0">
                <a:latin typeface="微软雅黑" panose="020B0503020204020204" pitchFamily="34" charset="-122"/>
                <a:ea typeface="微软雅黑" panose="020B0503020204020204" pitchFamily="34" charset="-122"/>
                <a:cs typeface="Times New Roman" panose="02020603050405020304" pitchFamily="18" charset="0"/>
              </a:rPr>
              <a:t>位置指示器非计划拆</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换</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44</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次，</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最近滚动</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个月</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MTBUR</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27691</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H</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，世界机队此部件</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MTBUR</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47096</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H</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2017</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年起每年</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月至次年</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月的拆换个数如下图（不包括背景灯不亮造成的更换）。</a:t>
            </a:r>
            <a:endParaRPr lang="zh-CN" altLang="zh-CN" sz="1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6" name="图表 15"/>
          <p:cNvGraphicFramePr/>
          <p:nvPr/>
        </p:nvGraphicFramePr>
        <p:xfrm>
          <a:off x="1028700" y="2190749"/>
          <a:ext cx="4572000" cy="21240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29" grpId="0"/>
      <p:bldGraphic spid="16"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507818" y="346889"/>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grpSp>
        <p:nvGrpSpPr>
          <p:cNvPr id="5" name="组合 20"/>
          <p:cNvGrpSpPr/>
          <p:nvPr/>
        </p:nvGrpSpPr>
        <p:grpSpPr>
          <a:xfrm>
            <a:off x="3403238" y="740985"/>
            <a:ext cx="3111865" cy="306371"/>
            <a:chOff x="5283922" y="1205118"/>
            <a:chExt cx="3384376" cy="264650"/>
          </a:xfrm>
        </p:grpSpPr>
        <p:sp>
          <p:nvSpPr>
            <p:cNvPr id="22" name="矩形 21"/>
            <p:cNvSpPr/>
            <p:nvPr/>
          </p:nvSpPr>
          <p:spPr>
            <a:xfrm>
              <a:off x="5283922" y="1205118"/>
              <a:ext cx="3384376" cy="26465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59" dirty="0">
                <a:ea typeface="微软雅黑" panose="020B0503020204020204" pitchFamily="34" charset="-122"/>
              </a:endParaRPr>
            </a:p>
          </p:txBody>
        </p:sp>
        <p:sp>
          <p:nvSpPr>
            <p:cNvPr id="28" name="TextBox 15"/>
            <p:cNvSpPr txBox="1"/>
            <p:nvPr/>
          </p:nvSpPr>
          <p:spPr>
            <a:xfrm>
              <a:off x="5366507" y="1216094"/>
              <a:ext cx="3219204" cy="239278"/>
            </a:xfrm>
            <a:prstGeom prst="rect">
              <a:avLst/>
            </a:prstGeom>
            <a:noFill/>
          </p:spPr>
          <p:txBody>
            <a:bodyPr wrap="square" rtlCol="0">
              <a:spAutoFit/>
            </a:bodyPr>
            <a:lstStyle/>
            <a:p>
              <a:r>
                <a:rPr lang="zh-CN" altLang="en-US"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缘襟翼位置传感器</a:t>
              </a:r>
              <a:endParaRPr lang="zh-CN" altLang="en-US" sz="1200" b="1" dirty="0">
                <a:solidFill>
                  <a:schemeClr val="bg1"/>
                </a:solidFill>
                <a:latin typeface="Times New Roman" panose="02020603050405020304" pitchFamily="18" charset="0"/>
                <a:ea typeface="方正兰亭准黑_GBK" pitchFamily="2" charset="-122"/>
                <a:cs typeface="Times New Roman" panose="02020603050405020304" pitchFamily="18" charset="0"/>
              </a:endParaRPr>
            </a:p>
          </p:txBody>
        </p:sp>
      </p:grpSp>
      <p:sp>
        <p:nvSpPr>
          <p:cNvPr id="29" name="矩形 28"/>
          <p:cNvSpPr/>
          <p:nvPr/>
        </p:nvSpPr>
        <p:spPr>
          <a:xfrm>
            <a:off x="418990" y="1071227"/>
            <a:ext cx="6229460" cy="784830"/>
          </a:xfrm>
          <a:prstGeom prst="rect">
            <a:avLst/>
          </a:prstGeom>
        </p:spPr>
        <p:txBody>
          <a:bodyPr wrap="square">
            <a:spAutoFit/>
          </a:bodyPr>
          <a:lstStyle/>
          <a:p>
            <a:pPr lvl="0">
              <a:lnSpc>
                <a:spcPct val="150000"/>
              </a:lnSpc>
            </a:pPr>
            <a:r>
              <a:rPr lang="zh-CN" altLang="zh-CN" sz="1000" b="1" kern="100" dirty="0">
                <a:latin typeface="微软雅黑" panose="020B0503020204020204" pitchFamily="34" charset="-122"/>
                <a:ea typeface="微软雅黑" panose="020B0503020204020204" pitchFamily="34" charset="-122"/>
                <a:cs typeface="Times New Roman" panose="02020603050405020304" pitchFamily="18" charset="0"/>
              </a:rPr>
              <a:t>自</a:t>
            </a:r>
            <a:r>
              <a:rPr lang="en-US"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2017-3</a:t>
            </a:r>
            <a:r>
              <a:rPr lang="zh-CN"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至</a:t>
            </a:r>
            <a:r>
              <a:rPr lang="en-US"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2022-2</a:t>
            </a:r>
            <a:r>
              <a:rPr lang="zh-CN" altLang="zh-CN" sz="10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pP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襟翼</a:t>
            </a:r>
            <a:r>
              <a:rPr lang="zh-CN" altLang="zh-CN" sz="1000" kern="100" dirty="0">
                <a:latin typeface="微软雅黑" panose="020B0503020204020204" pitchFamily="34" charset="-122"/>
                <a:ea typeface="微软雅黑" panose="020B0503020204020204" pitchFamily="34" charset="-122"/>
                <a:cs typeface="Times New Roman" panose="02020603050405020304" pitchFamily="18" charset="0"/>
              </a:rPr>
              <a:t>位置传感器非计划拆换</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62</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次，</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最近滚动</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个月</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MTBUR</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50348</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H</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，世</a:t>
            </a:r>
            <a:r>
              <a:rPr lang="zh-CN" altLang="zh-CN" sz="1000" kern="100" dirty="0">
                <a:latin typeface="微软雅黑" panose="020B0503020204020204" pitchFamily="34" charset="-122"/>
                <a:ea typeface="微软雅黑" panose="020B0503020204020204" pitchFamily="34" charset="-122"/>
                <a:cs typeface="Times New Roman" panose="02020603050405020304" pitchFamily="18" charset="0"/>
              </a:rPr>
              <a:t>界机队此部件</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MTBUR</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0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45903</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H</a:t>
            </a:r>
            <a:r>
              <a:rPr lang="zh-CN"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每月传感器拆换次数统计如下图。</a:t>
            </a:r>
            <a:endParaRPr lang="zh-CN" altLang="zh-CN" sz="1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5" name="图表 14"/>
          <p:cNvGraphicFramePr/>
          <p:nvPr/>
        </p:nvGraphicFramePr>
        <p:xfrm>
          <a:off x="161925" y="1895475"/>
          <a:ext cx="6696075" cy="29622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507818" y="346889"/>
            <a:ext cx="539519" cy="510038"/>
            <a:chOff x="168729" y="101037"/>
            <a:chExt cx="799287" cy="755611"/>
          </a:xfrm>
        </p:grpSpPr>
        <p:grpSp>
          <p:nvGrpSpPr>
            <p:cNvPr id="5"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138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20" name="图片 1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90675" y="327793"/>
            <a:ext cx="967905" cy="319389"/>
          </a:xfrm>
          <a:prstGeom prst="rect">
            <a:avLst/>
          </a:prstGeom>
        </p:spPr>
      </p:pic>
      <p:sp>
        <p:nvSpPr>
          <p:cNvPr id="2" name="文本框 1"/>
          <p:cNvSpPr txBox="1"/>
          <p:nvPr/>
        </p:nvSpPr>
        <p:spPr>
          <a:xfrm>
            <a:off x="2540044" y="335912"/>
            <a:ext cx="1751938" cy="515526"/>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可</a:t>
            </a:r>
            <a:r>
              <a:rPr lang="zh-CN" altLang="en-US" sz="1400" dirty="0">
                <a:latin typeface="微软雅黑" panose="020B0503020204020204" pitchFamily="34" charset="-122"/>
                <a:ea typeface="微软雅黑" panose="020B0503020204020204" pitchFamily="34" charset="-122"/>
              </a:rPr>
              <a:t>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sp>
        <p:nvSpPr>
          <p:cNvPr id="4" name="文本框 3"/>
          <p:cNvSpPr txBox="1"/>
          <p:nvPr/>
        </p:nvSpPr>
        <p:spPr>
          <a:xfrm>
            <a:off x="475598" y="1023576"/>
            <a:ext cx="2460203" cy="988476"/>
          </a:xfrm>
          <a:prstGeom prst="rect">
            <a:avLst/>
          </a:prstGeom>
          <a:noFill/>
        </p:spPr>
        <p:txBody>
          <a:bodyPr wrap="square" rtlCol="0">
            <a:spAutoFit/>
          </a:bodyPr>
          <a:lstStyle/>
          <a:p>
            <a:pPr>
              <a:lnSpc>
                <a:spcPct val="150000"/>
              </a:lnSpc>
            </a:pPr>
            <a:r>
              <a:rPr lang="zh-CN" altLang="en-US" sz="1000" dirty="0" smtClean="0">
                <a:latin typeface="微软雅黑" panose="020B0503020204020204" pitchFamily="34" charset="-122"/>
                <a:ea typeface="微软雅黑" panose="020B0503020204020204" pitchFamily="34" charset="-122"/>
              </a:rPr>
              <a:t>近五年内，</a:t>
            </a:r>
            <a:r>
              <a:rPr lang="zh-CN" altLang="zh-CN" sz="1000" dirty="0" smtClean="0">
                <a:latin typeface="微软雅黑" panose="020B0503020204020204" pitchFamily="34" charset="-122"/>
                <a:ea typeface="微软雅黑" panose="020B0503020204020204" pitchFamily="34" charset="-122"/>
              </a:rPr>
              <a:t>国航</a:t>
            </a:r>
            <a:r>
              <a:rPr lang="en-US" altLang="zh-CN" sz="1000" dirty="0" smtClean="0">
                <a:latin typeface="微软雅黑" panose="020B0503020204020204" pitchFamily="34" charset="-122"/>
                <a:ea typeface="微软雅黑" panose="020B0503020204020204" pitchFamily="34" charset="-122"/>
              </a:rPr>
              <a:t>737NG</a:t>
            </a:r>
            <a:r>
              <a:rPr lang="zh-CN" altLang="zh-CN" sz="1000" dirty="0" smtClean="0">
                <a:latin typeface="微软雅黑" panose="020B0503020204020204" pitchFamily="34" charset="-122"/>
                <a:ea typeface="微软雅黑" panose="020B0503020204020204" pitchFamily="34" charset="-122"/>
              </a:rPr>
              <a:t>飞机</a:t>
            </a:r>
            <a:r>
              <a:rPr lang="zh-CN" altLang="en-US" sz="1000" dirty="0" smtClean="0">
                <a:latin typeface="微软雅黑" panose="020B0503020204020204" pitchFamily="34" charset="-122"/>
                <a:ea typeface="微软雅黑" panose="020B0503020204020204" pitchFamily="34" charset="-122"/>
              </a:rPr>
              <a:t>针对</a:t>
            </a:r>
            <a:r>
              <a:rPr lang="zh-CN" altLang="zh-CN" sz="1000" dirty="0" smtClean="0">
                <a:latin typeface="微软雅黑" panose="020B0503020204020204" pitchFamily="34" charset="-122"/>
                <a:ea typeface="微软雅黑" panose="020B0503020204020204" pitchFamily="34" charset="-122"/>
              </a:rPr>
              <a:t>后缘襟翼卡阻故障采取的各项排故措施中更换位置传感</a:t>
            </a:r>
            <a:r>
              <a:rPr lang="zh-CN" altLang="en-US" sz="1000" dirty="0" smtClean="0">
                <a:latin typeface="微软雅黑" panose="020B0503020204020204" pitchFamily="34" charset="-122"/>
                <a:ea typeface="微软雅黑" panose="020B0503020204020204" pitchFamily="34" charset="-122"/>
              </a:rPr>
              <a:t>、</a:t>
            </a:r>
            <a:r>
              <a:rPr lang="zh-CN" altLang="zh-CN" sz="1000" dirty="0" smtClean="0">
                <a:latin typeface="微软雅黑" panose="020B0503020204020204" pitchFamily="34" charset="-122"/>
                <a:ea typeface="微软雅黑" panose="020B0503020204020204" pitchFamily="34" charset="-122"/>
              </a:rPr>
              <a:t>襟翼位置指示器</a:t>
            </a:r>
            <a:r>
              <a:rPr lang="zh-CN" altLang="en-US" sz="1000" dirty="0" smtClean="0">
                <a:latin typeface="微软雅黑" panose="020B0503020204020204" pitchFamily="34" charset="-122"/>
                <a:ea typeface="微软雅黑" panose="020B0503020204020204" pitchFamily="34" charset="-122"/>
              </a:rPr>
              <a:t>的数量对</a:t>
            </a:r>
            <a:r>
              <a:rPr lang="zh-CN" altLang="zh-CN" sz="1000" dirty="0" smtClean="0">
                <a:latin typeface="微软雅黑" panose="020B0503020204020204" pitchFamily="34" charset="-122"/>
                <a:ea typeface="微软雅黑" panose="020B0503020204020204" pitchFamily="34" charset="-122"/>
              </a:rPr>
              <a:t>比情况如下：</a:t>
            </a:r>
            <a:endParaRPr lang="zh-CN" altLang="en-US" sz="1000" dirty="0">
              <a:latin typeface="微软雅黑" panose="020B0503020204020204" pitchFamily="34" charset="-122"/>
              <a:ea typeface="微软雅黑" panose="020B0503020204020204" pitchFamily="34" charset="-122"/>
            </a:endParaRPr>
          </a:p>
        </p:txBody>
      </p:sp>
      <p:sp>
        <p:nvSpPr>
          <p:cNvPr id="15" name="矩形 14"/>
          <p:cNvSpPr/>
          <p:nvPr/>
        </p:nvSpPr>
        <p:spPr>
          <a:xfrm>
            <a:off x="3110595" y="996562"/>
            <a:ext cx="2971803" cy="246221"/>
          </a:xfrm>
          <a:prstGeom prst="rect">
            <a:avLst/>
          </a:prstGeom>
        </p:spPr>
        <p:txBody>
          <a:bodyPr wrap="square">
            <a:spAutoFit/>
          </a:bodyPr>
          <a:lstStyle/>
          <a:p>
            <a:pPr defTabSz="914400" eaLnBrk="0" fontAlgn="base" hangingPunct="0">
              <a:spcBef>
                <a:spcPct val="0"/>
              </a:spcBef>
              <a:spcAft>
                <a:spcPct val="0"/>
              </a:spcAft>
              <a:tabLst>
                <a:tab pos="6369050" algn="l"/>
              </a:tabLst>
            </a:pPr>
            <a:r>
              <a:rPr lang="zh-CN" altLang="zh-CN" sz="1000" b="1" u="sng" dirty="0">
                <a:latin typeface="微软雅黑" panose="020B0503020204020204" pitchFamily="34" charset="-122"/>
                <a:ea typeface="微软雅黑" panose="020B0503020204020204" pitchFamily="34" charset="-122"/>
                <a:cs typeface="Times New Roman" panose="02020603050405020304" pitchFamily="18" charset="0"/>
              </a:rPr>
              <a:t>波音回复</a:t>
            </a:r>
            <a:r>
              <a:rPr lang="zh-CN" altLang="zh-CN" sz="1000" b="1" u="sng" dirty="0" smtClean="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000" dirty="0">
                <a:latin typeface="微软雅黑" panose="020B0503020204020204" pitchFamily="34" charset="-122"/>
                <a:ea typeface="微软雅黑" panose="020B0503020204020204" pitchFamily="34" charset="-122"/>
                <a:cs typeface="Courier New" panose="02070309020205020404" pitchFamily="49" charset="0"/>
              </a:rPr>
              <a:t>Service Request ID:  </a:t>
            </a:r>
            <a:r>
              <a:rPr lang="en-US" altLang="zh-CN" sz="1000" dirty="0" smtClean="0">
                <a:latin typeface="微软雅黑" panose="020B0503020204020204" pitchFamily="34" charset="-122"/>
                <a:ea typeface="微软雅黑" panose="020B0503020204020204" pitchFamily="34" charset="-122"/>
                <a:cs typeface="Courier New" panose="02070309020205020404" pitchFamily="49" charset="0"/>
              </a:rPr>
              <a:t>3-3925469782</a:t>
            </a:r>
            <a:endParaRPr lang="en-US" altLang="zh-CN" sz="10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3104245" y="1162498"/>
            <a:ext cx="3753755" cy="3554819"/>
          </a:xfrm>
          <a:prstGeom prst="rect">
            <a:avLst/>
          </a:prstGeom>
          <a:noFill/>
        </p:spPr>
        <p:txBody>
          <a:bodyPr wrap="square" rtlCol="0">
            <a:spAutoFit/>
          </a:bodyPr>
          <a:lstStyle/>
          <a:p>
            <a:pPr>
              <a:lnSpc>
                <a:spcPct val="125000"/>
              </a:lnSpc>
            </a:pPr>
            <a:r>
              <a:rPr lang="en-US" altLang="zh-CN" sz="1000" dirty="0" smtClean="0">
                <a:latin typeface="Times New Roman" panose="02020603050405020304" pitchFamily="18" charset="0"/>
                <a:ea typeface="微软雅黑" panose="020B0503020204020204" pitchFamily="34" charset="-122"/>
                <a:cs typeface="Times New Roman" panose="02020603050405020304" pitchFamily="18" charset="0"/>
              </a:rPr>
              <a:t>Boeing </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does not have any improvements planned for the flap position transmitter. Boeing is aware that the flap position transmitter is frequently removed following trailing edge flaps failing to extend or retract. Boeing has been investigating trailing edge flap asymmetry's and is aware that the flap position transmitter is frequently removed and found to be faulty during shop testing. These shop tests frequently show that the transmitter does not meet accuracy requirements. However, Boeing has reviewed a significant number of these shop reports and the margin of failure is approximately 0.5 degrees beyond that which is acceptable. This slight </a:t>
            </a:r>
            <a:r>
              <a:rPr lang="en-US" altLang="zh-CN" sz="1000" dirty="0" err="1" smtClean="0">
                <a:latin typeface="Times New Roman" panose="02020603050405020304" pitchFamily="18" charset="0"/>
                <a:ea typeface="微软雅黑" panose="020B0503020204020204" pitchFamily="34" charset="-122"/>
                <a:cs typeface="Times New Roman" panose="02020603050405020304" pitchFamily="18" charset="0"/>
              </a:rPr>
              <a:t>excedance</a:t>
            </a:r>
            <a:r>
              <a:rPr lang="en-US" altLang="zh-CN" sz="1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is not sufficient to cause a flap asymmetry shutdown by itself. As part of our investigation, </a:t>
            </a:r>
            <a:r>
              <a:rPr lang="en-US" altLang="zh-CN" sz="1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Boeing has determined that the flap position indicator is more likely to be the faulty component</a:t>
            </a: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As such, </a:t>
            </a:r>
            <a:r>
              <a:rPr lang="en-US" altLang="zh-CN" sz="1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Boeing is changing the FIM to identify the flap position indicator or airplane wiring as the most likely fault following a flap asymmetry.</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 Boeing appreciates Air China bringing this question to Boeing. If we can provide additional; assistance, please contact Boeing for further assistance. </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 name="图表 15"/>
          <p:cNvGraphicFramePr/>
          <p:nvPr/>
        </p:nvGraphicFramePr>
        <p:xfrm>
          <a:off x="0" y="1838324"/>
          <a:ext cx="3152775" cy="21050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 xmlns:p14="http://schemas.microsoft.com/office/powerpoint/2010/main" val="1064104598"/>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circle(in)">
                                      <p:cBhvr>
                                        <p:cTn id="17" dur="2000"/>
                                        <p:tgtEl>
                                          <p:spTgt spid="20"/>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ircle(in)">
                                      <p:cBhvr>
                                        <p:cTn id="20" dur="2000"/>
                                        <p:tgtEl>
                                          <p:spTgt spid="2"/>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circle(in)">
                                      <p:cBhvr>
                                        <p:cTn id="30" dur="2000"/>
                                        <p:tgtEl>
                                          <p:spTgt spid="15"/>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20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4" grpId="0"/>
      <p:bldP spid="15" grpId="0"/>
      <p:bldP spid="19" grpId="0"/>
      <p:bldGraphic spid="16"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07818" y="423089"/>
            <a:ext cx="539519" cy="51003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1105001" y="690099"/>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pic>
        <p:nvPicPr>
          <p:cNvPr id="30" name="图片 29"/>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15053" y="340939"/>
            <a:ext cx="1043527" cy="344343"/>
          </a:xfrm>
          <a:prstGeom prst="rect">
            <a:avLst/>
          </a:prstGeom>
        </p:spPr>
      </p:pic>
      <p:sp>
        <p:nvSpPr>
          <p:cNvPr id="31" name="文本框 30"/>
          <p:cNvSpPr txBox="1"/>
          <p:nvPr/>
        </p:nvSpPr>
        <p:spPr>
          <a:xfrm>
            <a:off x="2540044" y="374012"/>
            <a:ext cx="1751938" cy="515526"/>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拆换件可靠性数据</a:t>
            </a:r>
            <a:endParaRPr lang="en-US" altLang="zh-CN" sz="1400" dirty="0">
              <a:latin typeface="微软雅黑" panose="020B0503020204020204" pitchFamily="34" charset="-122"/>
              <a:ea typeface="微软雅黑" panose="020B0503020204020204" pitchFamily="34" charset="-122"/>
            </a:endParaRPr>
          </a:p>
          <a:p>
            <a:endParaRPr lang="zh-CN" altLang="en-US" dirty="0"/>
          </a:p>
        </p:txBody>
      </p:sp>
      <p:sp>
        <p:nvSpPr>
          <p:cNvPr id="32" name="矩形 31"/>
          <p:cNvSpPr/>
          <p:nvPr/>
        </p:nvSpPr>
        <p:spPr>
          <a:xfrm>
            <a:off x="3403238" y="772735"/>
            <a:ext cx="3111865" cy="30637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59" dirty="0">
              <a:ea typeface="微软雅黑" panose="020B0503020204020204" pitchFamily="34" charset="-122"/>
            </a:endParaRPr>
          </a:p>
        </p:txBody>
      </p:sp>
      <p:sp>
        <p:nvSpPr>
          <p:cNvPr id="33" name="TextBox 15"/>
          <p:cNvSpPr txBox="1"/>
          <p:nvPr/>
        </p:nvSpPr>
        <p:spPr>
          <a:xfrm>
            <a:off x="3479173" y="785441"/>
            <a:ext cx="2959993" cy="276999"/>
          </a:xfrm>
          <a:prstGeom prst="rect">
            <a:avLst/>
          </a:prstGeom>
          <a:noFill/>
        </p:spPr>
        <p:txBody>
          <a:bodyPr wrap="square" rtlCol="0">
            <a:spAutoFit/>
          </a:bodyPr>
          <a:lstStyle/>
          <a:p>
            <a:r>
              <a:rPr lang="zh-CN" altLang="en-US" sz="1200" b="1" dirty="0" smtClean="0">
                <a:solidFill>
                  <a:schemeClr val="bg1"/>
                </a:solidFill>
                <a:latin typeface="Times New Roman" panose="02020603050405020304" pitchFamily="18" charset="0"/>
                <a:ea typeface="方正兰亭准黑_GBK" pitchFamily="2" charset="-122"/>
                <a:cs typeface="Times New Roman" panose="02020603050405020304" pitchFamily="18" charset="0"/>
              </a:rPr>
              <a:t>缘襟翼位置传感器车间修理情况</a:t>
            </a:r>
            <a:endParaRPr lang="zh-CN" altLang="en-US" sz="1200" b="1" dirty="0">
              <a:solidFill>
                <a:schemeClr val="bg1"/>
              </a:solidFill>
              <a:latin typeface="Times New Roman" panose="02020603050405020304" pitchFamily="18" charset="0"/>
              <a:ea typeface="方正兰亭准黑_GBK" pitchFamily="2" charset="-122"/>
              <a:cs typeface="Times New Roman" panose="02020603050405020304" pitchFamily="18" charset="0"/>
            </a:endParaRPr>
          </a:p>
        </p:txBody>
      </p:sp>
      <p:sp>
        <p:nvSpPr>
          <p:cNvPr id="18" name="矩形 17"/>
          <p:cNvSpPr/>
          <p:nvPr/>
        </p:nvSpPr>
        <p:spPr>
          <a:xfrm>
            <a:off x="504715" y="1261726"/>
            <a:ext cx="2114660" cy="1246495"/>
          </a:xfrm>
          <a:prstGeom prst="rect">
            <a:avLst/>
          </a:prstGeom>
        </p:spPr>
        <p:txBody>
          <a:bodyPr wrap="square">
            <a:spAutoFit/>
          </a:bodyPr>
          <a:lstStyle/>
          <a:p>
            <a:pPr lvl="0">
              <a:lnSpc>
                <a:spcPct val="150000"/>
              </a:lnSpc>
            </a:pP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右图为一份典型的襟翼位置传感器车间修理报告。经查，送修的传感器中，大部分传感器的故障为同步器输出产生了偏差，无法通过</a:t>
            </a:r>
            <a:r>
              <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rPr>
              <a:t>CMM</a:t>
            </a:r>
            <a:r>
              <a:rPr lang="zh-CN" altLang="en-US" sz="1000" kern="100" dirty="0" smtClean="0">
                <a:latin typeface="微软雅黑" panose="020B0503020204020204" pitchFamily="34" charset="-122"/>
                <a:ea typeface="微软雅黑" panose="020B0503020204020204" pitchFamily="34" charset="-122"/>
                <a:cs typeface="Times New Roman" panose="02020603050405020304" pitchFamily="18" charset="0"/>
              </a:rPr>
              <a:t>中的角度输出测试。</a:t>
            </a:r>
            <a:endParaRPr lang="en-US" altLang="zh-CN" sz="1000" kern="100" dirty="0" smtClean="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4577" name="Picture 1"/>
          <p:cNvPicPr>
            <a:picLocks noChangeAspect="1" noChangeArrowheads="1"/>
          </p:cNvPicPr>
          <p:nvPr/>
        </p:nvPicPr>
        <p:blipFill>
          <a:blip r:embed="rId4" cstate="print"/>
          <a:srcRect/>
          <a:stretch>
            <a:fillRect/>
          </a:stretch>
        </p:blipFill>
        <p:spPr bwMode="auto">
          <a:xfrm>
            <a:off x="2781299" y="1197051"/>
            <a:ext cx="3648075" cy="3460674"/>
          </a:xfrm>
          <a:prstGeom prst="rect">
            <a:avLst/>
          </a:prstGeom>
          <a:noFill/>
          <a:ln w="9525">
            <a:noFill/>
            <a:miter lim="800000"/>
            <a:headEnd/>
            <a:tailEnd/>
          </a:ln>
        </p:spPr>
      </p:pic>
    </p:spTree>
    <p:extLst>
      <p:ext uri="{BB962C8B-B14F-4D97-AF65-F5344CB8AC3E}">
        <p14:creationId xmlns="" xmlns:p14="http://schemas.microsoft.com/office/powerpoint/2010/main" val="3524033416"/>
      </p:ext>
    </p:extLst>
  </p:cSld>
  <p:clrMapOvr>
    <a:masterClrMapping/>
  </p:clrMapOvr>
  <mc:AlternateContent xmlns:mc="http://schemas.openxmlformats.org/markup-compatibility/2006">
    <mc:Choice xmlns=""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circle(in)">
                                      <p:cBhvr>
                                        <p:cTn id="18" dur="2000"/>
                                        <p:tgtEl>
                                          <p:spTgt spid="30"/>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circle(in)">
                                      <p:cBhvr>
                                        <p:cTn id="21" dur="20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down)">
                                      <p:cBhvr>
                                        <p:cTn id="26" dur="500"/>
                                        <p:tgtEl>
                                          <p:spTgt spid="33"/>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down)">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4577"/>
                                        </p:tgtEl>
                                        <p:attrNameLst>
                                          <p:attrName>style.visibility</p:attrName>
                                        </p:attrNameLst>
                                      </p:cBhvr>
                                      <p:to>
                                        <p:strVal val="visible"/>
                                      </p:to>
                                    </p:set>
                                    <p:anim calcmode="lin" valueType="num">
                                      <p:cBhvr additive="base">
                                        <p:cTn id="34" dur="500" fill="hold"/>
                                        <p:tgtEl>
                                          <p:spTgt spid="24577"/>
                                        </p:tgtEl>
                                        <p:attrNameLst>
                                          <p:attrName>ppt_x</p:attrName>
                                        </p:attrNameLst>
                                      </p:cBhvr>
                                      <p:tavLst>
                                        <p:tav tm="0">
                                          <p:val>
                                            <p:strVal val="#ppt_x"/>
                                          </p:val>
                                        </p:tav>
                                        <p:tav tm="100000">
                                          <p:val>
                                            <p:strVal val="#ppt_x"/>
                                          </p:val>
                                        </p:tav>
                                      </p:tavLst>
                                    </p:anim>
                                    <p:anim calcmode="lin" valueType="num">
                                      <p:cBhvr additive="base">
                                        <p:cTn id="35" dur="500" fill="hold"/>
                                        <p:tgtEl>
                                          <p:spTgt spid="2457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1" grpId="0"/>
      <p:bldP spid="32" grpId="0" animBg="1"/>
      <p:bldP spid="33" grpId="0"/>
      <p:bldP spid="18"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13609" y="1291810"/>
            <a:ext cx="2532562" cy="2047292"/>
          </a:xfrm>
          <a:prstGeom prst="rect">
            <a:avLst/>
          </a:prstGeom>
          <a:noFill/>
        </p:spPr>
        <p:txBody>
          <a:bodyPr wrap="square" rtlCol="0" anchor="ctr">
            <a:spAutoFit/>
          </a:bodyPr>
          <a:lstStyle/>
          <a:p>
            <a:pPr algn="ctr">
              <a:lnSpc>
                <a:spcPct val="150000"/>
              </a:lnSpc>
            </a:pPr>
            <a:r>
              <a:rPr lang="en-US" altLang="zh-CN" sz="9600" dirty="0">
                <a:latin typeface="微软雅黑" panose="020B0503020204020204" pitchFamily="34" charset="-122"/>
                <a:ea typeface="微软雅黑" panose="020B0503020204020204" pitchFamily="34" charset="-122"/>
              </a:rPr>
              <a:t>3</a:t>
            </a:r>
          </a:p>
        </p:txBody>
      </p:sp>
      <p:sp>
        <p:nvSpPr>
          <p:cNvPr id="6" name="文本框 5"/>
          <p:cNvSpPr txBox="1"/>
          <p:nvPr/>
        </p:nvSpPr>
        <p:spPr>
          <a:xfrm>
            <a:off x="3495839" y="2006495"/>
            <a:ext cx="1990464" cy="581057"/>
          </a:xfrm>
          <a:prstGeom prst="rect">
            <a:avLst/>
          </a:prstGeom>
          <a:noFill/>
        </p:spPr>
        <p:txBody>
          <a:bodyPr wrap="square" rtlCol="0">
            <a:spAutoFit/>
          </a:bodyPr>
          <a:lstStyle/>
          <a:p>
            <a:pPr algn="just">
              <a:lnSpc>
                <a:spcPct val="150000"/>
              </a:lnSpc>
            </a:pPr>
            <a:r>
              <a:rPr lang="zh-CN" altLang="en-US" sz="2400" dirty="0" smtClean="0">
                <a:latin typeface="微软雅黑" panose="020B0503020204020204" pitchFamily="34" charset="-122"/>
                <a:ea typeface="微软雅黑" panose="020B0503020204020204" pitchFamily="34" charset="-122"/>
              </a:rPr>
              <a:t>相关措施</a:t>
            </a:r>
            <a:endParaRPr lang="en-US" altLang="zh-CN" sz="2400"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cstate="screen">
            <a:extLst>
              <a:ext uri="{28A0092B-C50C-407E-A947-70E740481C1C}">
                <a14:useLocalDpi xmlns="" xmlns:a14="http://schemas.microsoft.com/office/drawing/2010/main"/>
              </a:ext>
            </a:extLst>
          </a:blip>
          <a:stretch>
            <a:fillRect/>
          </a:stretch>
        </p:blipFill>
        <p:spPr>
          <a:xfrm>
            <a:off x="2085975" y="2318578"/>
            <a:ext cx="1197976" cy="394514"/>
          </a:xfrm>
          <a:prstGeom prst="rect">
            <a:avLst/>
          </a:prstGeom>
        </p:spPr>
      </p:pic>
    </p:spTree>
    <p:extLst>
      <p:ext uri="{BB962C8B-B14F-4D97-AF65-F5344CB8AC3E}">
        <p14:creationId xmlns="" xmlns:p14="http://schemas.microsoft.com/office/powerpoint/2010/main" val="1361203225"/>
      </p:ext>
    </p:extLst>
  </p:cSld>
  <p:clrMapOvr>
    <a:masterClrMapping/>
  </p:clrMapOvr>
  <mc:AlternateContent xmlns:mc="http://schemas.openxmlformats.org/markup-compatibility/2006">
    <mc:Choice xmlns=""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1500"/>
                                        <p:tgtEl>
                                          <p:spTgt spid="4"/>
                                        </p:tgtEl>
                                      </p:cBhvr>
                                    </p:animEffect>
                                  </p:childTnLst>
                                </p:cTn>
                              </p:par>
                              <p:par>
                                <p:cTn id="8" presetID="22" presetClass="entr" presetSubtype="1" fill="hold" grpId="0" nodeType="withEffect">
                                  <p:stCondLst>
                                    <p:cond delay="125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63708" y="312788"/>
            <a:ext cx="539519" cy="51003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755751" y="535402"/>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34" name="文本框 33"/>
          <p:cNvSpPr txBox="1"/>
          <p:nvPr/>
        </p:nvSpPr>
        <p:spPr>
          <a:xfrm>
            <a:off x="2811747" y="73737"/>
            <a:ext cx="1990464" cy="461665"/>
          </a:xfrm>
          <a:prstGeom prst="rect">
            <a:avLst/>
          </a:prstGeom>
          <a:noFill/>
        </p:spPr>
        <p:txBody>
          <a:bodyPr wrap="square" rtlCol="0">
            <a:spAutoFit/>
          </a:bodyPr>
          <a:lstStyle/>
          <a:p>
            <a:pPr algn="just">
              <a:lnSpc>
                <a:spcPct val="150000"/>
              </a:lnSpc>
            </a:pPr>
            <a:r>
              <a:rPr lang="zh-CN" altLang="en-US" sz="1600" dirty="0" smtClean="0">
                <a:latin typeface="微软雅黑" panose="020B0503020204020204" pitchFamily="34" charset="-122"/>
                <a:ea typeface="微软雅黑" panose="020B0503020204020204" pitchFamily="34" charset="-122"/>
              </a:rPr>
              <a:t>相关措施</a:t>
            </a:r>
            <a:endParaRPr lang="en-US" altLang="zh-CN" sz="1600"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88193" y="147632"/>
            <a:ext cx="1197976" cy="394514"/>
          </a:xfrm>
          <a:prstGeom prst="rect">
            <a:avLst/>
          </a:prstGeom>
        </p:spPr>
      </p:pic>
      <p:sp>
        <p:nvSpPr>
          <p:cNvPr id="2" name="五边形 1"/>
          <p:cNvSpPr/>
          <p:nvPr/>
        </p:nvSpPr>
        <p:spPr>
          <a:xfrm>
            <a:off x="762100" y="670006"/>
            <a:ext cx="1454050" cy="275434"/>
          </a:xfrm>
          <a:prstGeom prst="homePlat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latin typeface="微软雅黑" panose="020B0503020204020204" pitchFamily="34" charset="-122"/>
                <a:ea typeface="微软雅黑" panose="020B0503020204020204" pitchFamily="34" charset="-122"/>
              </a:rPr>
              <a:t>现有预防性工程措施</a:t>
            </a:r>
            <a:endParaRPr lang="zh-CN" altLang="en-US" sz="1000" dirty="0">
              <a:latin typeface="微软雅黑" panose="020B0503020204020204" pitchFamily="34" charset="-122"/>
              <a:ea typeface="微软雅黑" panose="020B0503020204020204" pitchFamily="34" charset="-122"/>
            </a:endParaRPr>
          </a:p>
        </p:txBody>
      </p:sp>
      <p:sp>
        <p:nvSpPr>
          <p:cNvPr id="3" name="矩形 2"/>
          <p:cNvSpPr/>
          <p:nvPr/>
        </p:nvSpPr>
        <p:spPr>
          <a:xfrm>
            <a:off x="478105" y="1022222"/>
            <a:ext cx="5881423" cy="3726661"/>
          </a:xfrm>
          <a:prstGeom prst="rect">
            <a:avLst/>
          </a:prstGeom>
        </p:spPr>
        <p:txBody>
          <a:bodyPr wrap="square">
            <a:spAutoFit/>
          </a:bodyPr>
          <a:lstStyle/>
          <a:p>
            <a:pPr marL="171450" indent="-171450">
              <a:lnSpc>
                <a:spcPct val="150000"/>
              </a:lnSpc>
              <a:buFont typeface="Wingdings" panose="05000000000000000000" pitchFamily="2" charset="2"/>
              <a:buChar char="p"/>
            </a:pPr>
            <a:r>
              <a:rPr lang="zh-CN" altLang="en-US" sz="900" kern="0" dirty="0" smtClean="0">
                <a:solidFill>
                  <a:srgbClr val="000000"/>
                </a:solidFill>
                <a:latin typeface="Times New Roman" pitchFamily="18" charset="0"/>
                <a:cs typeface="Times New Roman" pitchFamily="18" charset="0"/>
              </a:rPr>
              <a:t>附件升级：</a:t>
            </a:r>
            <a:r>
              <a:rPr lang="zh-CN" altLang="en-US" sz="900" kern="0" dirty="0">
                <a:solidFill>
                  <a:srgbClr val="000000"/>
                </a:solidFill>
                <a:latin typeface="Times New Roman" pitchFamily="18" charset="0"/>
                <a:cs typeface="Times New Roman" pitchFamily="18" charset="0"/>
              </a:rPr>
              <a:t>颁发</a:t>
            </a:r>
            <a:r>
              <a:rPr lang="en-US" altLang="zh-CN" sz="900" kern="0" dirty="0">
                <a:solidFill>
                  <a:srgbClr val="000000"/>
                </a:solidFill>
                <a:latin typeface="Times New Roman" pitchFamily="18" charset="0"/>
                <a:cs typeface="Times New Roman" pitchFamily="18" charset="0"/>
              </a:rPr>
              <a:t>EB-B737-27-1003-R01/Boeing 737-SL-27-196-B/Honeywell SB 18-1738-10-27</a:t>
            </a:r>
            <a:r>
              <a:rPr lang="zh-CN" altLang="en-US" sz="900" kern="0" dirty="0">
                <a:solidFill>
                  <a:srgbClr val="000000"/>
                </a:solidFill>
                <a:latin typeface="Times New Roman" pitchFamily="18" charset="0"/>
                <a:cs typeface="Times New Roman" pitchFamily="18" charset="0"/>
              </a:rPr>
              <a:t>，将襟翼位置传感器</a:t>
            </a:r>
            <a:r>
              <a:rPr lang="en-US" altLang="zh-CN" sz="900" kern="0" dirty="0">
                <a:solidFill>
                  <a:srgbClr val="000000"/>
                </a:solidFill>
                <a:latin typeface="Times New Roman" pitchFamily="18" charset="0"/>
                <a:cs typeface="Times New Roman" pitchFamily="18" charset="0"/>
              </a:rPr>
              <a:t>18-1738-10 </a:t>
            </a:r>
            <a:r>
              <a:rPr lang="zh-CN" altLang="en-US" sz="900" kern="0" dirty="0">
                <a:solidFill>
                  <a:srgbClr val="000000"/>
                </a:solidFill>
                <a:latin typeface="Times New Roman" pitchFamily="18" charset="0"/>
                <a:cs typeface="Times New Roman" pitchFamily="18" charset="0"/>
              </a:rPr>
              <a:t>升级为</a:t>
            </a:r>
            <a:r>
              <a:rPr lang="en-US" altLang="zh-CN" sz="900" kern="0" dirty="0">
                <a:solidFill>
                  <a:srgbClr val="000000"/>
                </a:solidFill>
                <a:latin typeface="Times New Roman" pitchFamily="18" charset="0"/>
                <a:cs typeface="Times New Roman" pitchFamily="18" charset="0"/>
              </a:rPr>
              <a:t>18-1738-12</a:t>
            </a:r>
            <a:r>
              <a:rPr lang="zh-CN" altLang="en-US" sz="900" kern="0" dirty="0">
                <a:solidFill>
                  <a:srgbClr val="000000"/>
                </a:solidFill>
                <a:latin typeface="Times New Roman" pitchFamily="18" charset="0"/>
                <a:cs typeface="Times New Roman" pitchFamily="18" charset="0"/>
              </a:rPr>
              <a:t>，并在原序号后加上字母</a:t>
            </a:r>
            <a:r>
              <a:rPr lang="en-US" altLang="zh-CN" sz="900" kern="0" dirty="0">
                <a:solidFill>
                  <a:srgbClr val="000000"/>
                </a:solidFill>
                <a:latin typeface="Times New Roman" pitchFamily="18" charset="0"/>
                <a:cs typeface="Times New Roman" pitchFamily="18" charset="0"/>
              </a:rPr>
              <a:t>“M”</a:t>
            </a:r>
            <a:r>
              <a:rPr lang="zh-CN" altLang="en-US" sz="900" kern="0" dirty="0">
                <a:solidFill>
                  <a:srgbClr val="000000"/>
                </a:solidFill>
                <a:latin typeface="Times New Roman" pitchFamily="18" charset="0"/>
                <a:cs typeface="Times New Roman" pitchFamily="18" charset="0"/>
              </a:rPr>
              <a:t>。</a:t>
            </a:r>
            <a:endParaRPr lang="en-US" altLang="zh-CN" sz="900" kern="0" dirty="0">
              <a:solidFill>
                <a:srgbClr val="000000"/>
              </a:solidFill>
              <a:latin typeface="Times New Roman" pitchFamily="18" charset="0"/>
              <a:cs typeface="Times New Roman" pitchFamily="18" charset="0"/>
            </a:endParaRPr>
          </a:p>
          <a:p>
            <a:pPr>
              <a:lnSpc>
                <a:spcPct val="150000"/>
              </a:lnSpc>
            </a:pPr>
            <a:r>
              <a:rPr lang="en-US" altLang="zh-CN" sz="900" kern="0" dirty="0">
                <a:solidFill>
                  <a:srgbClr val="000000"/>
                </a:solidFill>
                <a:latin typeface="Times New Roman" pitchFamily="18" charset="0"/>
                <a:cs typeface="Times New Roman" pitchFamily="18" charset="0"/>
              </a:rPr>
              <a:t>       </a:t>
            </a:r>
            <a:r>
              <a:rPr lang="zh-CN" altLang="en-US" sz="900" kern="0" dirty="0">
                <a:solidFill>
                  <a:srgbClr val="000000"/>
                </a:solidFill>
                <a:latin typeface="Times New Roman" pitchFamily="18" charset="0"/>
                <a:cs typeface="Times New Roman" pitchFamily="18" charset="0"/>
              </a:rPr>
              <a:t>注：</a:t>
            </a:r>
            <a:r>
              <a:rPr lang="en-US" altLang="zh-CN" sz="900" kern="0" dirty="0">
                <a:solidFill>
                  <a:srgbClr val="000000"/>
                </a:solidFill>
                <a:latin typeface="Times New Roman" pitchFamily="18" charset="0"/>
                <a:cs typeface="Times New Roman" pitchFamily="18" charset="0"/>
              </a:rPr>
              <a:t>18-1738-10 </a:t>
            </a:r>
            <a:r>
              <a:rPr lang="zh-CN" altLang="en-US" sz="900" kern="0" dirty="0">
                <a:solidFill>
                  <a:srgbClr val="000000"/>
                </a:solidFill>
                <a:latin typeface="Times New Roman" pitchFamily="18" charset="0"/>
                <a:cs typeface="Times New Roman" pitchFamily="18" charset="0"/>
              </a:rPr>
              <a:t>与</a:t>
            </a:r>
            <a:r>
              <a:rPr lang="en-US" altLang="zh-CN" sz="900" kern="0" dirty="0">
                <a:solidFill>
                  <a:srgbClr val="000000"/>
                </a:solidFill>
                <a:latin typeface="Times New Roman" pitchFamily="18" charset="0"/>
                <a:cs typeface="Times New Roman" pitchFamily="18" charset="0"/>
              </a:rPr>
              <a:t>18-1738-12 </a:t>
            </a:r>
            <a:r>
              <a:rPr lang="zh-CN" altLang="en-US" sz="900" kern="0" dirty="0">
                <a:solidFill>
                  <a:srgbClr val="000000"/>
                </a:solidFill>
                <a:latin typeface="Times New Roman" pitchFamily="18" charset="0"/>
                <a:cs typeface="Times New Roman" pitchFamily="18" charset="0"/>
              </a:rPr>
              <a:t>完全可</a:t>
            </a:r>
            <a:r>
              <a:rPr lang="zh-CN" altLang="en-US" sz="900" kern="0" dirty="0" smtClean="0">
                <a:solidFill>
                  <a:srgbClr val="000000"/>
                </a:solidFill>
                <a:latin typeface="Times New Roman" pitchFamily="18" charset="0"/>
                <a:cs typeface="Times New Roman" pitchFamily="18" charset="0"/>
              </a:rPr>
              <a:t>互换。</a:t>
            </a:r>
            <a:endParaRPr lang="en-US" altLang="zh-CN" sz="900" kern="0" dirty="0" smtClean="0">
              <a:solidFill>
                <a:srgbClr val="000000"/>
              </a:solidFill>
              <a:latin typeface="Times New Roman" pitchFamily="18" charset="0"/>
              <a:cs typeface="Times New Roman" pitchFamily="18" charset="0"/>
            </a:endParaRPr>
          </a:p>
          <a:p>
            <a:pPr>
              <a:lnSpc>
                <a:spcPct val="150000"/>
              </a:lnSpc>
            </a:pPr>
            <a:endParaRPr lang="en-US" altLang="zh-CN" sz="900" kern="0" dirty="0">
              <a:solidFill>
                <a:srgbClr val="000000"/>
              </a:solidFill>
              <a:latin typeface="Times New Roman" pitchFamily="18" charset="0"/>
              <a:cs typeface="Times New Roman" pitchFamily="18" charset="0"/>
            </a:endParaRPr>
          </a:p>
          <a:p>
            <a:pPr marL="171450" indent="-171450">
              <a:lnSpc>
                <a:spcPct val="150000"/>
              </a:lnSpc>
              <a:buFont typeface="Wingdings" panose="05000000000000000000" pitchFamily="2" charset="2"/>
              <a:buChar char="p"/>
            </a:pPr>
            <a:r>
              <a:rPr lang="zh-CN" altLang="zh-CN" sz="900" kern="0" dirty="0" smtClean="0">
                <a:solidFill>
                  <a:srgbClr val="000000"/>
                </a:solidFill>
                <a:latin typeface="Times New Roman" pitchFamily="18" charset="0"/>
                <a:cs typeface="Times New Roman" pitchFamily="18" charset="0"/>
              </a:rPr>
              <a:t>真实</a:t>
            </a:r>
            <a:r>
              <a:rPr lang="zh-CN" altLang="zh-CN" sz="900" kern="0" dirty="0">
                <a:solidFill>
                  <a:srgbClr val="000000"/>
                </a:solidFill>
                <a:latin typeface="Times New Roman" pitchFamily="18" charset="0"/>
                <a:cs typeface="Times New Roman" pitchFamily="18" charset="0"/>
              </a:rPr>
              <a:t>卡阻：后缘襟翼驱动系统卡</a:t>
            </a:r>
            <a:r>
              <a:rPr lang="zh-CN" altLang="zh-CN" sz="900" kern="0" dirty="0" smtClean="0">
                <a:solidFill>
                  <a:srgbClr val="000000"/>
                </a:solidFill>
                <a:latin typeface="Times New Roman" pitchFamily="18" charset="0"/>
                <a:cs typeface="Times New Roman" pitchFamily="18" charset="0"/>
              </a:rPr>
              <a:t>阻</a:t>
            </a:r>
            <a:endParaRPr lang="en-US" altLang="zh-CN" sz="900" kern="100" dirty="0" smtClean="0">
              <a:latin typeface="Times New Roman" pitchFamily="18" charset="0"/>
              <a:cs typeface="Times New Roman" pitchFamily="18" charset="0"/>
            </a:endParaRPr>
          </a:p>
          <a:p>
            <a:pPr marL="171450" indent="-171450">
              <a:lnSpc>
                <a:spcPct val="150000"/>
              </a:lnSpc>
              <a:buFont typeface="Wingdings" pitchFamily="2" charset="2"/>
              <a:buChar char="Ø"/>
            </a:pPr>
            <a:r>
              <a:rPr lang="en-US" altLang="zh-CN" sz="900" kern="0" dirty="0" smtClean="0">
                <a:solidFill>
                  <a:srgbClr val="000000"/>
                </a:solidFill>
                <a:latin typeface="Times New Roman" pitchFamily="18" charset="0"/>
                <a:cs typeface="Times New Roman" pitchFamily="18" charset="0"/>
              </a:rPr>
              <a:t>CAMP27-138-00 </a:t>
            </a:r>
            <a:r>
              <a:rPr lang="zh-CN" altLang="zh-CN" sz="900" kern="0" dirty="0">
                <a:solidFill>
                  <a:srgbClr val="000000"/>
                </a:solidFill>
                <a:latin typeface="Times New Roman" pitchFamily="18" charset="0"/>
                <a:cs typeface="Times New Roman" pitchFamily="18" charset="0"/>
              </a:rPr>
              <a:t>每</a:t>
            </a:r>
            <a:r>
              <a:rPr lang="en-US" altLang="zh-CN" sz="900" kern="0" dirty="0">
                <a:solidFill>
                  <a:srgbClr val="000000"/>
                </a:solidFill>
                <a:latin typeface="Times New Roman" pitchFamily="18" charset="0"/>
                <a:cs typeface="Times New Roman" pitchFamily="18" charset="0"/>
              </a:rPr>
              <a:t>2 </a:t>
            </a:r>
            <a:r>
              <a:rPr lang="zh-CN" altLang="zh-CN" sz="900" kern="0" dirty="0">
                <a:solidFill>
                  <a:srgbClr val="000000"/>
                </a:solidFill>
                <a:latin typeface="Times New Roman" pitchFamily="18" charset="0"/>
                <a:cs typeface="Times New Roman" pitchFamily="18" charset="0"/>
              </a:rPr>
              <a:t>年润滑左右襟翼驱动扭力</a:t>
            </a:r>
            <a:r>
              <a:rPr lang="zh-CN" altLang="zh-CN" sz="900" kern="0" dirty="0" smtClean="0">
                <a:solidFill>
                  <a:srgbClr val="000000"/>
                </a:solidFill>
                <a:latin typeface="Times New Roman" pitchFamily="18" charset="0"/>
                <a:cs typeface="Times New Roman" pitchFamily="18" charset="0"/>
              </a:rPr>
              <a:t>杆</a:t>
            </a:r>
            <a:endParaRPr lang="en-US" altLang="zh-CN" sz="900" kern="100" dirty="0" smtClean="0">
              <a:latin typeface="Times New Roman" pitchFamily="18" charset="0"/>
              <a:cs typeface="Times New Roman" pitchFamily="18" charset="0"/>
            </a:endParaRPr>
          </a:p>
          <a:p>
            <a:pPr marL="171450" indent="-171450">
              <a:lnSpc>
                <a:spcPct val="150000"/>
              </a:lnSpc>
              <a:buFont typeface="Wingdings" pitchFamily="2" charset="2"/>
              <a:buChar char="Ø"/>
            </a:pPr>
            <a:r>
              <a:rPr lang="en-US" altLang="zh-CN" sz="900" kern="0" dirty="0" smtClean="0">
                <a:solidFill>
                  <a:srgbClr val="000000"/>
                </a:solidFill>
                <a:latin typeface="Times New Roman" pitchFamily="18" charset="0"/>
                <a:cs typeface="Times New Roman" pitchFamily="18" charset="0"/>
              </a:rPr>
              <a:t>CAMP27-142-01/02 </a:t>
            </a:r>
            <a:r>
              <a:rPr lang="zh-CN" altLang="zh-CN" sz="900" kern="0" dirty="0">
                <a:solidFill>
                  <a:srgbClr val="000000"/>
                </a:solidFill>
                <a:latin typeface="Times New Roman" pitchFamily="18" charset="0"/>
                <a:cs typeface="Times New Roman" pitchFamily="18" charset="0"/>
              </a:rPr>
              <a:t>每</a:t>
            </a:r>
            <a:r>
              <a:rPr lang="en-US" altLang="zh-CN" sz="900" kern="0" dirty="0">
                <a:solidFill>
                  <a:srgbClr val="000000"/>
                </a:solidFill>
                <a:latin typeface="Times New Roman" pitchFamily="18" charset="0"/>
                <a:cs typeface="Times New Roman" pitchFamily="18" charset="0"/>
              </a:rPr>
              <a:t>25000FC </a:t>
            </a:r>
            <a:r>
              <a:rPr lang="zh-CN" altLang="zh-CN" sz="900" kern="0" dirty="0">
                <a:solidFill>
                  <a:srgbClr val="000000"/>
                </a:solidFill>
                <a:latin typeface="Times New Roman" pitchFamily="18" charset="0"/>
                <a:cs typeface="Times New Roman" pitchFamily="18" charset="0"/>
              </a:rPr>
              <a:t>检查左右襟翼驱动传动装置润滑</a:t>
            </a:r>
            <a:r>
              <a:rPr lang="zh-CN" altLang="zh-CN" sz="900" kern="0" dirty="0" smtClean="0">
                <a:solidFill>
                  <a:srgbClr val="000000"/>
                </a:solidFill>
                <a:latin typeface="Times New Roman" pitchFamily="18" charset="0"/>
                <a:cs typeface="Times New Roman" pitchFamily="18" charset="0"/>
              </a:rPr>
              <a:t>油</a:t>
            </a:r>
            <a:endParaRPr lang="en-US" altLang="zh-CN" sz="900" kern="100" dirty="0" smtClean="0">
              <a:latin typeface="Times New Roman" pitchFamily="18" charset="0"/>
              <a:cs typeface="Times New Roman" pitchFamily="18" charset="0"/>
            </a:endParaRPr>
          </a:p>
          <a:p>
            <a:pPr marL="171450" indent="-171450">
              <a:lnSpc>
                <a:spcPct val="150000"/>
              </a:lnSpc>
              <a:buFont typeface="Wingdings" pitchFamily="2" charset="2"/>
              <a:buChar char="Ø"/>
            </a:pPr>
            <a:r>
              <a:rPr lang="en-US" altLang="zh-CN" sz="900" kern="0" dirty="0" smtClean="0">
                <a:solidFill>
                  <a:srgbClr val="000000"/>
                </a:solidFill>
                <a:latin typeface="Times New Roman" pitchFamily="18" charset="0"/>
                <a:cs typeface="Times New Roman" pitchFamily="18" charset="0"/>
              </a:rPr>
              <a:t>CAMP27-172-01/02 </a:t>
            </a:r>
            <a:r>
              <a:rPr lang="zh-CN" altLang="zh-CN" sz="900" kern="0" dirty="0">
                <a:solidFill>
                  <a:srgbClr val="000000"/>
                </a:solidFill>
                <a:latin typeface="Times New Roman" pitchFamily="18" charset="0"/>
                <a:cs typeface="Times New Roman" pitchFamily="18" charset="0"/>
              </a:rPr>
              <a:t>每</a:t>
            </a:r>
            <a:r>
              <a:rPr lang="en-US" altLang="zh-CN" sz="900" kern="0" dirty="0">
                <a:solidFill>
                  <a:srgbClr val="000000"/>
                </a:solidFill>
                <a:latin typeface="Times New Roman" pitchFamily="18" charset="0"/>
                <a:cs typeface="Times New Roman" pitchFamily="18" charset="0"/>
              </a:rPr>
              <a:t>12000FC </a:t>
            </a:r>
            <a:r>
              <a:rPr lang="zh-CN" altLang="zh-CN" sz="900" kern="0" dirty="0">
                <a:solidFill>
                  <a:srgbClr val="000000"/>
                </a:solidFill>
                <a:latin typeface="Times New Roman" pitchFamily="18" charset="0"/>
                <a:cs typeface="Times New Roman" pitchFamily="18" charset="0"/>
              </a:rPr>
              <a:t>详细目视检查左右后缘襟翼作动</a:t>
            </a:r>
            <a:r>
              <a:rPr lang="zh-CN" altLang="zh-CN" sz="900" kern="0" dirty="0" smtClean="0">
                <a:solidFill>
                  <a:srgbClr val="000000"/>
                </a:solidFill>
                <a:latin typeface="Times New Roman" pitchFamily="18" charset="0"/>
                <a:cs typeface="Times New Roman" pitchFamily="18" charset="0"/>
              </a:rPr>
              <a:t>机构</a:t>
            </a:r>
            <a:endParaRPr lang="en-US" altLang="zh-CN" sz="900" kern="100" dirty="0" smtClean="0">
              <a:latin typeface="Times New Roman" pitchFamily="18" charset="0"/>
              <a:cs typeface="Times New Roman" pitchFamily="18" charset="0"/>
            </a:endParaRPr>
          </a:p>
          <a:p>
            <a:pPr marL="171450" indent="-171450">
              <a:lnSpc>
                <a:spcPct val="150000"/>
              </a:lnSpc>
              <a:spcBef>
                <a:spcPts val="800"/>
              </a:spcBef>
              <a:buFont typeface="Wingdings" panose="05000000000000000000" pitchFamily="2" charset="2"/>
              <a:buChar char="p"/>
            </a:pPr>
            <a:r>
              <a:rPr lang="zh-CN" altLang="zh-CN" sz="900" kern="0" dirty="0" smtClean="0">
                <a:solidFill>
                  <a:srgbClr val="000000"/>
                </a:solidFill>
                <a:latin typeface="Times New Roman" pitchFamily="18" charset="0"/>
                <a:cs typeface="Times New Roman" pitchFamily="18" charset="0"/>
              </a:rPr>
              <a:t>襟翼</a:t>
            </a:r>
            <a:r>
              <a:rPr lang="zh-CN" altLang="zh-CN" sz="900" kern="0" dirty="0">
                <a:solidFill>
                  <a:srgbClr val="000000"/>
                </a:solidFill>
                <a:latin typeface="Times New Roman" pitchFamily="18" charset="0"/>
                <a:cs typeface="Times New Roman" pitchFamily="18" charset="0"/>
              </a:rPr>
              <a:t>探测系统故障</a:t>
            </a:r>
            <a:r>
              <a:rPr lang="zh-CN" altLang="zh-CN" sz="900" kern="0" dirty="0" smtClean="0">
                <a:solidFill>
                  <a:srgbClr val="000000"/>
                </a:solidFill>
                <a:latin typeface="Times New Roman" pitchFamily="18" charset="0"/>
                <a:cs typeface="Times New Roman" pitchFamily="18" charset="0"/>
              </a:rPr>
              <a:t>：</a:t>
            </a:r>
            <a:endParaRPr lang="zh-CN" altLang="zh-CN" sz="900" kern="100" dirty="0" smtClean="0">
              <a:latin typeface="Times New Roman" pitchFamily="18" charset="0"/>
              <a:cs typeface="Times New Roman" pitchFamily="18" charset="0"/>
            </a:endParaRPr>
          </a:p>
          <a:p>
            <a:pPr indent="190500">
              <a:lnSpc>
                <a:spcPct val="150000"/>
              </a:lnSpc>
              <a:buFont typeface="Wingdings" pitchFamily="2" charset="2"/>
              <a:buChar char="Ø"/>
            </a:pPr>
            <a:r>
              <a:rPr lang="en-US" altLang="zh-CN" sz="900" kern="0" dirty="0">
                <a:solidFill>
                  <a:srgbClr val="000000"/>
                </a:solidFill>
                <a:latin typeface="Times New Roman" pitchFamily="18" charset="0"/>
                <a:cs typeface="Times New Roman" pitchFamily="18" charset="0"/>
              </a:rPr>
              <a:t>CAMP27-162-00 750FH</a:t>
            </a:r>
            <a:r>
              <a:rPr lang="zh-CN" altLang="zh-CN" sz="900" kern="0" dirty="0">
                <a:solidFill>
                  <a:srgbClr val="000000"/>
                </a:solidFill>
                <a:latin typeface="Times New Roman" pitchFamily="18" charset="0"/>
                <a:cs typeface="Times New Roman" pitchFamily="18" charset="0"/>
              </a:rPr>
              <a:t>启动襟翼缝翼电子组件（</a:t>
            </a:r>
            <a:r>
              <a:rPr lang="en-US" altLang="zh-CN" sz="900" kern="0" dirty="0">
                <a:solidFill>
                  <a:srgbClr val="000000"/>
                </a:solidFill>
                <a:latin typeface="Times New Roman" pitchFamily="18" charset="0"/>
                <a:cs typeface="Times New Roman" pitchFamily="18" charset="0"/>
              </a:rPr>
              <a:t>FSEU</a:t>
            </a:r>
            <a:r>
              <a:rPr lang="zh-CN" altLang="zh-CN" sz="900" kern="0" dirty="0">
                <a:solidFill>
                  <a:srgbClr val="000000"/>
                </a:solidFill>
                <a:latin typeface="Times New Roman" pitchFamily="18" charset="0"/>
                <a:cs typeface="Times New Roman" pitchFamily="18" charset="0"/>
              </a:rPr>
              <a:t>）自测试，操作检查襟翼倾斜系统和襟翼不对称</a:t>
            </a:r>
            <a:r>
              <a:rPr lang="zh-CN" altLang="zh-CN" sz="900" kern="0" dirty="0" smtClean="0">
                <a:solidFill>
                  <a:srgbClr val="000000"/>
                </a:solidFill>
                <a:latin typeface="Times New Roman" pitchFamily="18" charset="0"/>
                <a:cs typeface="Times New Roman" pitchFamily="18" charset="0"/>
              </a:rPr>
              <a:t>系统</a:t>
            </a:r>
            <a:endParaRPr lang="en-US" altLang="zh-CN" sz="900" kern="0" dirty="0" smtClean="0">
              <a:solidFill>
                <a:srgbClr val="000000"/>
              </a:solidFill>
              <a:latin typeface="Times New Roman" pitchFamily="18" charset="0"/>
              <a:cs typeface="Times New Roman" pitchFamily="18" charset="0"/>
            </a:endParaRPr>
          </a:p>
          <a:p>
            <a:pPr indent="190500">
              <a:lnSpc>
                <a:spcPct val="150000"/>
              </a:lnSpc>
            </a:pPr>
            <a:r>
              <a:rPr lang="zh-CN" altLang="zh-CN" sz="900" kern="0" dirty="0" smtClean="0">
                <a:solidFill>
                  <a:srgbClr val="000000"/>
                </a:solidFill>
                <a:latin typeface="Times New Roman" pitchFamily="18" charset="0"/>
                <a:cs typeface="Times New Roman" pitchFamily="18" charset="0"/>
              </a:rPr>
              <a:t>此</a:t>
            </a:r>
            <a:r>
              <a:rPr lang="zh-CN" altLang="zh-CN" sz="900" kern="0" dirty="0">
                <a:solidFill>
                  <a:srgbClr val="000000"/>
                </a:solidFill>
                <a:latin typeface="Times New Roman" pitchFamily="18" charset="0"/>
                <a:cs typeface="Times New Roman" pitchFamily="18" charset="0"/>
              </a:rPr>
              <a:t>条目的目的是测试襟翼扭曲和不对称系统，测试过程中只能检测到当前位置传感器的性能，对于间歇性</a:t>
            </a:r>
            <a:r>
              <a:rPr lang="zh-CN" altLang="zh-CN" sz="900" kern="0" dirty="0" smtClean="0">
                <a:solidFill>
                  <a:srgbClr val="000000"/>
                </a:solidFill>
                <a:latin typeface="Times New Roman" pitchFamily="18" charset="0"/>
                <a:cs typeface="Times New Roman" pitchFamily="18" charset="0"/>
              </a:rPr>
              <a:t>出现</a:t>
            </a:r>
            <a:endParaRPr lang="en-US" altLang="zh-CN" sz="900" kern="0" dirty="0" smtClean="0">
              <a:solidFill>
                <a:srgbClr val="000000"/>
              </a:solidFill>
              <a:latin typeface="Times New Roman" pitchFamily="18" charset="0"/>
              <a:cs typeface="Times New Roman" pitchFamily="18" charset="0"/>
            </a:endParaRPr>
          </a:p>
          <a:p>
            <a:pPr indent="190500">
              <a:lnSpc>
                <a:spcPct val="150000"/>
              </a:lnSpc>
            </a:pPr>
            <a:r>
              <a:rPr lang="zh-CN" altLang="zh-CN" sz="900" kern="0" dirty="0" smtClean="0">
                <a:solidFill>
                  <a:srgbClr val="000000"/>
                </a:solidFill>
                <a:latin typeface="Times New Roman" pitchFamily="18" charset="0"/>
                <a:cs typeface="Times New Roman" pitchFamily="18" charset="0"/>
              </a:rPr>
              <a:t>的</a:t>
            </a:r>
            <a:r>
              <a:rPr lang="zh-CN" altLang="zh-CN" sz="900" kern="0" dirty="0">
                <a:solidFill>
                  <a:srgbClr val="000000"/>
                </a:solidFill>
                <a:latin typeface="Times New Roman" pitchFamily="18" charset="0"/>
                <a:cs typeface="Times New Roman" pitchFamily="18" charset="0"/>
              </a:rPr>
              <a:t>故障无法检测到，故无法做到提前预防</a:t>
            </a:r>
            <a:r>
              <a:rPr lang="zh-CN" altLang="zh-CN" sz="900" kern="0" dirty="0" smtClean="0">
                <a:solidFill>
                  <a:srgbClr val="000000"/>
                </a:solidFill>
                <a:latin typeface="Times New Roman" pitchFamily="18" charset="0"/>
                <a:cs typeface="Times New Roman" pitchFamily="18" charset="0"/>
              </a:rPr>
              <a:t>。</a:t>
            </a:r>
            <a:endParaRPr lang="en-US" altLang="zh-CN" sz="900" kern="0" dirty="0" smtClean="0">
              <a:solidFill>
                <a:srgbClr val="000000"/>
              </a:solidFill>
              <a:latin typeface="Times New Roman" pitchFamily="18" charset="0"/>
              <a:cs typeface="Times New Roman" pitchFamily="18" charset="0"/>
            </a:endParaRPr>
          </a:p>
          <a:p>
            <a:pPr indent="190500">
              <a:lnSpc>
                <a:spcPct val="150000"/>
              </a:lnSpc>
              <a:buFont typeface="Wingdings" pitchFamily="2" charset="2"/>
              <a:buChar char="Ø"/>
            </a:pPr>
            <a:r>
              <a:rPr lang="en-US" altLang="zh-CN" sz="900" kern="0" dirty="0" smtClean="0">
                <a:solidFill>
                  <a:srgbClr val="000000"/>
                </a:solidFill>
                <a:latin typeface="Times New Roman" pitchFamily="18" charset="0"/>
                <a:cs typeface="Times New Roman" pitchFamily="18" charset="0"/>
              </a:rPr>
              <a:t>CAMP27-CA-115 2YR</a:t>
            </a:r>
            <a:r>
              <a:rPr lang="zh-CN" altLang="en-US" sz="900" dirty="0" smtClean="0">
                <a:latin typeface="Times New Roman" pitchFamily="18" charset="0"/>
                <a:cs typeface="Times New Roman" pitchFamily="18" charset="0"/>
              </a:rPr>
              <a:t>襟翼位置传感器插头进行检查和防腐。</a:t>
            </a:r>
            <a:endParaRPr lang="en-US" altLang="zh-CN" sz="900" dirty="0" smtClean="0">
              <a:latin typeface="Times New Roman" pitchFamily="18" charset="0"/>
              <a:cs typeface="Times New Roman" pitchFamily="18" charset="0"/>
            </a:endParaRPr>
          </a:p>
          <a:p>
            <a:pPr indent="190500">
              <a:lnSpc>
                <a:spcPct val="150000"/>
              </a:lnSpc>
              <a:buFont typeface="Wingdings" pitchFamily="2" charset="2"/>
              <a:buChar char="Ø"/>
            </a:pPr>
            <a:r>
              <a:rPr lang="zh-CN" altLang="en-US" sz="900" dirty="0" smtClean="0">
                <a:latin typeface="Times New Roman" pitchFamily="18" charset="0"/>
                <a:cs typeface="Times New Roman" pitchFamily="18" charset="0"/>
              </a:rPr>
              <a:t>根据波音</a:t>
            </a:r>
            <a:r>
              <a:rPr lang="en-US" altLang="zh-CN" sz="900" dirty="0" smtClean="0">
                <a:latin typeface="Times New Roman" pitchFamily="18" charset="0"/>
                <a:cs typeface="Times New Roman" pitchFamily="18" charset="0"/>
              </a:rPr>
              <a:t>SL737-27-226,</a:t>
            </a:r>
            <a:r>
              <a:rPr lang="zh-CN" altLang="en-US" sz="900" dirty="0" smtClean="0">
                <a:latin typeface="Times New Roman" pitchFamily="18" charset="0"/>
                <a:cs typeface="Times New Roman" pitchFamily="18" charset="0"/>
              </a:rPr>
              <a:t>工程颁发了</a:t>
            </a:r>
            <a:r>
              <a:rPr lang="en-US" altLang="zh-CN" sz="900" kern="0" dirty="0" smtClean="0">
                <a:solidFill>
                  <a:srgbClr val="000000"/>
                </a:solidFill>
                <a:latin typeface="Times New Roman" pitchFamily="18" charset="0"/>
                <a:cs typeface="Times New Roman" pitchFamily="18" charset="0"/>
              </a:rPr>
              <a:t>MT,</a:t>
            </a:r>
            <a:r>
              <a:rPr lang="zh-CN" altLang="en-US" sz="900" kern="0" dirty="0" smtClean="0">
                <a:solidFill>
                  <a:srgbClr val="000000"/>
                </a:solidFill>
                <a:latin typeface="Times New Roman" pitchFamily="18" charset="0"/>
                <a:cs typeface="Times New Roman" pitchFamily="18" charset="0"/>
              </a:rPr>
              <a:t>建议生产人员排骨时同时更换传感器和指示器</a:t>
            </a:r>
            <a:endParaRPr lang="en-US" altLang="zh-CN" sz="900" dirty="0" smtClean="0">
              <a:latin typeface="Times New Roman" pitchFamily="18" charset="0"/>
              <a:cs typeface="Times New Roman" pitchFamily="18" charset="0"/>
            </a:endParaRPr>
          </a:p>
          <a:p>
            <a:pPr indent="190500">
              <a:lnSpc>
                <a:spcPct val="150000"/>
              </a:lnSpc>
              <a:buFont typeface="Wingdings" pitchFamily="2" charset="2"/>
              <a:buChar char="Ø"/>
            </a:pPr>
            <a:r>
              <a:rPr lang="zh-CN" altLang="en-US" sz="900" kern="0" dirty="0" smtClean="0">
                <a:solidFill>
                  <a:srgbClr val="000000"/>
                </a:solidFill>
                <a:latin typeface="Times New Roman" pitchFamily="18" charset="0"/>
                <a:cs typeface="Times New Roman" pitchFamily="18" charset="0"/>
              </a:rPr>
              <a:t>颁发</a:t>
            </a:r>
            <a:r>
              <a:rPr lang="en-US" altLang="zh-CN" sz="900" kern="0" dirty="0" smtClean="0">
                <a:solidFill>
                  <a:srgbClr val="000000"/>
                </a:solidFill>
                <a:latin typeface="Times New Roman" pitchFamily="18" charset="0"/>
                <a:cs typeface="Times New Roman" pitchFamily="18" charset="0"/>
              </a:rPr>
              <a:t>AEO-B737-27-0016 737NG</a:t>
            </a:r>
            <a:r>
              <a:rPr lang="zh-CN" altLang="en-US" sz="900" kern="0" dirty="0" smtClean="0">
                <a:solidFill>
                  <a:srgbClr val="000000"/>
                </a:solidFill>
                <a:latin typeface="Times New Roman" pitchFamily="18" charset="0"/>
                <a:cs typeface="Times New Roman" pitchFamily="18" charset="0"/>
              </a:rPr>
              <a:t>后缘襟翼位置指示系统测试</a:t>
            </a:r>
            <a:endParaRPr lang="en-US" altLang="zh-CN" sz="900" kern="0" dirty="0" smtClean="0">
              <a:solidFill>
                <a:srgbClr val="000000"/>
              </a:solidFill>
              <a:latin typeface="Times New Roman" pitchFamily="18" charset="0"/>
              <a:cs typeface="Times New Roman" pitchFamily="18" charset="0"/>
            </a:endParaRPr>
          </a:p>
          <a:p>
            <a:pPr indent="190500">
              <a:lnSpc>
                <a:spcPct val="150000"/>
              </a:lnSpc>
            </a:pPr>
            <a:r>
              <a:rPr lang="zh-CN" altLang="en-US" sz="900" kern="0" dirty="0" smtClean="0">
                <a:solidFill>
                  <a:srgbClr val="000000"/>
                </a:solidFill>
                <a:latin typeface="Times New Roman" pitchFamily="18" charset="0"/>
                <a:cs typeface="Times New Roman" pitchFamily="18" charset="0"/>
              </a:rPr>
              <a:t>该测试选取了不同服役时长的飞机执行收放襟翼，并要求检查人员在收放过程中观察指示器分叉状态。若观察</a:t>
            </a:r>
            <a:endParaRPr lang="en-US" altLang="zh-CN" sz="900" kern="0" dirty="0" smtClean="0">
              <a:solidFill>
                <a:srgbClr val="000000"/>
              </a:solidFill>
              <a:latin typeface="Times New Roman" pitchFamily="18" charset="0"/>
              <a:cs typeface="Times New Roman" pitchFamily="18" charset="0"/>
            </a:endParaRPr>
          </a:p>
          <a:p>
            <a:pPr indent="190500">
              <a:lnSpc>
                <a:spcPct val="150000"/>
              </a:lnSpc>
            </a:pPr>
            <a:r>
              <a:rPr lang="zh-CN" altLang="en-US" sz="900" kern="0" dirty="0" smtClean="0">
                <a:solidFill>
                  <a:srgbClr val="000000"/>
                </a:solidFill>
                <a:latin typeface="Times New Roman" pitchFamily="18" charset="0"/>
                <a:cs typeface="Times New Roman" pitchFamily="18" charset="0"/>
              </a:rPr>
              <a:t>到分叉，更换传感器和指示器。但由于间歇性故障很难再地面复现，因此该</a:t>
            </a:r>
            <a:r>
              <a:rPr lang="en-US" altLang="zh-CN" sz="900" kern="0" dirty="0" smtClean="0">
                <a:solidFill>
                  <a:srgbClr val="000000"/>
                </a:solidFill>
                <a:latin typeface="Times New Roman" pitchFamily="18" charset="0"/>
                <a:cs typeface="Times New Roman" pitchFamily="18" charset="0"/>
              </a:rPr>
              <a:t>AEO</a:t>
            </a:r>
            <a:r>
              <a:rPr lang="zh-CN" altLang="en-US" sz="900" kern="0" dirty="0" smtClean="0">
                <a:solidFill>
                  <a:srgbClr val="000000"/>
                </a:solidFill>
                <a:latin typeface="Times New Roman" pitchFamily="18" charset="0"/>
                <a:cs typeface="Times New Roman" pitchFamily="18" charset="0"/>
              </a:rPr>
              <a:t>首检完成后不再要求重检。</a:t>
            </a:r>
            <a:endParaRPr lang="en-US" altLang="zh-CN" sz="900" kern="0" dirty="0" smtClean="0">
              <a:solidFill>
                <a:srgbClr val="00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144555678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1" fill="hold" grpId="0" nodeType="withEffect">
                                  <p:stCondLst>
                                    <p:cond delay="12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0" end="0"/>
                                            </p:txEl>
                                          </p:spTgt>
                                        </p:tgtEl>
                                        <p:attrNameLst>
                                          <p:attrName>style.visibility</p:attrName>
                                        </p:attrNameLst>
                                      </p:cBhvr>
                                      <p:to>
                                        <p:strVal val="visible"/>
                                      </p:to>
                                    </p:set>
                                    <p:anim calcmode="lin" valueType="num">
                                      <p:cBhvr additive="base">
                                        <p:cTn id="26"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 calcmode="lin" valueType="num">
                                      <p:cBhvr additive="base">
                                        <p:cTn id="3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additive="base">
                                        <p:cTn id="3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 calcmode="lin" valueType="num">
                                      <p:cBhvr additive="base">
                                        <p:cTn id="4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 calcmode="lin" valueType="num">
                                      <p:cBhvr additive="base">
                                        <p:cTn id="5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7" end="7"/>
                                            </p:txEl>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 calcmode="lin" valueType="num">
                                      <p:cBhvr additive="base">
                                        <p:cTn id="5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 calcmode="lin" valueType="num">
                                      <p:cBhvr additive="base">
                                        <p:cTn id="5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9" end="9"/>
                                            </p:txEl>
                                          </p:spTgt>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 calcmode="lin" valueType="num">
                                      <p:cBhvr additive="base">
                                        <p:cTn id="6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 calcmode="lin" valueType="num">
                                      <p:cBhvr additive="base">
                                        <p:cTn id="66"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
                                            <p:txEl>
                                              <p:pRg st="12" end="12"/>
                                            </p:txEl>
                                          </p:spTgt>
                                        </p:tgtEl>
                                        <p:attrNameLst>
                                          <p:attrName>style.visibility</p:attrName>
                                        </p:attrNameLst>
                                      </p:cBhvr>
                                      <p:to>
                                        <p:strVal val="visible"/>
                                      </p:to>
                                    </p:set>
                                    <p:anim calcmode="lin" valueType="num">
                                      <p:cBhvr additive="base">
                                        <p:cTn id="70"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3">
                                            <p:txEl>
                                              <p:pRg st="13" end="13"/>
                                            </p:txEl>
                                          </p:spTgt>
                                        </p:tgtEl>
                                        <p:attrNameLst>
                                          <p:attrName>style.visibility</p:attrName>
                                        </p:attrNameLst>
                                      </p:cBhvr>
                                      <p:to>
                                        <p:strVal val="visible"/>
                                      </p:to>
                                    </p:set>
                                    <p:anim calcmode="lin" valueType="num">
                                      <p:cBhvr additive="base">
                                        <p:cTn id="74"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3">
                                            <p:txEl>
                                              <p:pRg st="14" end="14"/>
                                            </p:txEl>
                                          </p:spTgt>
                                        </p:tgtEl>
                                        <p:attrNameLst>
                                          <p:attrName>style.visibility</p:attrName>
                                        </p:attrNameLst>
                                      </p:cBhvr>
                                      <p:to>
                                        <p:strVal val="visible"/>
                                      </p:to>
                                    </p:set>
                                    <p:anim calcmode="lin" valueType="num">
                                      <p:cBhvr additive="base">
                                        <p:cTn id="78"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 calcmode="lin" valueType="num">
                                      <p:cBhvr additive="base">
                                        <p:cTn id="82"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4" grpId="0"/>
      <p:bldP spid="2" grpId="0" animBg="1"/>
      <p:bldP spid="3"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4"/>
          <p:cNvGrpSpPr/>
          <p:nvPr/>
        </p:nvGrpSpPr>
        <p:grpSpPr>
          <a:xfrm>
            <a:off x="163708" y="312788"/>
            <a:ext cx="539519" cy="510038"/>
            <a:chOff x="168729" y="101037"/>
            <a:chExt cx="799287" cy="755611"/>
          </a:xfrm>
        </p:grpSpPr>
        <p:grpSp>
          <p:nvGrpSpPr>
            <p:cNvPr id="5"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755751" y="535402"/>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34" name="文本框 33"/>
          <p:cNvSpPr txBox="1"/>
          <p:nvPr/>
        </p:nvSpPr>
        <p:spPr>
          <a:xfrm>
            <a:off x="2811747" y="73737"/>
            <a:ext cx="1990464" cy="461665"/>
          </a:xfrm>
          <a:prstGeom prst="rect">
            <a:avLst/>
          </a:prstGeom>
          <a:noFill/>
        </p:spPr>
        <p:txBody>
          <a:bodyPr wrap="square" rtlCol="0">
            <a:spAutoFit/>
          </a:bodyPr>
          <a:lstStyle/>
          <a:p>
            <a:pPr algn="just">
              <a:lnSpc>
                <a:spcPct val="150000"/>
              </a:lnSpc>
            </a:pPr>
            <a:r>
              <a:rPr lang="zh-CN" altLang="en-US" sz="1600" dirty="0" smtClean="0">
                <a:latin typeface="微软雅黑" panose="020B0503020204020204" pitchFamily="34" charset="-122"/>
                <a:ea typeface="微软雅黑" panose="020B0503020204020204" pitchFamily="34" charset="-122"/>
              </a:rPr>
              <a:t>相关措施</a:t>
            </a:r>
            <a:endParaRPr lang="en-US" altLang="zh-CN" sz="1600"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88193" y="147632"/>
            <a:ext cx="1197976" cy="394514"/>
          </a:xfrm>
          <a:prstGeom prst="rect">
            <a:avLst/>
          </a:prstGeom>
        </p:spPr>
      </p:pic>
      <p:sp>
        <p:nvSpPr>
          <p:cNvPr id="2" name="五边形 1"/>
          <p:cNvSpPr/>
          <p:nvPr/>
        </p:nvSpPr>
        <p:spPr>
          <a:xfrm>
            <a:off x="762100" y="670006"/>
            <a:ext cx="1454050" cy="275434"/>
          </a:xfrm>
          <a:prstGeom prst="homePlat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latin typeface="微软雅黑" panose="020B0503020204020204" pitchFamily="34" charset="-122"/>
                <a:ea typeface="微软雅黑" panose="020B0503020204020204" pitchFamily="34" charset="-122"/>
              </a:rPr>
              <a:t>现有预防性工程措施</a:t>
            </a:r>
            <a:endParaRPr lang="zh-CN" altLang="en-US" sz="1000" dirty="0">
              <a:latin typeface="微软雅黑" panose="020B0503020204020204" pitchFamily="34" charset="-122"/>
              <a:ea typeface="微软雅黑" panose="020B0503020204020204" pitchFamily="34" charset="-122"/>
            </a:endParaRPr>
          </a:p>
        </p:txBody>
      </p:sp>
      <p:sp>
        <p:nvSpPr>
          <p:cNvPr id="3" name="矩形 2"/>
          <p:cNvSpPr/>
          <p:nvPr/>
        </p:nvSpPr>
        <p:spPr>
          <a:xfrm>
            <a:off x="478105" y="1022222"/>
            <a:ext cx="5881423" cy="1546577"/>
          </a:xfrm>
          <a:prstGeom prst="rect">
            <a:avLst/>
          </a:prstGeom>
        </p:spPr>
        <p:txBody>
          <a:bodyPr wrap="square">
            <a:spAutoFit/>
          </a:bodyPr>
          <a:lstStyle/>
          <a:p>
            <a:pPr marL="171450" indent="-171450">
              <a:lnSpc>
                <a:spcPct val="150000"/>
              </a:lnSpc>
              <a:buFont typeface="Wingdings" panose="05000000000000000000" pitchFamily="2" charset="2"/>
              <a:buChar char="p"/>
            </a:pPr>
            <a:r>
              <a:rPr lang="en-US" altLang="zh-CN" sz="900" kern="0" dirty="0" smtClean="0">
                <a:solidFill>
                  <a:srgbClr val="000000"/>
                </a:solidFill>
                <a:latin typeface="Times New Roman" pitchFamily="18" charset="0"/>
                <a:cs typeface="Times New Roman" pitchFamily="18" charset="0"/>
              </a:rPr>
              <a:t>APCM</a:t>
            </a:r>
            <a:r>
              <a:rPr lang="zh-CN" altLang="en-US" sz="900" kern="0" dirty="0" smtClean="0">
                <a:solidFill>
                  <a:srgbClr val="000000"/>
                </a:solidFill>
                <a:latin typeface="Times New Roman" pitchFamily="18" charset="0"/>
                <a:cs typeface="Times New Roman" pitchFamily="18" charset="0"/>
              </a:rPr>
              <a:t>监控报警</a:t>
            </a:r>
            <a:endParaRPr lang="en-US" altLang="zh-CN" sz="900" kern="0" dirty="0" smtClean="0">
              <a:solidFill>
                <a:srgbClr val="000000"/>
              </a:solidFill>
              <a:latin typeface="Times New Roman" pitchFamily="18" charset="0"/>
              <a:cs typeface="Times New Roman" pitchFamily="18" charset="0"/>
            </a:endParaRPr>
          </a:p>
          <a:p>
            <a:pPr marL="171450" indent="-171450">
              <a:lnSpc>
                <a:spcPct val="150000"/>
              </a:lnSpc>
            </a:pPr>
            <a:r>
              <a:rPr lang="en-US" altLang="zh-CN" sz="900" kern="0" dirty="0" smtClean="0">
                <a:solidFill>
                  <a:srgbClr val="000000"/>
                </a:solidFill>
                <a:latin typeface="Times New Roman" pitchFamily="18" charset="0"/>
                <a:cs typeface="Times New Roman" pitchFamily="18" charset="0"/>
              </a:rPr>
              <a:t>     </a:t>
            </a:r>
            <a:r>
              <a:rPr lang="zh-CN" altLang="en-US" sz="900" kern="0" dirty="0" smtClean="0">
                <a:solidFill>
                  <a:srgbClr val="000000"/>
                </a:solidFill>
                <a:latin typeface="Times New Roman" pitchFamily="18" charset="0"/>
                <a:cs typeface="Times New Roman" pitchFamily="18" charset="0"/>
              </a:rPr>
              <a:t>根据波音提供的报警阈值，左右偏差大于</a:t>
            </a:r>
            <a:r>
              <a:rPr lang="en-US" altLang="zh-CN" sz="900" kern="0" dirty="0" smtClean="0">
                <a:solidFill>
                  <a:srgbClr val="000000"/>
                </a:solidFill>
                <a:latin typeface="Times New Roman" pitchFamily="18" charset="0"/>
                <a:cs typeface="Times New Roman" pitchFamily="18" charset="0"/>
              </a:rPr>
              <a:t>3</a:t>
            </a:r>
            <a:r>
              <a:rPr lang="zh-CN" altLang="en-US" sz="900" kern="0" dirty="0" smtClean="0">
                <a:solidFill>
                  <a:srgbClr val="000000"/>
                </a:solidFill>
                <a:latin typeface="Times New Roman" pitchFamily="18" charset="0"/>
                <a:cs typeface="Times New Roman" pitchFamily="18" charset="0"/>
              </a:rPr>
              <a:t>度持续</a:t>
            </a:r>
            <a:r>
              <a:rPr lang="en-US" altLang="zh-CN" sz="900" kern="0" dirty="0" smtClean="0">
                <a:solidFill>
                  <a:srgbClr val="000000"/>
                </a:solidFill>
                <a:latin typeface="Times New Roman" pitchFamily="18" charset="0"/>
                <a:cs typeface="Times New Roman" pitchFamily="18" charset="0"/>
              </a:rPr>
              <a:t>3</a:t>
            </a:r>
            <a:r>
              <a:rPr lang="zh-CN" altLang="en-US" sz="900" kern="0" dirty="0" smtClean="0">
                <a:solidFill>
                  <a:srgbClr val="000000"/>
                </a:solidFill>
                <a:latin typeface="Times New Roman" pitchFamily="18" charset="0"/>
                <a:cs typeface="Times New Roman" pitchFamily="18" charset="0"/>
              </a:rPr>
              <a:t>秒以上，工程部在</a:t>
            </a:r>
            <a:r>
              <a:rPr lang="en-US" altLang="zh-CN" sz="900" kern="0" dirty="0" smtClean="0">
                <a:solidFill>
                  <a:srgbClr val="000000"/>
                </a:solidFill>
                <a:latin typeface="Times New Roman" pitchFamily="18" charset="0"/>
                <a:cs typeface="Times New Roman" pitchFamily="18" charset="0"/>
              </a:rPr>
              <a:t>APCM</a:t>
            </a:r>
            <a:r>
              <a:rPr lang="zh-CN" altLang="en-US" sz="900" kern="0" dirty="0" smtClean="0">
                <a:solidFill>
                  <a:srgbClr val="000000"/>
                </a:solidFill>
                <a:latin typeface="Times New Roman" pitchFamily="18" charset="0"/>
                <a:cs typeface="Times New Roman" pitchFamily="18" charset="0"/>
              </a:rPr>
              <a:t>报警系统中设立了</a:t>
            </a:r>
            <a:r>
              <a:rPr lang="en-US" altLang="zh-CN" sz="900" kern="0" dirty="0" smtClean="0">
                <a:solidFill>
                  <a:srgbClr val="000000"/>
                </a:solidFill>
                <a:latin typeface="Times New Roman" pitchFamily="18" charset="0"/>
                <a:cs typeface="Times New Roman" pitchFamily="18" charset="0"/>
              </a:rPr>
              <a:t>FLAP DISAGREE</a:t>
            </a:r>
            <a:r>
              <a:rPr lang="zh-CN" altLang="en-US" sz="900" kern="0" dirty="0" smtClean="0">
                <a:solidFill>
                  <a:srgbClr val="000000"/>
                </a:solidFill>
                <a:latin typeface="Times New Roman" pitchFamily="18" charset="0"/>
                <a:cs typeface="Times New Roman" pitchFamily="18" charset="0"/>
              </a:rPr>
              <a:t>报警。但经生产人员反映，该报警准确度很低，且报警数量很大，未能起到应有的预防作用，同时添加了工作负担。</a:t>
            </a:r>
            <a:endParaRPr lang="en-US" altLang="zh-CN" sz="900" kern="0" dirty="0" smtClean="0">
              <a:solidFill>
                <a:srgbClr val="000000"/>
              </a:solidFill>
              <a:latin typeface="Times New Roman" pitchFamily="18" charset="0"/>
              <a:cs typeface="Times New Roman" pitchFamily="18" charset="0"/>
            </a:endParaRPr>
          </a:p>
          <a:p>
            <a:pPr marL="171450" indent="-171450">
              <a:lnSpc>
                <a:spcPct val="150000"/>
              </a:lnSpc>
            </a:pPr>
            <a:r>
              <a:rPr lang="zh-CN" altLang="en-US" sz="900" kern="0" dirty="0" smtClean="0">
                <a:solidFill>
                  <a:srgbClr val="000000"/>
                </a:solidFill>
                <a:latin typeface="Times New Roman" pitchFamily="18" charset="0"/>
                <a:cs typeface="Times New Roman" pitchFamily="18" charset="0"/>
              </a:rPr>
              <a:t>     就此问题，工程也展开了调查。工程统计了</a:t>
            </a:r>
            <a:r>
              <a:rPr lang="en-US" altLang="zh-CN" sz="900" kern="0" dirty="0" smtClean="0">
                <a:solidFill>
                  <a:srgbClr val="000000"/>
                </a:solidFill>
                <a:latin typeface="Times New Roman" pitchFamily="18" charset="0"/>
                <a:cs typeface="Times New Roman" pitchFamily="18" charset="0"/>
              </a:rPr>
              <a:t>2021</a:t>
            </a:r>
            <a:r>
              <a:rPr lang="zh-CN" altLang="en-US" sz="900" kern="0" dirty="0" smtClean="0">
                <a:solidFill>
                  <a:srgbClr val="000000"/>
                </a:solidFill>
                <a:latin typeface="Times New Roman" pitchFamily="18" charset="0"/>
                <a:cs typeface="Times New Roman" pitchFamily="18" charset="0"/>
              </a:rPr>
              <a:t>年</a:t>
            </a:r>
            <a:r>
              <a:rPr lang="en-US" altLang="zh-CN" sz="900" kern="0" dirty="0" smtClean="0">
                <a:solidFill>
                  <a:srgbClr val="000000"/>
                </a:solidFill>
                <a:latin typeface="Times New Roman" pitchFamily="18" charset="0"/>
                <a:cs typeface="Times New Roman" pitchFamily="18" charset="0"/>
              </a:rPr>
              <a:t>7</a:t>
            </a:r>
            <a:r>
              <a:rPr lang="zh-CN" altLang="en-US" sz="900" kern="0" dirty="0" smtClean="0">
                <a:solidFill>
                  <a:srgbClr val="000000"/>
                </a:solidFill>
                <a:latin typeface="Times New Roman" pitchFamily="18" charset="0"/>
                <a:cs typeface="Times New Roman" pitchFamily="18" charset="0"/>
              </a:rPr>
              <a:t>月</a:t>
            </a:r>
            <a:r>
              <a:rPr lang="en-US" altLang="zh-CN" sz="900" kern="0" dirty="0" smtClean="0">
                <a:solidFill>
                  <a:srgbClr val="000000"/>
                </a:solidFill>
                <a:latin typeface="Times New Roman" pitchFamily="18" charset="0"/>
                <a:cs typeface="Times New Roman" pitchFamily="18" charset="0"/>
              </a:rPr>
              <a:t>31</a:t>
            </a:r>
            <a:r>
              <a:rPr lang="zh-CN" altLang="en-US" sz="900" kern="0" dirty="0" smtClean="0">
                <a:solidFill>
                  <a:srgbClr val="000000"/>
                </a:solidFill>
                <a:latin typeface="Times New Roman" pitchFamily="18" charset="0"/>
                <a:cs typeface="Times New Roman" pitchFamily="18" charset="0"/>
              </a:rPr>
              <a:t>日</a:t>
            </a:r>
            <a:r>
              <a:rPr lang="en-US" altLang="zh-CN" sz="900" kern="0" dirty="0" smtClean="0">
                <a:solidFill>
                  <a:srgbClr val="000000"/>
                </a:solidFill>
                <a:latin typeface="Times New Roman" pitchFamily="18" charset="0"/>
                <a:cs typeface="Times New Roman" pitchFamily="18" charset="0"/>
              </a:rPr>
              <a:t>5851</a:t>
            </a:r>
            <a:r>
              <a:rPr lang="zh-CN" altLang="en-US" sz="900" kern="0" dirty="0" smtClean="0">
                <a:solidFill>
                  <a:srgbClr val="000000"/>
                </a:solidFill>
                <a:latin typeface="Times New Roman" pitchFamily="18" charset="0"/>
                <a:cs typeface="Times New Roman" pitchFamily="18" charset="0"/>
              </a:rPr>
              <a:t>发生故障的月报警数量。</a:t>
            </a:r>
            <a:r>
              <a:rPr lang="en-US" altLang="zh-CN" sz="900" kern="0" dirty="0" smtClean="0">
                <a:solidFill>
                  <a:srgbClr val="000000"/>
                </a:solidFill>
                <a:latin typeface="Times New Roman" pitchFamily="18" charset="0"/>
                <a:cs typeface="Times New Roman" pitchFamily="18" charset="0"/>
              </a:rPr>
              <a:t>7</a:t>
            </a:r>
            <a:r>
              <a:rPr lang="zh-CN" altLang="en-US" sz="900" kern="0" dirty="0" smtClean="0">
                <a:solidFill>
                  <a:srgbClr val="000000"/>
                </a:solidFill>
                <a:latin typeface="Times New Roman" pitchFamily="18" charset="0"/>
                <a:cs typeface="Times New Roman" pitchFamily="18" charset="0"/>
              </a:rPr>
              <a:t>月共产生了</a:t>
            </a:r>
            <a:r>
              <a:rPr lang="en-US" altLang="zh-CN" sz="900" kern="0" dirty="0" smtClean="0">
                <a:solidFill>
                  <a:srgbClr val="000000"/>
                </a:solidFill>
                <a:latin typeface="Times New Roman" pitchFamily="18" charset="0"/>
                <a:cs typeface="Times New Roman" pitchFamily="18" charset="0"/>
              </a:rPr>
              <a:t>440+</a:t>
            </a:r>
            <a:r>
              <a:rPr lang="zh-CN" altLang="en-US" sz="900" kern="0" dirty="0" smtClean="0">
                <a:solidFill>
                  <a:srgbClr val="000000"/>
                </a:solidFill>
                <a:latin typeface="Times New Roman" pitchFamily="18" charset="0"/>
                <a:cs typeface="Times New Roman" pitchFamily="18" charset="0"/>
              </a:rPr>
              <a:t>的报警，但</a:t>
            </a:r>
            <a:r>
              <a:rPr lang="en-US" altLang="zh-CN" sz="900" kern="0" dirty="0" smtClean="0">
                <a:solidFill>
                  <a:srgbClr val="000000"/>
                </a:solidFill>
                <a:latin typeface="Times New Roman" pitchFamily="18" charset="0"/>
                <a:cs typeface="Times New Roman" pitchFamily="18" charset="0"/>
              </a:rPr>
              <a:t>5851</a:t>
            </a:r>
            <a:r>
              <a:rPr lang="zh-CN" altLang="en-US" sz="900" kern="0" dirty="0" smtClean="0">
                <a:solidFill>
                  <a:srgbClr val="000000"/>
                </a:solidFill>
                <a:latin typeface="Times New Roman" pitchFamily="18" charset="0"/>
                <a:cs typeface="Times New Roman" pitchFamily="18" charset="0"/>
              </a:rPr>
              <a:t>飞机除故障触发了报警外，之前航段并没能出现报警。与此同时，其他的触发了报警的飞机也没有出现故障。因此初步判定现有报警逻辑存在缺陷。</a:t>
            </a:r>
            <a:endParaRPr lang="en-US" altLang="zh-CN" sz="900" kern="0" dirty="0" smtClean="0">
              <a:solidFill>
                <a:srgbClr val="000000"/>
              </a:solidFill>
              <a:latin typeface="Times New Roman" pitchFamily="18" charset="0"/>
              <a:cs typeface="Times New Roman" pitchFamily="18" charset="0"/>
            </a:endParaRPr>
          </a:p>
        </p:txBody>
      </p:sp>
      <p:pic>
        <p:nvPicPr>
          <p:cNvPr id="14" name="图片 13"/>
          <p:cNvPicPr>
            <a:picLocks noChangeAspect="1"/>
          </p:cNvPicPr>
          <p:nvPr/>
        </p:nvPicPr>
        <p:blipFill>
          <a:blip r:embed="rId4" cstate="print"/>
          <a:stretch>
            <a:fillRect/>
          </a:stretch>
        </p:blipFill>
        <p:spPr>
          <a:xfrm>
            <a:off x="3550321" y="2445296"/>
            <a:ext cx="2950630" cy="1926679"/>
          </a:xfrm>
          <a:prstGeom prst="rect">
            <a:avLst/>
          </a:prstGeom>
        </p:spPr>
      </p:pic>
      <p:sp>
        <p:nvSpPr>
          <p:cNvPr id="15" name="矩形 14"/>
          <p:cNvSpPr/>
          <p:nvPr/>
        </p:nvSpPr>
        <p:spPr>
          <a:xfrm>
            <a:off x="581025" y="2622888"/>
            <a:ext cx="2828925" cy="1131079"/>
          </a:xfrm>
          <a:prstGeom prst="rect">
            <a:avLst/>
          </a:prstGeom>
        </p:spPr>
        <p:txBody>
          <a:bodyPr wrap="square">
            <a:spAutoFit/>
          </a:bodyPr>
          <a:lstStyle/>
          <a:p>
            <a:pPr marL="171450" indent="-171450">
              <a:lnSpc>
                <a:spcPct val="150000"/>
              </a:lnSpc>
              <a:buFont typeface="Wingdings" pitchFamily="2" charset="2"/>
              <a:buChar char="p"/>
            </a:pPr>
            <a:r>
              <a:rPr lang="zh-CN" altLang="en-US" sz="900" kern="0" dirty="0" smtClean="0">
                <a:solidFill>
                  <a:srgbClr val="000000"/>
                </a:solidFill>
                <a:latin typeface="Times New Roman" pitchFamily="18" charset="0"/>
                <a:ea typeface="宋体" pitchFamily="2" charset="-122"/>
                <a:cs typeface="Times New Roman" pitchFamily="18" charset="0"/>
              </a:rPr>
              <a:t>附件寿命分析</a:t>
            </a:r>
            <a:endParaRPr lang="en-US" altLang="zh-CN" sz="900" kern="0" dirty="0" smtClean="0">
              <a:solidFill>
                <a:srgbClr val="000000"/>
              </a:solidFill>
              <a:latin typeface="Times New Roman" pitchFamily="18" charset="0"/>
              <a:ea typeface="宋体" pitchFamily="2" charset="-122"/>
              <a:cs typeface="Times New Roman" pitchFamily="18" charset="0"/>
            </a:endParaRPr>
          </a:p>
          <a:p>
            <a:pPr marL="171450" indent="-171450">
              <a:lnSpc>
                <a:spcPct val="150000"/>
              </a:lnSpc>
            </a:pPr>
            <a:r>
              <a:rPr lang="en-US" altLang="zh-CN" sz="900" kern="0" dirty="0" smtClean="0">
                <a:solidFill>
                  <a:srgbClr val="000000"/>
                </a:solidFill>
                <a:latin typeface="Times New Roman" pitchFamily="18" charset="0"/>
                <a:ea typeface="宋体" pitchFamily="2" charset="-122"/>
                <a:cs typeface="Times New Roman" pitchFamily="18" charset="0"/>
              </a:rPr>
              <a:t>    </a:t>
            </a:r>
            <a:r>
              <a:rPr lang="zh-CN" altLang="en-US" sz="900" kern="0" dirty="0" smtClean="0">
                <a:solidFill>
                  <a:srgbClr val="000000"/>
                </a:solidFill>
                <a:latin typeface="Times New Roman" pitchFamily="18" charset="0"/>
                <a:ea typeface="宋体" pitchFamily="2" charset="-122"/>
                <a:cs typeface="Times New Roman" pitchFamily="18" charset="0"/>
              </a:rPr>
              <a:t>为了尝试建立附控工作以预防后缘襟翼锁死的发生，工程部对襟翼位置传感器做出了寿命分析。最终数据分析得到的结果如下图，传感器寿命无法支持建立附控工作。</a:t>
            </a:r>
            <a:endParaRPr lang="en-US" altLang="zh-CN" sz="900" kern="0" dirty="0">
              <a:solidFill>
                <a:srgbClr val="000000"/>
              </a:solidFill>
              <a:latin typeface="Times New Roman" pitchFamily="18" charset="0"/>
              <a:ea typeface="宋体" pitchFamily="2" charset="-122"/>
              <a:cs typeface="Times New Roman" pitchFamily="18" charset="0"/>
            </a:endParaRPr>
          </a:p>
        </p:txBody>
      </p:sp>
    </p:spTree>
    <p:extLst>
      <p:ext uri="{BB962C8B-B14F-4D97-AF65-F5344CB8AC3E}">
        <p14:creationId xmlns="" xmlns:p14="http://schemas.microsoft.com/office/powerpoint/2010/main" val="144555678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1" fill="hold" grpId="0" nodeType="withEffect">
                                  <p:stCondLst>
                                    <p:cond delay="12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5">
                                            <p:txEl>
                                              <p:pRg st="0" end="0"/>
                                            </p:txEl>
                                          </p:spTgt>
                                        </p:tgtEl>
                                        <p:attrNameLst>
                                          <p:attrName>style.visibility</p:attrName>
                                        </p:attrNameLst>
                                      </p:cBhvr>
                                      <p:to>
                                        <p:strVal val="visible"/>
                                      </p:to>
                                    </p:set>
                                    <p:anim calcmode="lin" valueType="num">
                                      <p:cBhvr additive="base">
                                        <p:cTn id="38"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 calcmode="lin" valueType="num">
                                      <p:cBhvr additive="base">
                                        <p:cTn id="42"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4" grpId="0"/>
      <p:bldP spid="2" grpId="0" animBg="1"/>
      <p:bldP spid="3" grpId="0"/>
      <p:bldP spid="15" grpId="0"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63708" y="312788"/>
            <a:ext cx="539519" cy="510038"/>
            <a:chOff x="168729" y="101037"/>
            <a:chExt cx="799287" cy="755611"/>
          </a:xfrm>
        </p:grpSpPr>
        <p:grpSp>
          <p:nvGrpSpPr>
            <p:cNvPr id="6"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755751" y="535402"/>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34" name="文本框 33"/>
          <p:cNvSpPr txBox="1"/>
          <p:nvPr/>
        </p:nvSpPr>
        <p:spPr>
          <a:xfrm>
            <a:off x="2811747" y="73737"/>
            <a:ext cx="1990464" cy="461665"/>
          </a:xfrm>
          <a:prstGeom prst="rect">
            <a:avLst/>
          </a:prstGeom>
          <a:noFill/>
        </p:spPr>
        <p:txBody>
          <a:bodyPr wrap="square" rtlCol="0">
            <a:spAutoFit/>
          </a:bodyPr>
          <a:lstStyle/>
          <a:p>
            <a:pPr algn="just">
              <a:lnSpc>
                <a:spcPct val="150000"/>
              </a:lnSpc>
            </a:pPr>
            <a:r>
              <a:rPr lang="zh-CN" altLang="en-US" sz="1600" dirty="0" smtClean="0">
                <a:latin typeface="微软雅黑" panose="020B0503020204020204" pitchFamily="34" charset="-122"/>
                <a:ea typeface="微软雅黑" panose="020B0503020204020204" pitchFamily="34" charset="-122"/>
              </a:rPr>
              <a:t>相关措施</a:t>
            </a:r>
            <a:endParaRPr lang="en-US" altLang="zh-CN" sz="1600"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88193" y="147632"/>
            <a:ext cx="1197976" cy="394514"/>
          </a:xfrm>
          <a:prstGeom prst="rect">
            <a:avLst/>
          </a:prstGeom>
        </p:spPr>
      </p:pic>
      <p:sp>
        <p:nvSpPr>
          <p:cNvPr id="2" name="五边形 1"/>
          <p:cNvSpPr/>
          <p:nvPr/>
        </p:nvSpPr>
        <p:spPr>
          <a:xfrm>
            <a:off x="762100" y="670006"/>
            <a:ext cx="1054000" cy="275434"/>
          </a:xfrm>
          <a:prstGeom prst="homePlat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latin typeface="微软雅黑" panose="020B0503020204020204" pitchFamily="34" charset="-122"/>
                <a:ea typeface="微软雅黑" panose="020B0503020204020204" pitchFamily="34" charset="-122"/>
              </a:rPr>
              <a:t>后续工程措施</a:t>
            </a:r>
            <a:endParaRPr lang="zh-CN" altLang="en-US" sz="1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760620" y="1140477"/>
            <a:ext cx="5683250" cy="2300630"/>
          </a:xfrm>
          <a:prstGeom prst="rect">
            <a:avLst/>
          </a:prstGeom>
          <a:noFill/>
        </p:spPr>
        <p:txBody>
          <a:bodyPr wrap="square" rtlCol="0">
            <a:spAutoFit/>
          </a:bodyPr>
          <a:lstStyle/>
          <a:p>
            <a:pPr marL="171450" indent="-171450">
              <a:lnSpc>
                <a:spcPct val="150000"/>
              </a:lnSpc>
              <a:spcBef>
                <a:spcPts val="600"/>
              </a:spcBef>
              <a:buFont typeface="Wingdings" panose="05000000000000000000" pitchFamily="2" charset="2"/>
              <a:buChar char="p"/>
            </a:pPr>
            <a:r>
              <a:rPr lang="zh-CN" altLang="en-US" sz="1000" kern="0" dirty="0" smtClean="0">
                <a:solidFill>
                  <a:srgbClr val="000000"/>
                </a:solidFill>
                <a:latin typeface="Times New Roman" pitchFamily="18" charset="0"/>
                <a:cs typeface="Times New Roman" pitchFamily="18" charset="0"/>
              </a:rPr>
              <a:t>工程已联合各单位工程技术部门成立了襟翼故障专项工作组，下一步工作方向如下：</a:t>
            </a:r>
          </a:p>
          <a:p>
            <a:pPr marL="171450" indent="-171450">
              <a:lnSpc>
                <a:spcPct val="150000"/>
              </a:lnSpc>
              <a:spcBef>
                <a:spcPts val="600"/>
              </a:spcBef>
              <a:buFont typeface="Wingdings" pitchFamily="2" charset="2"/>
              <a:buChar char="Ø"/>
            </a:pPr>
            <a:r>
              <a:rPr lang="zh-CN" altLang="en-US" sz="1000" kern="0" dirty="0" smtClean="0">
                <a:solidFill>
                  <a:srgbClr val="000000"/>
                </a:solidFill>
                <a:latin typeface="Times New Roman" pitchFamily="18" charset="0"/>
                <a:cs typeface="Times New Roman" pitchFamily="18" charset="0"/>
              </a:rPr>
              <a:t>通过对国航</a:t>
            </a:r>
            <a:r>
              <a:rPr lang="en-US" altLang="zh-CN" sz="1000" kern="0" dirty="0" smtClean="0">
                <a:solidFill>
                  <a:srgbClr val="000000"/>
                </a:solidFill>
                <a:latin typeface="Times New Roman" pitchFamily="18" charset="0"/>
                <a:cs typeface="Times New Roman" pitchFamily="18" charset="0"/>
              </a:rPr>
              <a:t>APCM</a:t>
            </a:r>
            <a:r>
              <a:rPr lang="zh-CN" altLang="en-US" sz="1000" kern="0" dirty="0" smtClean="0">
                <a:solidFill>
                  <a:srgbClr val="000000"/>
                </a:solidFill>
                <a:latin typeface="Times New Roman" pitchFamily="18" charset="0"/>
                <a:cs typeface="Times New Roman" pitchFamily="18" charset="0"/>
              </a:rPr>
              <a:t>监控报警的分析，判断现有报警逻辑存在缺陷。由于报警逻辑的更改需要对机载软件进行升级，因此更改工作将结合最近一次的软件升级进行。在此期间工作组将商讨更为合适的监控阈值。</a:t>
            </a:r>
          </a:p>
          <a:p>
            <a:pPr marL="171450" indent="-171450">
              <a:lnSpc>
                <a:spcPct val="150000"/>
              </a:lnSpc>
              <a:spcBef>
                <a:spcPts val="600"/>
              </a:spcBef>
              <a:buFont typeface="Wingdings" pitchFamily="2" charset="2"/>
              <a:buChar char="Ø"/>
            </a:pPr>
            <a:r>
              <a:rPr lang="zh-CN" altLang="en-US" sz="1000" kern="0" dirty="0" smtClean="0">
                <a:solidFill>
                  <a:srgbClr val="000000"/>
                </a:solidFill>
                <a:latin typeface="Times New Roman" pitchFamily="18" charset="0"/>
                <a:cs typeface="Times New Roman" pitchFamily="18" charset="0"/>
              </a:rPr>
              <a:t>波音向工程推荐了针对前后缘襟缝翼的健康测试（</a:t>
            </a:r>
            <a:r>
              <a:rPr lang="en-US" altLang="zh-CN" sz="1000" kern="0" dirty="0" smtClean="0">
                <a:solidFill>
                  <a:srgbClr val="000000"/>
                </a:solidFill>
                <a:latin typeface="Times New Roman" pitchFamily="18" charset="0"/>
                <a:cs typeface="Times New Roman" pitchFamily="18" charset="0"/>
              </a:rPr>
              <a:t>AMM20-10-76</a:t>
            </a:r>
            <a:r>
              <a:rPr lang="zh-CN" altLang="en-US" sz="1000" kern="0" dirty="0" smtClean="0">
                <a:solidFill>
                  <a:srgbClr val="000000"/>
                </a:solidFill>
                <a:latin typeface="Times New Roman" pitchFamily="18" charset="0"/>
                <a:cs typeface="Times New Roman" pitchFamily="18" charset="0"/>
              </a:rPr>
              <a:t>）。工程正在就健康测试的实施做评估。针对健康测试，波音表示可以提供相关的现场施工培训。但由于疫情原因，暂无法落实。相关信息参见后续页。</a:t>
            </a:r>
          </a:p>
          <a:p>
            <a:pPr>
              <a:lnSpc>
                <a:spcPct val="150000"/>
              </a:lnSpc>
            </a:pPr>
            <a:endParaRPr lang="zh-CN" altLang="zh-CN" sz="1000" kern="100" dirty="0">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 xmlns:p14="http://schemas.microsoft.com/office/powerpoint/2010/main" val="3067775927"/>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1" fill="hold" grpId="0" nodeType="withEffect">
                                  <p:stCondLst>
                                    <p:cond delay="12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 calcmode="lin" valueType="num">
                                      <p:cBhvr additive="base">
                                        <p:cTn id="26"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3">
                                            <p:txEl>
                                              <p:pRg st="1" end="1"/>
                                            </p:txEl>
                                          </p:spTgt>
                                        </p:tgtEl>
                                        <p:attrNameLst>
                                          <p:attrName>style.visibility</p:attrName>
                                        </p:attrNameLst>
                                      </p:cBhvr>
                                      <p:to>
                                        <p:strVal val="visible"/>
                                      </p:to>
                                    </p:set>
                                    <p:anim calcmode="lin" valueType="num">
                                      <p:cBhvr additive="base">
                                        <p:cTn id="30"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 calcmode="lin" valueType="num">
                                      <p:cBhvr additive="base">
                                        <p:cTn id="34"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4" grpId="0"/>
      <p:bldP spid="2" grpId="0" animBg="1"/>
      <p:bldP spid="13" grpId="0"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163708" y="312788"/>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755751" y="535402"/>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34" name="文本框 33"/>
          <p:cNvSpPr txBox="1"/>
          <p:nvPr/>
        </p:nvSpPr>
        <p:spPr>
          <a:xfrm>
            <a:off x="2811747" y="73737"/>
            <a:ext cx="1990464" cy="461665"/>
          </a:xfrm>
          <a:prstGeom prst="rect">
            <a:avLst/>
          </a:prstGeom>
          <a:noFill/>
        </p:spPr>
        <p:txBody>
          <a:bodyPr wrap="square" rtlCol="0">
            <a:spAutoFit/>
          </a:bodyPr>
          <a:lstStyle/>
          <a:p>
            <a:pPr algn="just">
              <a:lnSpc>
                <a:spcPct val="150000"/>
              </a:lnSpc>
            </a:pPr>
            <a:r>
              <a:rPr lang="zh-CN" altLang="en-US" sz="1600" dirty="0" smtClean="0">
                <a:latin typeface="微软雅黑" panose="020B0503020204020204" pitchFamily="34" charset="-122"/>
                <a:ea typeface="微软雅黑" panose="020B0503020204020204" pitchFamily="34" charset="-122"/>
              </a:rPr>
              <a:t>相关措施</a:t>
            </a:r>
            <a:endParaRPr lang="en-US" altLang="zh-CN" sz="1600"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88193" y="147632"/>
            <a:ext cx="1197976" cy="394514"/>
          </a:xfrm>
          <a:prstGeom prst="rect">
            <a:avLst/>
          </a:prstGeom>
        </p:spPr>
      </p:pic>
      <p:sp>
        <p:nvSpPr>
          <p:cNvPr id="2" name="五边形 1"/>
          <p:cNvSpPr/>
          <p:nvPr/>
        </p:nvSpPr>
        <p:spPr>
          <a:xfrm>
            <a:off x="762100" y="670006"/>
            <a:ext cx="1054000" cy="275434"/>
          </a:xfrm>
          <a:prstGeom prst="homePlat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latin typeface="微软雅黑" panose="020B0503020204020204" pitchFamily="34" charset="-122"/>
                <a:ea typeface="微软雅黑" panose="020B0503020204020204" pitchFamily="34" charset="-122"/>
              </a:rPr>
              <a:t>后续工程措施</a:t>
            </a:r>
            <a:endParaRPr lang="zh-CN" altLang="en-US" sz="1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760620" y="1140477"/>
            <a:ext cx="5683250" cy="2300630"/>
          </a:xfrm>
          <a:prstGeom prst="rect">
            <a:avLst/>
          </a:prstGeom>
          <a:noFill/>
        </p:spPr>
        <p:txBody>
          <a:bodyPr wrap="square" rtlCol="0">
            <a:spAutoFit/>
          </a:bodyPr>
          <a:lstStyle/>
          <a:p>
            <a:pPr marL="171450" indent="-171450">
              <a:lnSpc>
                <a:spcPct val="150000"/>
              </a:lnSpc>
              <a:spcBef>
                <a:spcPts val="600"/>
              </a:spcBef>
              <a:buFont typeface="Wingdings" panose="05000000000000000000" pitchFamily="2" charset="2"/>
              <a:buChar char="p"/>
            </a:pPr>
            <a:r>
              <a:rPr lang="zh-CN" altLang="en-US" sz="1000" kern="0" dirty="0" smtClean="0">
                <a:solidFill>
                  <a:srgbClr val="000000"/>
                </a:solidFill>
                <a:latin typeface="Calibri" panose="020F0502020204030204" pitchFamily="34" charset="0"/>
                <a:cs typeface="仿宋_GB2312"/>
              </a:rPr>
              <a:t>工程已联合各单位工程技术部门成立了襟翼故障专项工作组，下一步工作方向如下：</a:t>
            </a:r>
          </a:p>
          <a:p>
            <a:pPr marL="171450" indent="-171450">
              <a:lnSpc>
                <a:spcPct val="150000"/>
              </a:lnSpc>
              <a:spcBef>
                <a:spcPts val="600"/>
              </a:spcBef>
              <a:buFont typeface="Wingdings" pitchFamily="2" charset="2"/>
              <a:buChar char="Ø"/>
            </a:pPr>
            <a:r>
              <a:rPr lang="zh-CN" altLang="en-US" sz="1000" kern="0" dirty="0" smtClean="0">
                <a:solidFill>
                  <a:srgbClr val="000000"/>
                </a:solidFill>
                <a:latin typeface="Calibri" panose="020F0502020204030204" pitchFamily="34" charset="0"/>
                <a:cs typeface="仿宋_GB2312"/>
              </a:rPr>
              <a:t>通过对国航</a:t>
            </a:r>
            <a:r>
              <a:rPr lang="en-US" altLang="zh-CN" sz="1000" kern="0" dirty="0" smtClean="0">
                <a:solidFill>
                  <a:srgbClr val="000000"/>
                </a:solidFill>
                <a:latin typeface="Calibri" panose="020F0502020204030204" pitchFamily="34" charset="0"/>
                <a:cs typeface="仿宋_GB2312"/>
              </a:rPr>
              <a:t>APCM</a:t>
            </a:r>
            <a:r>
              <a:rPr lang="zh-CN" altLang="en-US" sz="1000" kern="0" dirty="0" smtClean="0">
                <a:solidFill>
                  <a:srgbClr val="000000"/>
                </a:solidFill>
                <a:latin typeface="Calibri" panose="020F0502020204030204" pitchFamily="34" charset="0"/>
                <a:cs typeface="仿宋_GB2312"/>
              </a:rPr>
              <a:t>监控报警的分析，判断现有报警逻辑存在缺陷。由于报警逻辑的更改需要对机载软件进行升级，因此更改工作将结合最近一次的软件升级进行。在此期间工作组将商讨更为合适的监控阈值。</a:t>
            </a:r>
          </a:p>
          <a:p>
            <a:pPr marL="171450" indent="-171450">
              <a:lnSpc>
                <a:spcPct val="150000"/>
              </a:lnSpc>
              <a:spcBef>
                <a:spcPts val="600"/>
              </a:spcBef>
              <a:buFont typeface="Wingdings" pitchFamily="2" charset="2"/>
              <a:buChar char="Ø"/>
            </a:pPr>
            <a:r>
              <a:rPr lang="zh-CN" altLang="en-US" sz="1000" kern="0" dirty="0" smtClean="0">
                <a:solidFill>
                  <a:srgbClr val="000000"/>
                </a:solidFill>
                <a:latin typeface="Calibri" panose="020F0502020204030204" pitchFamily="34" charset="0"/>
                <a:cs typeface="仿宋_GB2312"/>
              </a:rPr>
              <a:t>波音向工程推荐了针对前后缘襟缝翼的健康测试（</a:t>
            </a:r>
            <a:r>
              <a:rPr lang="en-US" altLang="zh-CN" sz="1000" kern="0" dirty="0" smtClean="0">
                <a:solidFill>
                  <a:srgbClr val="000000"/>
                </a:solidFill>
                <a:latin typeface="Calibri" panose="020F0502020204030204" pitchFamily="34" charset="0"/>
                <a:cs typeface="仿宋_GB2312"/>
              </a:rPr>
              <a:t>AMM20-10-76</a:t>
            </a:r>
            <a:r>
              <a:rPr lang="zh-CN" altLang="en-US" sz="1000" kern="0" dirty="0" smtClean="0">
                <a:solidFill>
                  <a:srgbClr val="000000"/>
                </a:solidFill>
                <a:latin typeface="Calibri" panose="020F0502020204030204" pitchFamily="34" charset="0"/>
                <a:cs typeface="仿宋_GB2312"/>
              </a:rPr>
              <a:t>）。工程正在就健康测试的实施做评估。针对健康测试，波音表示可以提供相关的现场施工培训。但由于疫情原因，暂无法落实。相关信息参见后续页。</a:t>
            </a:r>
          </a:p>
          <a:p>
            <a:pPr>
              <a:lnSpc>
                <a:spcPct val="150000"/>
              </a:lnSpc>
            </a:pPr>
            <a:endParaRPr lang="zh-CN" altLang="zh-CN" sz="1000" kern="100" dirty="0">
              <a:latin typeface="Calibri" panose="020F0502020204030204" pitchFamily="34" charset="0"/>
              <a:cs typeface="Times New Roman" panose="02020603050405020304" pitchFamily="18" charset="0"/>
            </a:endParaRPr>
          </a:p>
          <a:p>
            <a:endParaRPr lang="zh-CN" altLang="en-US" dirty="0"/>
          </a:p>
        </p:txBody>
      </p:sp>
    </p:spTree>
    <p:extLst>
      <p:ext uri="{BB962C8B-B14F-4D97-AF65-F5344CB8AC3E}">
        <p14:creationId xmlns="" xmlns:p14="http://schemas.microsoft.com/office/powerpoint/2010/main" val="3067775927"/>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1" fill="hold" grpId="0" nodeType="withEffect">
                                  <p:stCondLst>
                                    <p:cond delay="12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 calcmode="lin" valueType="num">
                                      <p:cBhvr additive="base">
                                        <p:cTn id="26"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3">
                                            <p:txEl>
                                              <p:pRg st="1" end="1"/>
                                            </p:txEl>
                                          </p:spTgt>
                                        </p:tgtEl>
                                        <p:attrNameLst>
                                          <p:attrName>style.visibility</p:attrName>
                                        </p:attrNameLst>
                                      </p:cBhvr>
                                      <p:to>
                                        <p:strVal val="visible"/>
                                      </p:to>
                                    </p:set>
                                    <p:anim calcmode="lin" valueType="num">
                                      <p:cBhvr additive="base">
                                        <p:cTn id="30"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 calcmode="lin" valueType="num">
                                      <p:cBhvr additive="base">
                                        <p:cTn id="34"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4" grpId="0"/>
      <p:bldP spid="2" grpId="0" animBg="1"/>
      <p:bldP spid="13"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
          <p:cNvGrpSpPr/>
          <p:nvPr/>
        </p:nvGrpSpPr>
        <p:grpSpPr>
          <a:xfrm>
            <a:off x="163708" y="312788"/>
            <a:ext cx="539519" cy="510038"/>
            <a:chOff x="168729" y="101037"/>
            <a:chExt cx="799287" cy="755611"/>
          </a:xfrm>
        </p:grpSpPr>
        <p:grpSp>
          <p:nvGrpSpPr>
            <p:cNvPr id="4" name="组合 5"/>
            <p:cNvGrpSpPr/>
            <p:nvPr/>
          </p:nvGrpSpPr>
          <p:grpSpPr>
            <a:xfrm>
              <a:off x="168729" y="101037"/>
              <a:ext cx="799287" cy="755611"/>
              <a:chOff x="2759425" y="1932990"/>
              <a:chExt cx="799287" cy="755611"/>
            </a:xfrm>
          </p:grpSpPr>
          <p:sp>
            <p:nvSpPr>
              <p:cNvPr id="8" name="椭圆 7"/>
              <p:cNvSpPr>
                <a:spLocks/>
              </p:cNvSpPr>
              <p:nvPr/>
            </p:nvSpPr>
            <p:spPr bwMode="auto">
              <a:xfrm rot="10800000">
                <a:off x="2759426" y="1949921"/>
                <a:ext cx="799286" cy="717940"/>
              </a:xfrm>
              <a:prstGeom prst="ellipse">
                <a:avLst/>
              </a:prstGeom>
              <a:solidFill>
                <a:srgbClr val="404040"/>
              </a:solidFill>
              <a:ln w="19050">
                <a:noFill/>
              </a:ln>
              <a:effectLst>
                <a:innerShdw blurRad="101600" dist="63500" dir="2700000">
                  <a:prstClr val="black">
                    <a:alpha val="50000"/>
                  </a:prstClr>
                </a:innerShdw>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9" name="椭圆 8"/>
              <p:cNvSpPr/>
              <p:nvPr/>
            </p:nvSpPr>
            <p:spPr>
              <a:xfrm>
                <a:off x="2759425" y="1932990"/>
                <a:ext cx="799287" cy="751802"/>
              </a:xfrm>
              <a:prstGeom prst="ellipse">
                <a:avLst/>
              </a:prstGeom>
              <a:solidFill>
                <a:srgbClr val="404040">
                  <a:alpha val="0"/>
                </a:srgbClr>
              </a:solidFill>
              <a:ln w="38100">
                <a:gradFill flip="none" rotWithShape="1">
                  <a:gsLst>
                    <a:gs pos="0">
                      <a:srgbClr val="F9F9F9"/>
                    </a:gs>
                    <a:gs pos="100000">
                      <a:schemeClr val="bg1">
                        <a:lumMod val="75000"/>
                      </a:schemeClr>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sp>
            <p:nvSpPr>
              <p:cNvPr id="10" name="椭圆 9"/>
              <p:cNvSpPr/>
              <p:nvPr/>
            </p:nvSpPr>
            <p:spPr>
              <a:xfrm>
                <a:off x="2771295" y="1942172"/>
                <a:ext cx="787417" cy="746429"/>
              </a:xfrm>
              <a:prstGeom prst="ellipse">
                <a:avLst/>
              </a:prstGeom>
              <a:solidFill>
                <a:srgbClr val="404040">
                  <a:alpha val="0"/>
                </a:srgbClr>
              </a:solidFill>
              <a:ln w="38100">
                <a:gradFill flip="none" rotWithShape="1">
                  <a:gsLst>
                    <a:gs pos="100000">
                      <a:schemeClr val="bg1"/>
                    </a:gs>
                    <a:gs pos="0">
                      <a:srgbClr val="B6B6B6"/>
                    </a:gs>
                  </a:gsLst>
                  <a:lin ang="2700000" scaled="1"/>
                  <a:tileRect/>
                </a:gradFill>
              </a:ln>
              <a:effectLst/>
            </p:spPr>
            <p:txBody>
              <a:bodyPr vert="horz" wrap="square" lIns="61722" tIns="30861" rIns="61722" bIns="30861" numCol="1" anchor="t" anchorCtr="0" compatLnSpc="1">
                <a:prstTxWarp prst="textNoShape">
                  <a:avLst/>
                </a:prstTxWarp>
                <a:noAutofit/>
              </a:bodyPr>
              <a:lstStyle/>
              <a:p>
                <a:endParaRPr lang="zh-CN" altLang="en-US" sz="1215" dirty="0">
                  <a:ea typeface="微软雅黑" panose="020B0503020204020204" pitchFamily="34" charset="-122"/>
                </a:endParaRPr>
              </a:p>
            </p:txBody>
          </p:sp>
        </p:grpSp>
        <p:pic>
          <p:nvPicPr>
            <p:cNvPr id="7" name="Picture 8" descr="C:\Users\ShiYanch\Desktop\PNG\System\White\MB_0006_back.png">
              <a:hlinkClick r:id="" action="ppaction://hlinkshowjump?jump=nextslide"/>
            </p:cNvPr>
            <p:cNvPicPr>
              <a:picLocks noChangeAspect="1" noChangeArrowheads="1"/>
            </p:cNvPicPr>
            <p:nvPr/>
          </p:nvPicPr>
          <p:blipFill rotWithShape="1">
            <a:blip r:embed="rId2" cstate="screen">
              <a:extLst>
                <a:ext uri="{28A0092B-C50C-407E-A947-70E740481C1C}">
                  <a14:useLocalDpi xmlns="" xmlns:a14="http://schemas.microsoft.com/office/drawing/2010/main"/>
                </a:ext>
              </a:extLst>
            </a:blip>
            <a:srcRect/>
            <a:stretch/>
          </p:blipFill>
          <p:spPr bwMode="auto">
            <a:xfrm rot="10800000">
              <a:off x="347578" y="294104"/>
              <a:ext cx="482414" cy="411748"/>
            </a:xfrm>
            <a:prstGeom prst="rect">
              <a:avLst/>
            </a:prstGeom>
            <a:noFill/>
            <a:effectLst>
              <a:innerShdw blurRad="38100" dist="12700" dir="13500000">
                <a:schemeClr val="bg1">
                  <a:lumMod val="65000"/>
                  <a:alpha val="50000"/>
                </a:schemeClr>
              </a:innerShdw>
            </a:effectLst>
            <a:extLst>
              <a:ext uri="{909E8E84-426E-40DD-AFC4-6F175D3DCCD1}">
                <a14:hiddenFill xmlns="" xmlns:a14="http://schemas.microsoft.com/office/drawing/2010/main">
                  <a:solidFill>
                    <a:srgbClr val="404040"/>
                  </a:solidFill>
                </a14:hiddenFill>
              </a:ext>
            </a:extLst>
          </p:spPr>
        </p:pic>
      </p:grpSp>
      <p:sp>
        <p:nvSpPr>
          <p:cNvPr id="11" name="矩形 10"/>
          <p:cNvSpPr/>
          <p:nvPr/>
        </p:nvSpPr>
        <p:spPr>
          <a:xfrm>
            <a:off x="755751" y="535402"/>
            <a:ext cx="5410102" cy="66567"/>
          </a:xfrm>
          <a:prstGeom prst="rect">
            <a:avLst/>
          </a:prstGeom>
          <a:solidFill>
            <a:srgbClr val="40404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prstTxWarp prst="textNoShape">
              <a:avLst/>
            </a:prstTxWarp>
            <a:noAutofit/>
          </a:bodyPr>
          <a:lstStyle/>
          <a:p>
            <a:pPr algn="ctr"/>
            <a:endParaRPr lang="zh-CN" altLang="en-US" sz="1215" dirty="0">
              <a:ea typeface="微软雅黑" panose="020B0503020204020204" pitchFamily="34" charset="-122"/>
            </a:endParaRPr>
          </a:p>
        </p:txBody>
      </p:sp>
      <p:sp>
        <p:nvSpPr>
          <p:cNvPr id="34" name="文本框 33"/>
          <p:cNvSpPr txBox="1"/>
          <p:nvPr/>
        </p:nvSpPr>
        <p:spPr>
          <a:xfrm>
            <a:off x="2811747" y="73737"/>
            <a:ext cx="1990464" cy="461665"/>
          </a:xfrm>
          <a:prstGeom prst="rect">
            <a:avLst/>
          </a:prstGeom>
          <a:noFill/>
        </p:spPr>
        <p:txBody>
          <a:bodyPr wrap="square" rtlCol="0">
            <a:spAutoFit/>
          </a:bodyPr>
          <a:lstStyle/>
          <a:p>
            <a:pPr algn="just">
              <a:lnSpc>
                <a:spcPct val="150000"/>
              </a:lnSpc>
            </a:pPr>
            <a:r>
              <a:rPr lang="zh-CN" altLang="en-US" sz="1600" dirty="0" smtClean="0">
                <a:latin typeface="微软雅黑" panose="020B0503020204020204" pitchFamily="34" charset="-122"/>
                <a:ea typeface="微软雅黑" panose="020B0503020204020204" pitchFamily="34" charset="-122"/>
              </a:rPr>
              <a:t>相关措施</a:t>
            </a:r>
            <a:endParaRPr lang="en-US" altLang="zh-CN" sz="1600" dirty="0">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588193" y="147632"/>
            <a:ext cx="1197976" cy="394514"/>
          </a:xfrm>
          <a:prstGeom prst="rect">
            <a:avLst/>
          </a:prstGeom>
        </p:spPr>
      </p:pic>
      <p:sp>
        <p:nvSpPr>
          <p:cNvPr id="2" name="五边形 1"/>
          <p:cNvSpPr/>
          <p:nvPr/>
        </p:nvSpPr>
        <p:spPr>
          <a:xfrm>
            <a:off x="762100" y="670006"/>
            <a:ext cx="1054000" cy="275434"/>
          </a:xfrm>
          <a:prstGeom prst="homePlate">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latin typeface="微软雅黑" panose="020B0503020204020204" pitchFamily="34" charset="-122"/>
                <a:ea typeface="微软雅黑" panose="020B0503020204020204" pitchFamily="34" charset="-122"/>
              </a:rPr>
              <a:t>后续工程措施</a:t>
            </a:r>
            <a:endParaRPr lang="zh-CN" altLang="en-US" sz="1000"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0" y="1018059"/>
            <a:ext cx="5024561" cy="3449083"/>
          </a:xfrm>
          <a:prstGeom prst="rect">
            <a:avLst/>
          </a:prstGeom>
        </p:spPr>
      </p:pic>
      <p:sp>
        <p:nvSpPr>
          <p:cNvPr id="16" name="矩形 15"/>
          <p:cNvSpPr/>
          <p:nvPr/>
        </p:nvSpPr>
        <p:spPr>
          <a:xfrm>
            <a:off x="5143500" y="1215032"/>
            <a:ext cx="1559697" cy="3166467"/>
          </a:xfrm>
          <a:prstGeom prst="rect">
            <a:avLst/>
          </a:prstGeom>
        </p:spPr>
        <p:txBody>
          <a:bodyPr wrap="square">
            <a:spAutoFit/>
          </a:bodyPr>
          <a:lstStyle/>
          <a:p>
            <a:pPr fontAlgn="t">
              <a:spcBef>
                <a:spcPts val="600"/>
              </a:spcBef>
              <a:spcAft>
                <a:spcPts val="600"/>
              </a:spcAft>
              <a:defRPr/>
            </a:pPr>
            <a:r>
              <a:rPr lang="zh-CN" altLang="en-US" sz="900" b="1" dirty="0" smtClean="0">
                <a:solidFill>
                  <a:prstClr val="black"/>
                </a:solidFill>
                <a:latin typeface="微软雅黑" panose="020B0503020204020204" charset="-122"/>
                <a:ea typeface="微软雅黑" panose="020B0503020204020204" charset="-122"/>
              </a:rPr>
              <a:t>测试原理：</a:t>
            </a:r>
            <a:endParaRPr lang="en-US" altLang="zh-CN" sz="900" dirty="0">
              <a:latin typeface="微软雅黑" panose="020B0503020204020204" charset="-122"/>
              <a:ea typeface="微软雅黑" panose="020B0503020204020204" charset="-122"/>
            </a:endParaRPr>
          </a:p>
          <a:p>
            <a:pPr indent="468000"/>
            <a:r>
              <a:rPr lang="zh-CN" altLang="en-US" sz="900" dirty="0" smtClean="0">
                <a:latin typeface="微软雅黑" panose="020B0503020204020204" charset="-122"/>
                <a:ea typeface="微软雅黑" panose="020B0503020204020204" charset="-122"/>
                <a:sym typeface="+mn-ea"/>
              </a:rPr>
              <a:t>根据波音的调查，传感器及指示器中的同步器的电刷磨损是造成传感器指示器输出参在偏差的重要原因之一。因此波音开发了本健康测试。健康测试采取测试传感器转子电压电流波动情况的方法来判断电路中是否存在这不稳定的电阻。</a:t>
            </a:r>
            <a:endParaRPr lang="en-US" altLang="zh-CN" sz="900" dirty="0" smtClean="0">
              <a:latin typeface="微软雅黑" panose="020B0503020204020204" charset="-122"/>
              <a:ea typeface="微软雅黑" panose="020B0503020204020204" charset="-122"/>
              <a:sym typeface="+mn-ea"/>
            </a:endParaRPr>
          </a:p>
          <a:p>
            <a:pPr indent="468000"/>
            <a:r>
              <a:rPr lang="zh-CN" altLang="en-US" sz="900" dirty="0" smtClean="0">
                <a:latin typeface="微软雅黑" panose="020B0503020204020204" charset="-122"/>
                <a:ea typeface="微软雅黑" panose="020B0503020204020204" charset="-122"/>
                <a:sym typeface="+mn-ea"/>
              </a:rPr>
              <a:t>波音认为，当电路的电流及电压不符合要求时，说明传感器或指示器存在变相环、电刷、轴承的磨损。</a:t>
            </a:r>
            <a:endParaRPr lang="en-US" altLang="zh-CN" sz="900" dirty="0" smtClean="0">
              <a:latin typeface="微软雅黑" panose="020B0503020204020204" charset="-122"/>
              <a:ea typeface="微软雅黑" panose="020B0503020204020204" charset="-122"/>
              <a:sym typeface="+mn-ea"/>
            </a:endParaRPr>
          </a:p>
          <a:p>
            <a:pPr indent="468000"/>
            <a:endParaRPr lang="zh-CN" altLang="en-US" sz="1600" dirty="0" smtClean="0">
              <a:latin typeface="微软雅黑" panose="020B0503020204020204" charset="-122"/>
              <a:ea typeface="微软雅黑" panose="020B0503020204020204" charset="-122"/>
              <a:sym typeface="+mn-ea"/>
            </a:endParaRPr>
          </a:p>
          <a:p>
            <a:pPr marL="285750" indent="-285750">
              <a:buFont typeface="Wingdings" panose="05000000000000000000" pitchFamily="2" charset="2"/>
              <a:buChar char="n"/>
            </a:pPr>
            <a:endParaRPr lang="en-US" altLang="zh-CN" sz="1600" dirty="0">
              <a:latin typeface="微软雅黑" panose="020B0503020204020204" charset="-122"/>
              <a:ea typeface="微软雅黑" panose="020B0503020204020204" charset="-122"/>
            </a:endParaRPr>
          </a:p>
          <a:p>
            <a:endParaRPr lang="en-US" altLang="zh-CN" sz="1600" dirty="0">
              <a:latin typeface="微软雅黑" panose="020B0503020204020204" charset="-122"/>
              <a:ea typeface="微软雅黑" panose="020B0503020204020204" charset="-122"/>
            </a:endParaRPr>
          </a:p>
        </p:txBody>
      </p:sp>
      <p:sp>
        <p:nvSpPr>
          <p:cNvPr id="18" name="矩形 17"/>
          <p:cNvSpPr/>
          <p:nvPr/>
        </p:nvSpPr>
        <p:spPr>
          <a:xfrm>
            <a:off x="3346088" y="620335"/>
            <a:ext cx="3111865" cy="30637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59" dirty="0">
              <a:ea typeface="微软雅黑" panose="020B0503020204020204" pitchFamily="34" charset="-122"/>
            </a:endParaRPr>
          </a:p>
        </p:txBody>
      </p:sp>
      <p:sp>
        <p:nvSpPr>
          <p:cNvPr id="14" name="矩形 11"/>
          <p:cNvSpPr>
            <a:spLocks noChangeArrowheads="1"/>
          </p:cNvSpPr>
          <p:nvPr/>
        </p:nvSpPr>
        <p:spPr bwMode="auto">
          <a:xfrm>
            <a:off x="3356950" y="642519"/>
            <a:ext cx="3072426"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marL="355600" indent="-3556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spcBef>
                <a:spcPct val="0"/>
              </a:spcBef>
              <a:spcAft>
                <a:spcPts val="600"/>
              </a:spcAft>
              <a:buFontTx/>
              <a:buNone/>
            </a:pPr>
            <a:r>
              <a:rPr lang="zh-CN" altLang="en-US" sz="1200" b="1" dirty="0">
                <a:solidFill>
                  <a:schemeClr val="bg1"/>
                </a:solidFill>
                <a:latin typeface="微软雅黑" panose="020B0503020204020204" pitchFamily="34" charset="-122"/>
                <a:ea typeface="微软雅黑" panose="020B0503020204020204" pitchFamily="34" charset="-122"/>
              </a:rPr>
              <a:t>后缘襟翼健康测试</a:t>
            </a:r>
            <a:r>
              <a:rPr lang="en-US" altLang="zh-CN" sz="1200" b="1" dirty="0">
                <a:solidFill>
                  <a:schemeClr val="bg1"/>
                </a:solidFill>
                <a:latin typeface="微软雅黑" panose="020B0503020204020204" pitchFamily="34" charset="-122"/>
                <a:ea typeface="微软雅黑" panose="020B0503020204020204" pitchFamily="34" charset="-122"/>
              </a:rPr>
              <a:t>AMM20-10-76 check I</a:t>
            </a:r>
          </a:p>
        </p:txBody>
      </p:sp>
    </p:spTree>
    <p:extLst>
      <p:ext uri="{BB962C8B-B14F-4D97-AF65-F5344CB8AC3E}">
        <p14:creationId xmlns="" xmlns:p14="http://schemas.microsoft.com/office/powerpoint/2010/main" val="3067775927"/>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1" fill="hold" grpId="0" nodeType="withEffect">
                                  <p:stCondLst>
                                    <p:cond delay="1250"/>
                                  </p:stCondLst>
                                  <p:childTnLst>
                                    <p:set>
                                      <p:cBhvr>
                                        <p:cTn id="15" dur="1" fill="hold">
                                          <p:stCondLst>
                                            <p:cond delay="0"/>
                                          </p:stCondLst>
                                        </p:cTn>
                                        <p:tgtEl>
                                          <p:spTgt spid="34"/>
                                        </p:tgtEl>
                                        <p:attrNameLst>
                                          <p:attrName>style.visibility</p:attrName>
                                        </p:attrNameLst>
                                      </p:cBhvr>
                                      <p:to>
                                        <p:strVal val="visible"/>
                                      </p:to>
                                    </p:set>
                                    <p:animEffect transition="in" filter="wipe(up)">
                                      <p:cBhvr>
                                        <p:cTn id="16" dur="1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xEl>
                                              <p:pRg st="0" end="0"/>
                                            </p:txEl>
                                          </p:spTgt>
                                        </p:tgtEl>
                                        <p:attrNameLst>
                                          <p:attrName>style.visibility</p:attrName>
                                        </p:attrNameLst>
                                      </p:cBhvr>
                                      <p:to>
                                        <p:strVal val="visible"/>
                                      </p:to>
                                    </p:set>
                                    <p:anim calcmode="lin" valueType="num">
                                      <p:cBhvr additive="base">
                                        <p:cTn id="35"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xEl>
                                              <p:pRg st="1" end="1"/>
                                            </p:txEl>
                                          </p:spTgt>
                                        </p:tgtEl>
                                        <p:attrNameLst>
                                          <p:attrName>style.visibility</p:attrName>
                                        </p:attrNameLst>
                                      </p:cBhvr>
                                      <p:to>
                                        <p:strVal val="visible"/>
                                      </p:to>
                                    </p:set>
                                    <p:anim calcmode="lin" valueType="num">
                                      <p:cBhvr additive="base">
                                        <p:cTn id="39"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xEl>
                                              <p:pRg st="2" end="2"/>
                                            </p:txEl>
                                          </p:spTgt>
                                        </p:tgtEl>
                                        <p:attrNameLst>
                                          <p:attrName>style.visibility</p:attrName>
                                        </p:attrNameLst>
                                      </p:cBhvr>
                                      <p:to>
                                        <p:strVal val="visible"/>
                                      </p:to>
                                    </p:set>
                                    <p:anim calcmode="lin" valueType="num">
                                      <p:cBhvr additive="base">
                                        <p:cTn id="4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4" grpId="0"/>
      <p:bldP spid="2" grpId="0" animBg="1"/>
      <p:bldP spid="16" grpId="0" build="allAtOnce"/>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1716403" y="1694269"/>
            <a:ext cx="3927824" cy="1107996"/>
          </a:xfrm>
          <a:prstGeom prst="rect">
            <a:avLst/>
          </a:prstGeom>
          <a:noFill/>
        </p:spPr>
        <p:txBody>
          <a:bodyPr wrap="square" rtlCol="0">
            <a:spAutoFit/>
          </a:bodyPr>
          <a:lstStyle/>
          <a:p>
            <a:r>
              <a:rPr lang="en-US" altLang="zh-CN" sz="6600" dirty="0" smtClean="0">
                <a:latin typeface="方正兰亭超细黑简体" panose="02000000000000000000" pitchFamily="2" charset="-122"/>
                <a:ea typeface="方正兰亭超细黑简体" panose="02000000000000000000" pitchFamily="2" charset="-122"/>
              </a:rPr>
              <a:t>THANKS</a:t>
            </a:r>
            <a:endParaRPr lang="zh-CN" altLang="en-US" sz="6600" dirty="0">
              <a:latin typeface="方正兰亭超细黑简体" panose="02000000000000000000" pitchFamily="2" charset="-122"/>
              <a:ea typeface="方正兰亭超细黑简体" panose="02000000000000000000" pitchFamily="2" charset="-122"/>
            </a:endParaRPr>
          </a:p>
        </p:txBody>
      </p:sp>
    </p:spTree>
    <p:extLst>
      <p:ext uri="{BB962C8B-B14F-4D97-AF65-F5344CB8AC3E}">
        <p14:creationId xmlns="" xmlns:p14="http://schemas.microsoft.com/office/powerpoint/2010/main" val="3677149542"/>
      </p:ext>
    </p:extLst>
  </p:cSld>
  <p:clrMapOvr>
    <a:masterClrMapping/>
  </p:clrMapOvr>
  <mc:AlternateContent xmlns:mc="http://schemas.openxmlformats.org/markup-compatibility/2006">
    <mc:Choice xmlns=""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grpId="0" nodeType="clickEffect">
                                  <p:stCondLst>
                                    <p:cond delay="0"/>
                                  </p:stCondLst>
                                  <p:iterate type="lt">
                                    <p:tmPct val="50000"/>
                                  </p:iterate>
                                  <p:childTnLst>
                                    <p:set>
                                      <p:cBhvr>
                                        <p:cTn id="6" dur="1" fill="hold">
                                          <p:stCondLst>
                                            <p:cond delay="0"/>
                                          </p:stCondLst>
                                        </p:cTn>
                                        <p:tgtEl>
                                          <p:spTgt spid="14"/>
                                        </p:tgtEl>
                                        <p:attrNameLst>
                                          <p:attrName>style.visibility</p:attrName>
                                        </p:attrNameLst>
                                      </p:cBhvr>
                                      <p:to>
                                        <p:strVal val="visible"/>
                                      </p:to>
                                    </p:set>
                                    <p:set>
                                      <p:cBhvr>
                                        <p:cTn id="7" dur="455" fill="hold">
                                          <p:stCondLst>
                                            <p:cond delay="0"/>
                                          </p:stCondLst>
                                        </p:cTn>
                                        <p:tgtEl>
                                          <p:spTgt spid="14"/>
                                        </p:tgtEl>
                                        <p:attrNameLst>
                                          <p:attrName>style.rotation</p:attrName>
                                        </p:attrNameLst>
                                      </p:cBhvr>
                                      <p:to>
                                        <p:strVal val="-45.0"/>
                                      </p:to>
                                    </p:set>
                                    <p:anim calcmode="lin" valueType="num">
                                      <p:cBhvr>
                                        <p:cTn id="8" dur="455" fill="hold">
                                          <p:stCondLst>
                                            <p:cond delay="455"/>
                                          </p:stCondLst>
                                        </p:cTn>
                                        <p:tgtEl>
                                          <p:spTgt spid="14"/>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14"/>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14"/>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14"/>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3760</TotalTime>
  <Words>4247</Words>
  <Application>Microsoft Office PowerPoint</Application>
  <PresentationFormat>自定义</PresentationFormat>
  <Paragraphs>147</Paragraphs>
  <Slides>23</Slides>
  <Notes>0</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vector>
  </TitlesOfParts>
  <Company>http://www.ypppt.com/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通用</dc:title>
  <dc:creator>第一PPT模板网-WWW.1PPT.COM</dc:creator>
  <cp:keywords>第一PPT模板网-WWW.1PPT.COM</cp:keywords>
  <dc:description>http://www.ypppt.com/</dc:description>
  <cp:lastModifiedBy>Administrator</cp:lastModifiedBy>
  <cp:revision>169</cp:revision>
  <dcterms:created xsi:type="dcterms:W3CDTF">2016-12-09T11:03:38Z</dcterms:created>
  <dcterms:modified xsi:type="dcterms:W3CDTF">2022-03-25T01:30:46Z</dcterms:modified>
</cp:coreProperties>
</file>