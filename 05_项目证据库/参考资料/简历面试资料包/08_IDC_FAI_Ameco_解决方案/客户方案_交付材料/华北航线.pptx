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FA06AC-D5F7-4336-251B-2E5E2D78E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598E79-44BC-27D8-FEC2-0343912839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BD4B92-07A3-1440-4885-4957F54FD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F072-A91A-42F8-84AB-11A6F8FE82BF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6A340F-A00A-0E01-5403-DAA29374C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6F0580-2925-61B4-E651-AEF82AEDB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38B9-A2D8-4F91-AF9C-7047BD8DA7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981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E7A3E-D1C8-F769-4C16-1B1F1754A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13647F-DC9D-5A34-AD43-45F345BBC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14677C-B70F-E7F7-80D0-32DA77AED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F072-A91A-42F8-84AB-11A6F8FE82BF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7BD7A2-75D0-038E-3406-83997D56C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CDB8D9-66CF-0DCC-5E4F-0F19A1ACE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38B9-A2D8-4F91-AF9C-7047BD8DA7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94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90AB5D-30CF-BC0F-29F4-603EA729B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B95AD8-E04D-C921-E937-A2C66DB5B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43D3FF-3DFA-37A3-1847-C74D8AF9B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F072-A91A-42F8-84AB-11A6F8FE82BF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336827-067B-A041-B61E-014AB19A3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1C67B3-5B1E-90D7-7391-A207CAB5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38B9-A2D8-4F91-AF9C-7047BD8DA7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568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4FA05F-3DEA-30C2-B45E-480746FAE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7E45E5-9687-0606-EECC-ED2822F12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41F352-A1E2-C87A-FF2F-01190EA36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1F5A5E-697C-A2C0-D104-BEE726F88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F072-A91A-42F8-84AB-11A6F8FE82BF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41C886-1A1D-2470-22C2-D7A95233F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0347FE-1931-3524-AF4C-42A4FF99F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38B9-A2D8-4F91-AF9C-7047BD8DA7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709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D78DD-9751-154C-854D-9DA8B6CF5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7EF091-68DC-7195-0B0F-7645FA511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9F7EA5-D12F-86C0-0940-46A1074CE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C929994-034D-05E5-DA5C-458D224DDA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8D4D147-344E-38AF-9EF8-33466C3529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2FB162-9A4B-D1A1-EEDB-6DC261F97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F072-A91A-42F8-84AB-11A6F8FE82BF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14526FF-D4A0-EE81-C312-9142C4467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86F68F5-426D-2804-48F8-84468EA8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38B9-A2D8-4F91-AF9C-7047BD8DA7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623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4FAB4B-9E50-3503-FE41-6785F786F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6DB86C-0620-DAF7-2929-CE103E98B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F072-A91A-42F8-84AB-11A6F8FE82BF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6A1BF0-72FF-37FF-AA22-3647FF603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65E43B-BECC-3C89-FF9F-BA8526B49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38B9-A2D8-4F91-AF9C-7047BD8DA7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173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75A4878-6406-F5E4-2B36-864C6A893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F072-A91A-42F8-84AB-11A6F8FE82BF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FE0D95D-B28F-5650-AE21-DE44B4B91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8DF8A0-D698-1534-D3FF-96F16E493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38B9-A2D8-4F91-AF9C-7047BD8DA7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956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A5FA94-FC4B-7C41-F6B2-F1EEE288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20FC3F-CDE1-99E5-2559-9032E8DFE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69193B-C9BC-7F08-C6EC-AEC6BE87F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039212-9D43-34B2-1883-A475A7DF7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F072-A91A-42F8-84AB-11A6F8FE82BF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676FFE-5B6A-264F-88B3-5150ADEA7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C8636B-ED44-240F-2A1D-2B19BA4B5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38B9-A2D8-4F91-AF9C-7047BD8DA7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55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E730FE-9EA0-5E6D-AA13-DFBA5F72E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5BD44B6-796D-E912-C6CA-D6A3363438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E7A55A-3A85-4830-727C-483E22D25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213657-2F69-A17A-013C-22BB3DAF1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F072-A91A-42F8-84AB-11A6F8FE82BF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19CE49-EBC3-52E0-4ECD-2BE43BE61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62EB9F-6FE1-3B5A-7741-8EEB49B66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38B9-A2D8-4F91-AF9C-7047BD8DA7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69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460981-C984-F80F-FB4A-C5A30F2A6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A6475A5-DD60-BFA7-D21A-5144AC7B85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332C41-D354-4A4B-42BF-5B5A36167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F072-A91A-42F8-84AB-11A6F8FE82BF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2D8734-A728-45B9-C302-F2EFFAD4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DC0FBD-C223-90EF-65FC-D4082A63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38B9-A2D8-4F91-AF9C-7047BD8DA7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706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F5298F4-FE1E-6355-AEE1-76967F16B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41B7B7-9335-8803-2B95-E7D2F7B11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349248-B2B4-675D-54F9-3838F1638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5F072-A91A-42F8-84AB-11A6F8FE82BF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B93784-1D78-13EB-33D2-C2AC563D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0779E2-960C-6912-7347-D208D5D2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38B9-A2D8-4F91-AF9C-7047BD8DA7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380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3C2EA80-5B96-D832-80A6-5AD708436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A5436D-2E8E-3E0E-7F97-C3472A1EB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C4B6DA-97F3-0257-689B-DEC796A4E4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F5F072-A91A-42F8-84AB-11A6F8FE82BF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ACDEAD-80BF-2AE6-CD54-25F39BBDE3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A95DC7-CEB9-23F5-A99E-27F0FE757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7238B9-A2D8-4F91-AF9C-7047BD8DA7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479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4BA89E6-515C-22E3-4380-F5127FF9D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354787"/>
              </p:ext>
            </p:extLst>
          </p:nvPr>
        </p:nvGraphicFramePr>
        <p:xfrm>
          <a:off x="1225617" y="1094644"/>
          <a:ext cx="9740766" cy="5428028"/>
        </p:xfrm>
        <a:graphic>
          <a:graphicData uri="http://schemas.openxmlformats.org/drawingml/2006/table">
            <a:tbl>
              <a:tblPr/>
              <a:tblGrid>
                <a:gridCol w="336884">
                  <a:extLst>
                    <a:ext uri="{9D8B030D-6E8A-4147-A177-3AD203B41FA5}">
                      <a16:colId xmlns:a16="http://schemas.microsoft.com/office/drawing/2014/main" val="516192008"/>
                    </a:ext>
                  </a:extLst>
                </a:gridCol>
                <a:gridCol w="1716891">
                  <a:extLst>
                    <a:ext uri="{9D8B030D-6E8A-4147-A177-3AD203B41FA5}">
                      <a16:colId xmlns:a16="http://schemas.microsoft.com/office/drawing/2014/main" val="998014645"/>
                    </a:ext>
                  </a:extLst>
                </a:gridCol>
                <a:gridCol w="2749546">
                  <a:extLst>
                    <a:ext uri="{9D8B030D-6E8A-4147-A177-3AD203B41FA5}">
                      <a16:colId xmlns:a16="http://schemas.microsoft.com/office/drawing/2014/main" val="2132964422"/>
                    </a:ext>
                  </a:extLst>
                </a:gridCol>
                <a:gridCol w="2531593">
                  <a:extLst>
                    <a:ext uri="{9D8B030D-6E8A-4147-A177-3AD203B41FA5}">
                      <a16:colId xmlns:a16="http://schemas.microsoft.com/office/drawing/2014/main" val="1287241448"/>
                    </a:ext>
                  </a:extLst>
                </a:gridCol>
                <a:gridCol w="2405852">
                  <a:extLst>
                    <a:ext uri="{9D8B030D-6E8A-4147-A177-3AD203B41FA5}">
                      <a16:colId xmlns:a16="http://schemas.microsoft.com/office/drawing/2014/main" val="2869782551"/>
                    </a:ext>
                  </a:extLst>
                </a:gridCol>
              </a:tblGrid>
              <a:tr h="35326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  <a:latin typeface="雅黑"/>
                        </a:rPr>
                        <a:t>序号</a:t>
                      </a:r>
                    </a:p>
                  </a:txBody>
                  <a:tcPr marL="50425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  <a:latin typeface="雅黑"/>
                        </a:rPr>
                        <a:t>主要方向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  <a:latin typeface="雅黑"/>
                        </a:rPr>
                        <a:t>目标与举措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>
                          <a:effectLst/>
                          <a:latin typeface="雅黑"/>
                        </a:rPr>
                        <a:t>关键挑战 </a:t>
                      </a:r>
                      <a:r>
                        <a:rPr lang="en-US" altLang="zh-CN" sz="1200" b="1">
                          <a:effectLst/>
                          <a:latin typeface="雅黑"/>
                        </a:rPr>
                        <a:t>/ </a:t>
                      </a:r>
                      <a:r>
                        <a:rPr lang="zh-CN" altLang="en-US" sz="1200" b="1">
                          <a:effectLst/>
                          <a:latin typeface="雅黑"/>
                        </a:rPr>
                        <a:t>现状说明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  <a:latin typeface="雅黑"/>
                        </a:rPr>
                        <a:t>预期价值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656320"/>
                  </a:ext>
                </a:extLst>
              </a:tr>
              <a:tr h="80573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00" b="0">
                          <a:effectLst/>
                          <a:latin typeface="雅黑"/>
                        </a:rPr>
                        <a:t>1</a:t>
                      </a:r>
                    </a:p>
                  </a:txBody>
                  <a:tcPr marL="50425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  <a:latin typeface="雅黑"/>
                        </a:rPr>
                        <a:t>流程图编辑体验优化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  <a:latin typeface="雅黑"/>
                        </a:rPr>
                        <a:t>提升交互效率，支持拖拽、连线等便捷操作，降低编辑门槛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  <a:latin typeface="雅黑"/>
                        </a:rPr>
                        <a:t>当前流程图交互与布局受限，操作困难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  <a:latin typeface="雅黑"/>
                        </a:rPr>
                        <a:t>提高排故工程师方案编辑效率，缩短排故流程构建时间</a:t>
                      </a:r>
                    </a:p>
                  </a:txBody>
                  <a:tcPr marL="56027" marR="50425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54747"/>
                  </a:ext>
                </a:extLst>
              </a:tr>
              <a:tr h="80573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00" b="0">
                          <a:effectLst/>
                          <a:latin typeface="雅黑"/>
                        </a:rPr>
                        <a:t>2</a:t>
                      </a:r>
                    </a:p>
                  </a:txBody>
                  <a:tcPr marL="50425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  <a:latin typeface="雅黑"/>
                        </a:rPr>
                        <a:t>多机型手册解析深化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  <a:latin typeface="雅黑"/>
                        </a:rPr>
                        <a:t>拓展</a:t>
                      </a:r>
                      <a:r>
                        <a:rPr lang="en-US" altLang="zh-CN" sz="11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雅黑"/>
                        </a:rPr>
                        <a:t>A320</a:t>
                      </a:r>
                      <a:r>
                        <a:rPr lang="zh-CN" altLang="en-US" sz="11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雅黑"/>
                        </a:rPr>
                        <a:t>、</a:t>
                      </a:r>
                      <a:r>
                        <a:rPr lang="en-US" altLang="zh-CN" sz="11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雅黑"/>
                        </a:rPr>
                        <a:t>A350</a:t>
                      </a:r>
                      <a:r>
                        <a:rPr lang="zh-CN" altLang="en-US" sz="11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雅黑"/>
                        </a:rPr>
                        <a:t>等机型手册</a:t>
                      </a:r>
                      <a:r>
                        <a:rPr lang="zh-CN" altLang="en-US" sz="1100" b="0" dirty="0">
                          <a:effectLst/>
                          <a:latin typeface="雅黑"/>
                        </a:rPr>
                        <a:t>解析覆盖，建立结构化知识库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  <a:latin typeface="雅黑"/>
                        </a:rPr>
                        <a:t>手册内容复杂、不同机型手册格式不一，解析方法都需单独调试。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  <a:latin typeface="雅黑"/>
                        </a:rPr>
                        <a:t>支持多机型故障方案快速生成</a:t>
                      </a:r>
                    </a:p>
                  </a:txBody>
                  <a:tcPr marL="56027" marR="50425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394378"/>
                  </a:ext>
                </a:extLst>
              </a:tr>
              <a:tr h="80573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00" b="0">
                          <a:effectLst/>
                          <a:latin typeface="雅黑"/>
                        </a:rPr>
                        <a:t>3</a:t>
                      </a:r>
                    </a:p>
                  </a:txBody>
                  <a:tcPr marL="50425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1" dirty="0">
                          <a:effectLst/>
                          <a:latin typeface="雅黑"/>
                        </a:rPr>
                        <a:t>AI</a:t>
                      </a:r>
                      <a:r>
                        <a:rPr lang="zh-CN" altLang="en-US" sz="1200" b="1" dirty="0">
                          <a:effectLst/>
                          <a:latin typeface="雅黑"/>
                        </a:rPr>
                        <a:t>功能融合与智能升级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  <a:latin typeface="雅黑"/>
                        </a:rPr>
                        <a:t>从翻译与推荐向</a:t>
                      </a:r>
                      <a:r>
                        <a:rPr lang="en-US" altLang="zh-CN" sz="11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雅黑"/>
                        </a:rPr>
                        <a:t>AI</a:t>
                      </a:r>
                      <a:r>
                        <a:rPr lang="zh-CN" altLang="en-US" sz="11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雅黑"/>
                        </a:rPr>
                        <a:t>对话</a:t>
                      </a:r>
                      <a:r>
                        <a:rPr lang="zh-CN" altLang="en-US" sz="1100" b="0" dirty="0">
                          <a:effectLst/>
                          <a:latin typeface="雅黑"/>
                        </a:rPr>
                        <a:t>演进，支持</a:t>
                      </a:r>
                      <a:r>
                        <a:rPr lang="zh-CN" altLang="en-US" sz="11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雅黑"/>
                        </a:rPr>
                        <a:t>自然语言输入生成方案</a:t>
                      </a:r>
                      <a:r>
                        <a:rPr lang="zh-CN" altLang="en-US" sz="1100" b="0" dirty="0">
                          <a:effectLst/>
                          <a:latin typeface="雅黑"/>
                        </a:rPr>
                        <a:t>，并自动生成</a:t>
                      </a:r>
                      <a:r>
                        <a:rPr lang="zh-CN" altLang="en-US" sz="11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雅黑"/>
                        </a:rPr>
                        <a:t>故障报告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100" b="0" dirty="0">
                          <a:effectLst/>
                          <a:latin typeface="雅黑"/>
                        </a:rPr>
                        <a:t>AI</a:t>
                      </a:r>
                      <a:r>
                        <a:rPr lang="zh-CN" altLang="en-US" sz="1100" b="0" dirty="0">
                          <a:effectLst/>
                          <a:latin typeface="雅黑"/>
                        </a:rPr>
                        <a:t>目前仅辅助翻译和排故方案推荐，对话交互与报告生成能力尚未开发。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  <a:latin typeface="雅黑"/>
                        </a:rPr>
                        <a:t>使</a:t>
                      </a:r>
                      <a:r>
                        <a:rPr lang="en-US" altLang="zh-CN" sz="1100" b="0" dirty="0">
                          <a:effectLst/>
                          <a:latin typeface="雅黑"/>
                        </a:rPr>
                        <a:t>AI</a:t>
                      </a:r>
                      <a:r>
                        <a:rPr lang="zh-CN" altLang="en-US" sz="1100" b="0" dirty="0">
                          <a:effectLst/>
                          <a:latin typeface="雅黑"/>
                        </a:rPr>
                        <a:t>赋能排故工作的各个环节，减少重复性报告工作</a:t>
                      </a:r>
                    </a:p>
                  </a:txBody>
                  <a:tcPr marL="56027" marR="50425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942320"/>
                  </a:ext>
                </a:extLst>
              </a:tr>
              <a:tr h="83609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00" b="0">
                          <a:effectLst/>
                          <a:latin typeface="雅黑"/>
                        </a:rPr>
                        <a:t>4</a:t>
                      </a:r>
                    </a:p>
                  </a:txBody>
                  <a:tcPr marL="50425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  <a:latin typeface="雅黑"/>
                        </a:rPr>
                        <a:t>首页改版与数据可视化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  <a:latin typeface="雅黑"/>
                        </a:rPr>
                        <a:t>重新设计首页，集成方案统计、效率看板等数据，通过图表直观展示关键指标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  <a:latin typeface="雅黑"/>
                        </a:rPr>
                        <a:t>当前首页信息单薄，缺乏具有监控关键事项的图表。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  <a:latin typeface="雅黑"/>
                        </a:rPr>
                        <a:t>增强数据驱动决策能力，帮助管理者与工程师快速掌握项目状态与瓶颈</a:t>
                      </a:r>
                    </a:p>
                  </a:txBody>
                  <a:tcPr marL="56027" marR="50425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756559"/>
                  </a:ext>
                </a:extLst>
              </a:tr>
              <a:tr h="83609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00" b="0">
                          <a:effectLst/>
                          <a:latin typeface="雅黑"/>
                        </a:rPr>
                        <a:t>5</a:t>
                      </a:r>
                    </a:p>
                  </a:txBody>
                  <a:tcPr marL="50425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  <a:latin typeface="雅黑"/>
                        </a:rPr>
                        <a:t>与</a:t>
                      </a:r>
                      <a:r>
                        <a:rPr lang="en-US" altLang="zh-CN" sz="1200" b="1" dirty="0">
                          <a:effectLst/>
                          <a:latin typeface="雅黑"/>
                        </a:rPr>
                        <a:t>TCC</a:t>
                      </a:r>
                      <a:r>
                        <a:rPr lang="zh-CN" altLang="en-US" sz="1200" b="1" dirty="0">
                          <a:effectLst/>
                          <a:latin typeface="雅黑"/>
                        </a:rPr>
                        <a:t>系统深度集成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  <a:latin typeface="雅黑"/>
                        </a:rPr>
                        <a:t>实现</a:t>
                      </a:r>
                      <a:r>
                        <a:rPr lang="zh-CN" altLang="en-US" sz="11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雅黑"/>
                        </a:rPr>
                        <a:t>集成</a:t>
                      </a:r>
                      <a:r>
                        <a:rPr lang="en-US" altLang="zh-CN" sz="11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雅黑"/>
                        </a:rPr>
                        <a:t>TCC</a:t>
                      </a:r>
                      <a:r>
                        <a:rPr lang="zh-CN" altLang="en-US" sz="11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雅黑"/>
                        </a:rPr>
                        <a:t>中登记的故障</a:t>
                      </a:r>
                      <a:r>
                        <a:rPr lang="zh-CN" altLang="en-US" sz="1100" b="0" dirty="0">
                          <a:effectLst/>
                          <a:latin typeface="雅黑"/>
                        </a:rPr>
                        <a:t>，仅需登录本系统即可实现任务同步、数据双向对接，打通系统间流程断点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  <a:latin typeface="雅黑"/>
                        </a:rPr>
                        <a:t>现有系统接口不一、数据格式差异大，集成难度较高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  <a:latin typeface="雅黑"/>
                        </a:rPr>
                        <a:t>实现跨系统协作无缝衔接，减少重复操作，提升整体工作效率</a:t>
                      </a:r>
                    </a:p>
                  </a:txBody>
                  <a:tcPr marL="56027" marR="50425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842070"/>
                  </a:ext>
                </a:extLst>
              </a:tr>
              <a:tr h="80573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00" b="0">
                          <a:effectLst/>
                          <a:latin typeface="雅黑"/>
                        </a:rPr>
                        <a:t>6</a:t>
                      </a:r>
                    </a:p>
                  </a:txBody>
                  <a:tcPr marL="50425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  <a:latin typeface="雅黑"/>
                        </a:rPr>
                        <a:t>流程自动采纳率提升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  <a:latin typeface="雅黑"/>
                        </a:rPr>
                        <a:t>通过算法优化与模板积累，提高系统</a:t>
                      </a:r>
                      <a:r>
                        <a:rPr lang="zh-CN" altLang="en-US" sz="1100" b="1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雅黑"/>
                        </a:rPr>
                        <a:t>自动生成流程图的直接可用性</a:t>
                      </a:r>
                      <a:r>
                        <a:rPr lang="zh-CN" altLang="en-US" sz="1100" b="0" dirty="0">
                          <a:effectLst/>
                          <a:latin typeface="雅黑"/>
                        </a:rPr>
                        <a:t>，减少人工修改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  <a:latin typeface="雅黑"/>
                        </a:rPr>
                        <a:t>当前自动生成的流程图与实际需求存在偏差，工程师修改比例较高</a:t>
                      </a:r>
                    </a:p>
                  </a:txBody>
                  <a:tcPr marL="56027" marR="56027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100" b="0" dirty="0">
                          <a:effectLst/>
                          <a:latin typeface="雅黑"/>
                        </a:rPr>
                        <a:t>推进自动化，降低人工干预，提升方案输出效率与质量</a:t>
                      </a:r>
                    </a:p>
                  </a:txBody>
                  <a:tcPr marL="56027" marR="50425" marT="35017" marB="350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102741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9B9530E-55FC-39AD-62B3-6399449E16F3}"/>
              </a:ext>
            </a:extLst>
          </p:cNvPr>
          <p:cNvSpPr txBox="1"/>
          <p:nvPr/>
        </p:nvSpPr>
        <p:spPr>
          <a:xfrm>
            <a:off x="363355" y="176280"/>
            <a:ext cx="35348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项目后续拓展方向</a:t>
            </a:r>
          </a:p>
        </p:txBody>
      </p:sp>
    </p:spTree>
    <p:extLst>
      <p:ext uri="{BB962C8B-B14F-4D97-AF65-F5344CB8AC3E}">
        <p14:creationId xmlns:p14="http://schemas.microsoft.com/office/powerpoint/2010/main" val="852419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334</Words>
  <Application>Microsoft Office PowerPoint</Application>
  <PresentationFormat>宽屏</PresentationFormat>
  <Paragraphs>36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qianxiao zhang</dc:creator>
  <cp:lastModifiedBy>qianxiao zhang</cp:lastModifiedBy>
  <cp:revision>3</cp:revision>
  <dcterms:created xsi:type="dcterms:W3CDTF">2025-12-15T10:22:45Z</dcterms:created>
  <dcterms:modified xsi:type="dcterms:W3CDTF">2025-12-15T10:44:16Z</dcterms:modified>
</cp:coreProperties>
</file>