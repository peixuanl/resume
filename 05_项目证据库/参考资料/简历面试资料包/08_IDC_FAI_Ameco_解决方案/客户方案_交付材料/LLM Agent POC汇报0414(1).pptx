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99" r:id="rId5"/>
    <p:sldId id="16560610" r:id="rId6"/>
    <p:sldId id="16560612" r:id="rId7"/>
    <p:sldId id="16560613" r:id="rId8"/>
    <p:sldId id="16560534" r:id="rId9"/>
    <p:sldId id="16560611" r:id="rId10"/>
    <p:sldId id="16668837" r:id="rId11"/>
    <p:sldId id="16560615" r:id="rId12"/>
    <p:sldId id="16560616" r:id="rId13"/>
    <p:sldId id="16560617" r:id="rId14"/>
    <p:sldId id="16560618" r:id="rId15"/>
    <p:sldId id="16560619" r:id="rId16"/>
    <p:sldId id="16560620" r:id="rId17"/>
    <p:sldId id="261" r:id="rId18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1" userDrawn="1">
          <p15:clr>
            <a:srgbClr val="A4A3A4"/>
          </p15:clr>
        </p15:guide>
        <p15:guide id="2" pos="21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F5"/>
    <a:srgbClr val="03A2EA"/>
    <a:srgbClr val="193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/>
    <p:restoredTop sz="90148" autoAdjust="0"/>
  </p:normalViewPr>
  <p:slideViewPr>
    <p:cSldViewPr snapToGrid="0" showGuides="1">
      <p:cViewPr varScale="1">
        <p:scale>
          <a:sx n="76" d="100"/>
          <a:sy n="76" d="100"/>
        </p:scale>
        <p:origin x="184" y="88"/>
      </p:cViewPr>
      <p:guideLst>
        <p:guide orient="horz" pos="2921"/>
        <p:guide pos="21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0F5830-88F3-4B87-BB45-27157D3AA448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BF68C-378E-4128-B1FB-CCEB975D97B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3F51BA-7433-1D4B-84CB-B35DE54FDFC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pitchFamily="34" charset="-122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pitchFamily="34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1577-A783-8B9F-5DCE-19AFBCE2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65B6DB-8C66-E9EB-8309-AD81BE6B9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50ECE1-6D6A-CBE8-C86B-B1AFF21AD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EA8E5-3447-98A8-5EFB-269182799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42B12-7CEA-4D66-B561-D68E65B79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37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42B12-7CEA-4D66-B561-D68E65B797D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BF68C-378E-4128-B1FB-CCEB975D97BE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5071466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3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7116270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Drag &amp; Drop Image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3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5071466" y="0"/>
            <a:ext cx="7120533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3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7116270" y="0"/>
            <a:ext cx="5075729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3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8806404" y="1976968"/>
            <a:ext cx="1315703" cy="232146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Drag &amp; Drop Image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3026661" y="0"/>
            <a:ext cx="9161075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3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981854" y="861933"/>
            <a:ext cx="4089612" cy="514119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Drag &amp; Drop Image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3026661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0505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7496"/>
            <a:ext cx="12192000" cy="686549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/>
          <p:nvPr userDrawn="1"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t>‹#›</a:t>
            </a:fld>
            <a:endParaRPr lang="en-US" sz="1400" b="1" i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8185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02666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507146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7116271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161076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205882" y="-7495"/>
            <a:ext cx="0" cy="6858000"/>
          </a:xfrm>
          <a:prstGeom prst="line">
            <a:avLst/>
          </a:prstGeom>
          <a:ln w="6350"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 rot="16200000">
            <a:off x="-760102" y="4534942"/>
            <a:ext cx="2525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9" name="Straight Connector 18"/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riangle 19"/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5DF10-18EC-4E6E-AF5E-A7C79E2DA363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D56F-33D7-4223-9407-3216DDBC209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569475"/>
            <a:ext cx="4114800" cy="288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zh-CN" sz="1000" smtClean="0">
                <a:solidFill>
                  <a:srgbClr val="07030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/>
              <a:t>- </a:t>
            </a:r>
            <a:r>
              <a:rPr lang="zh-CN" altLang="en-US"/>
              <a:t>版权归领新智科所有，违者必究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79605" y="6569475"/>
            <a:ext cx="2743200" cy="288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rgbClr val="07030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2332BD4-BB77-4B57-B298-8DDBA58A923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lock, meter&#10;&#10;Description automatically generated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772158" y="6239035"/>
            <a:ext cx="2050367" cy="3215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person with glasses&#10;&#10;Description automatically generated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764" b="7764"/>
          <a:stretch>
            <a:fillRect/>
          </a:stretch>
        </p:blipFill>
        <p:spPr>
          <a:xfrm>
            <a:off x="0" y="1931"/>
            <a:ext cx="12192000" cy="6865495"/>
          </a:xfrm>
        </p:spPr>
      </p:pic>
      <p:sp>
        <p:nvSpPr>
          <p:cNvPr id="5" name="Rectangle 3"/>
          <p:cNvSpPr/>
          <p:nvPr/>
        </p:nvSpPr>
        <p:spPr>
          <a:xfrm>
            <a:off x="0" y="2567145"/>
            <a:ext cx="12192000" cy="3429002"/>
          </a:xfrm>
          <a:prstGeom prst="rect">
            <a:avLst/>
          </a:prstGeom>
          <a:solidFill>
            <a:srgbClr val="000000">
              <a:alpha val="59000"/>
            </a:srgbClr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81856" y="-1"/>
            <a:ext cx="10224026" cy="6796007"/>
            <a:chOff x="981856" y="-7495"/>
            <a:chExt cx="10224026" cy="68580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981856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026661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071466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116271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9161076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205882" y="-7495"/>
              <a:ext cx="0" cy="6858000"/>
            </a:xfrm>
            <a:prstGeom prst="line">
              <a:avLst/>
            </a:prstGeom>
            <a:ln w="6350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Picture Placeholder 2"/>
          <p:cNvSpPr txBox="1"/>
          <p:nvPr/>
        </p:nvSpPr>
        <p:spPr>
          <a:xfrm>
            <a:off x="981856" y="6711193"/>
            <a:ext cx="2044805" cy="146806"/>
          </a:xfrm>
          <a:prstGeom prst="rect">
            <a:avLst/>
          </a:prstGeom>
          <a:solidFill>
            <a:schemeClr val="accent1"/>
          </a:solidFill>
          <a:effectLst/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50993" y="2727374"/>
            <a:ext cx="3408946" cy="150810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Roboto Light" charset="0"/>
              </a:rPr>
              <a:t>DataMesh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Roboto Light" charset="0"/>
              </a:rPr>
              <a:t>LLM Agent</a:t>
            </a:r>
            <a:b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Roboto Light" charset="0"/>
              </a:rPr>
            </a:br>
            <a:r>
              <a:rPr lang="en-US" altLang="zh-CN" sz="32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Roboto Light" charset="0"/>
              </a:rPr>
              <a:t>POC</a:t>
            </a:r>
            <a:r>
              <a:rPr lang="zh-CN" altLang="en-US" sz="3200" dirty="0">
                <a:solidFill>
                  <a:prstClr val="whit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Roboto Light" charset="0"/>
              </a:rPr>
              <a:t>验证汇报交流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Roboto Light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5088127" y="-7495"/>
            <a:ext cx="0" cy="12675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8C71-FF49-90B6-AF81-678FB31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041AF-7134-A9FD-4A2D-C5E7C0191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背景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42569D-061C-E9C4-8230-53FA92381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67" y="964156"/>
            <a:ext cx="7913508" cy="49296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05FBE16-A2C0-708F-A4EE-67DB54EA963D}"/>
              </a:ext>
            </a:extLst>
          </p:cNvPr>
          <p:cNvSpPr txBox="1"/>
          <p:nvPr/>
        </p:nvSpPr>
        <p:spPr>
          <a:xfrm>
            <a:off x="9991288" y="5524512"/>
            <a:ext cx="2200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应用大模型生成该页</a:t>
            </a:r>
            <a:r>
              <a:rPr lang="en-US" altLang="zh-CN" dirty="0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7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B20FAD8-2985-5D0D-AA8C-2DF0EA2D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大模型应用的业界范式：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RAG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04256FA-6278-581F-507B-8BF21D0C2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22" y="1481873"/>
            <a:ext cx="6250434" cy="370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7097D7E8-1FED-EC2F-871A-3E9000D7F742}"/>
              </a:ext>
            </a:extLst>
          </p:cNvPr>
          <p:cNvSpPr/>
          <p:nvPr/>
        </p:nvSpPr>
        <p:spPr>
          <a:xfrm>
            <a:off x="9730519" y="3375731"/>
            <a:ext cx="1363159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FAI</a:t>
            </a:r>
            <a:r>
              <a:rPr lang="zh-CN" altLang="en-US" sz="1200" dirty="0"/>
              <a:t>微服务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B88F7A-900B-D57C-A3CA-ECA419E668C1}"/>
              </a:ext>
            </a:extLst>
          </p:cNvPr>
          <p:cNvSpPr/>
          <p:nvPr/>
        </p:nvSpPr>
        <p:spPr>
          <a:xfrm>
            <a:off x="7923453" y="3375731"/>
            <a:ext cx="1363159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/>
              <a:t>FactVerse</a:t>
            </a:r>
            <a:r>
              <a:rPr lang="zh-CN" altLang="en-US" sz="1200" dirty="0"/>
              <a:t>微服务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0599B5-99AB-575F-4B2F-C5723B93940A}"/>
              </a:ext>
            </a:extLst>
          </p:cNvPr>
          <p:cNvSpPr txBox="1"/>
          <p:nvPr/>
        </p:nvSpPr>
        <p:spPr>
          <a:xfrm>
            <a:off x="7923453" y="4318855"/>
            <a:ext cx="1363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用户权限</a:t>
            </a:r>
            <a:endParaRPr lang="en-US" altLang="zh-CN" dirty="0"/>
          </a:p>
          <a:p>
            <a:r>
              <a:rPr lang="zh-CN" altLang="en-US" dirty="0"/>
              <a:t>孪生体</a:t>
            </a:r>
            <a:endParaRPr lang="en-US" altLang="zh-CN" dirty="0"/>
          </a:p>
          <a:p>
            <a:r>
              <a:rPr lang="zh-CN" altLang="en-US" dirty="0"/>
              <a:t>知识库</a:t>
            </a:r>
            <a:endParaRPr lang="en-US" altLang="zh-CN" dirty="0"/>
          </a:p>
          <a:p>
            <a:r>
              <a:rPr lang="en-US" altLang="zh-CN" dirty="0"/>
              <a:t>Chat</a:t>
            </a:r>
            <a:r>
              <a:rPr lang="zh-CN" altLang="en-US" dirty="0"/>
              <a:t>服务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26C042-72F3-CEC5-9F84-5CDA8ACDD9F6}"/>
              </a:ext>
            </a:extLst>
          </p:cNvPr>
          <p:cNvSpPr txBox="1"/>
          <p:nvPr/>
        </p:nvSpPr>
        <p:spPr>
          <a:xfrm>
            <a:off x="9730519" y="4318855"/>
            <a:ext cx="136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文本拆分</a:t>
            </a:r>
            <a:endParaRPr lang="en-US" altLang="zh-CN" dirty="0"/>
          </a:p>
          <a:p>
            <a:r>
              <a:rPr lang="zh-CN" altLang="en-US" dirty="0"/>
              <a:t>向量化服务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D1EC0DB-33AA-A765-DB41-20EAD4A6E9A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9286612" y="3626197"/>
            <a:ext cx="443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E568F1E-4F44-2FB9-C897-1204051FAA0D}"/>
              </a:ext>
            </a:extLst>
          </p:cNvPr>
          <p:cNvSpPr txBox="1"/>
          <p:nvPr/>
        </p:nvSpPr>
        <p:spPr>
          <a:xfrm>
            <a:off x="7801760" y="2755934"/>
            <a:ext cx="148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Spring Cloud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B6690D7-3AFF-3B4B-A325-C52619BEAF44}"/>
              </a:ext>
            </a:extLst>
          </p:cNvPr>
          <p:cNvSpPr txBox="1"/>
          <p:nvPr/>
        </p:nvSpPr>
        <p:spPr>
          <a:xfrm>
            <a:off x="9407135" y="2755934"/>
            <a:ext cx="200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Python+Langchain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90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2E78-8B1F-207F-9ADF-82F82239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C32579A7-C26D-51D5-9D0B-7A54E793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大模型应用的业界范式：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Agent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68F25D8D-83E4-0C16-232E-5C9BF6C5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23" y="1058333"/>
            <a:ext cx="10196811" cy="5079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290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关注的内容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$lidè"/>
          <p:cNvSpPr/>
          <p:nvPr/>
        </p:nvSpPr>
        <p:spPr>
          <a:xfrm>
            <a:off x="1431394" y="1522009"/>
            <a:ext cx="6597038" cy="799046"/>
          </a:xfrm>
          <a:prstGeom prst="snip2DiagRect">
            <a:avLst/>
          </a:prstGeom>
          <a:solidFill>
            <a:srgbClr val="ED7D31">
              <a:alpha val="15000"/>
            </a:srgbClr>
          </a:solidFill>
          <a:ln w="12700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5" name="îślïḓê"/>
          <p:cNvSpPr txBox="1"/>
          <p:nvPr/>
        </p:nvSpPr>
        <p:spPr>
          <a:xfrm>
            <a:off x="1094281" y="1709353"/>
            <a:ext cx="540000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0">
                <a:srgbClr val="ED7D31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zh-CN"/>
            </a:defPPr>
            <a:lvl1pPr algn="ctr">
              <a:defRPr kumimoji="1" sz="1200" b="1">
                <a:solidFill>
                  <a:srgbClr val="FFFFFF"/>
                </a:solidFill>
              </a:defRPr>
            </a:lvl1pPr>
          </a:lstStyle>
          <a:p>
            <a:r>
              <a:rPr lang="en-US" altLang="zh-CN" sz="1800" dirty="0"/>
              <a:t>01</a:t>
            </a:r>
            <a:endParaRPr lang="zh-CN" altLang="en-US" sz="1800" dirty="0"/>
          </a:p>
        </p:txBody>
      </p:sp>
      <p:sp>
        <p:nvSpPr>
          <p:cNvPr id="8" name="ïṧḻîḋe"/>
          <p:cNvSpPr/>
          <p:nvPr/>
        </p:nvSpPr>
        <p:spPr>
          <a:xfrm>
            <a:off x="1785162" y="1756410"/>
            <a:ext cx="5889501" cy="337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spAutoFit/>
          </a:bodyPr>
          <a:lstStyle/>
          <a:p>
            <a:r>
              <a:rPr kumimoji="1" lang="zh-CN" altLang="en-US" sz="1600" b="1" dirty="0">
                <a:solidFill>
                  <a:schemeClr val="tx1"/>
                </a:solidFill>
              </a:rPr>
              <a:t>市场与客户价值</a:t>
            </a:r>
          </a:p>
        </p:txBody>
      </p:sp>
      <p:sp>
        <p:nvSpPr>
          <p:cNvPr id="15" name="íSḻiďe"/>
          <p:cNvSpPr/>
          <p:nvPr/>
        </p:nvSpPr>
        <p:spPr>
          <a:xfrm>
            <a:off x="1431394" y="2978487"/>
            <a:ext cx="6597038" cy="972727"/>
          </a:xfrm>
          <a:prstGeom prst="snip2DiagRect">
            <a:avLst/>
          </a:prstGeom>
          <a:solidFill>
            <a:srgbClr val="03A9F4">
              <a:alpha val="15000"/>
            </a:srgbClr>
          </a:solidFill>
          <a:ln w="12700" cap="flat">
            <a:solidFill>
              <a:schemeClr val="accent2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16" name="i$ļîḑe"/>
          <p:cNvSpPr txBox="1"/>
          <p:nvPr/>
        </p:nvSpPr>
        <p:spPr>
          <a:xfrm>
            <a:off x="1094281" y="3183754"/>
            <a:ext cx="540000" cy="540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2700000" scaled="0"/>
          </a:gra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zh-CN"/>
            </a:defPPr>
            <a:lvl1pPr algn="ctr">
              <a:defRPr kumimoji="1" b="1">
                <a:solidFill>
                  <a:srgbClr val="FFFFFF"/>
                </a:solidFill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8" name="ï$lîḑe"/>
          <p:cNvSpPr/>
          <p:nvPr/>
        </p:nvSpPr>
        <p:spPr>
          <a:xfrm>
            <a:off x="1756010" y="3291748"/>
            <a:ext cx="5368293" cy="368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spAutoFit/>
          </a:bodyPr>
          <a:lstStyle/>
          <a:p>
            <a:r>
              <a:rPr kumimoji="1" lang="zh-CN" altLang="en-US" b="1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产品结合点与项目可落地性</a:t>
            </a:r>
            <a:endParaRPr kumimoji="1"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íSḻiďe"/>
          <p:cNvSpPr/>
          <p:nvPr/>
        </p:nvSpPr>
        <p:spPr>
          <a:xfrm>
            <a:off x="1441181" y="4414908"/>
            <a:ext cx="6597038" cy="951209"/>
          </a:xfrm>
          <a:prstGeom prst="snip2DiagRect">
            <a:avLst/>
          </a:prstGeom>
          <a:solidFill>
            <a:schemeClr val="accent4">
              <a:lumMod val="75000"/>
              <a:alpha val="15000"/>
            </a:schemeClr>
          </a:solidFill>
          <a:ln w="12700" cap="flat">
            <a:solidFill>
              <a:schemeClr val="accent2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21" name="i$ļîḑe"/>
          <p:cNvSpPr txBox="1"/>
          <p:nvPr/>
        </p:nvSpPr>
        <p:spPr>
          <a:xfrm>
            <a:off x="1094281" y="4608647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zh-CN"/>
            </a:defPPr>
            <a:lvl1pPr algn="ctr">
              <a:defRPr kumimoji="1" b="1">
                <a:solidFill>
                  <a:srgbClr val="FFFFFF"/>
                </a:solidFill>
              </a:defRPr>
            </a:lvl1pPr>
          </a:lstStyle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2" name="ï$lîḑe"/>
          <p:cNvSpPr/>
          <p:nvPr/>
        </p:nvSpPr>
        <p:spPr>
          <a:xfrm>
            <a:off x="1756009" y="4709370"/>
            <a:ext cx="5368293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spAutoFit/>
          </a:bodyPr>
          <a:lstStyle/>
          <a:p>
            <a:r>
              <a:rPr kumimoji="1" lang="zh-CN" altLang="en-US" sz="1600" b="1" dirty="0">
                <a:solidFill>
                  <a:srgbClr val="000000"/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技术可行性与选型分析</a:t>
            </a:r>
            <a:endParaRPr kumimoji="1"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32760B34-EBE7-D346-4B3A-6D1A8C63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Story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A4CBE4F-4987-CAFC-D32E-4A524CEF0923}"/>
              </a:ext>
            </a:extLst>
          </p:cNvPr>
          <p:cNvSpPr/>
          <p:nvPr/>
        </p:nvSpPr>
        <p:spPr>
          <a:xfrm>
            <a:off x="3460350" y="2377440"/>
            <a:ext cx="1208598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工单产生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4D94E48-3380-58DE-182F-E2F133D631AF}"/>
              </a:ext>
            </a:extLst>
          </p:cNvPr>
          <p:cNvSpPr/>
          <p:nvPr/>
        </p:nvSpPr>
        <p:spPr>
          <a:xfrm>
            <a:off x="1265790" y="1542553"/>
            <a:ext cx="1359673" cy="4452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设备监控报警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751F578-A4FC-42CD-69D0-DCB163165D13}"/>
              </a:ext>
            </a:extLst>
          </p:cNvPr>
          <p:cNvSpPr/>
          <p:nvPr/>
        </p:nvSpPr>
        <p:spPr>
          <a:xfrm>
            <a:off x="1265790" y="3142090"/>
            <a:ext cx="1359673" cy="4452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巡点检发现问题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34FC52F-05A9-6E5D-8A04-6D2C2AFEBD72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2625463" y="1765190"/>
            <a:ext cx="834887" cy="862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0A8DEED-04A0-462C-AA5F-0FF4A0FEC644}"/>
              </a:ext>
            </a:extLst>
          </p:cNvPr>
          <p:cNvCxnSpPr>
            <a:stCxn id="6" idx="3"/>
            <a:endCxn id="4" idx="1"/>
          </p:cNvCxnSpPr>
          <p:nvPr/>
        </p:nvCxnSpPr>
        <p:spPr>
          <a:xfrm flipV="1">
            <a:off x="2625463" y="2627906"/>
            <a:ext cx="834887" cy="736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5FFD029-CA48-0836-EC58-4880F46605F5}"/>
              </a:ext>
            </a:extLst>
          </p:cNvPr>
          <p:cNvSpPr/>
          <p:nvPr/>
        </p:nvSpPr>
        <p:spPr>
          <a:xfrm>
            <a:off x="5203011" y="2377440"/>
            <a:ext cx="1208598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工单分配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ADA54C1-5C06-EE90-A54D-89233E79B3F2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4668948" y="2627906"/>
            <a:ext cx="5340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767CCD9-278D-207A-EBE6-42670EB87A7C}"/>
              </a:ext>
            </a:extLst>
          </p:cNvPr>
          <p:cNvSpPr/>
          <p:nvPr/>
        </p:nvSpPr>
        <p:spPr>
          <a:xfrm>
            <a:off x="7380206" y="2371210"/>
            <a:ext cx="1208598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现场维修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5F73574-7A65-F412-0110-8AFB6ED4B6E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6411609" y="2621676"/>
            <a:ext cx="968597" cy="6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724B40-244B-8007-C651-FB2C6AA39572}"/>
              </a:ext>
            </a:extLst>
          </p:cNvPr>
          <p:cNvSpPr/>
          <p:nvPr/>
        </p:nvSpPr>
        <p:spPr>
          <a:xfrm>
            <a:off x="9557402" y="2371210"/>
            <a:ext cx="1208598" cy="500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工单审核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9F16EA0-5017-6C71-FEDF-76547F329B9D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8588804" y="2621676"/>
            <a:ext cx="968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B9339FB-FC63-7056-2817-8C1F169FA4C7}"/>
              </a:ext>
            </a:extLst>
          </p:cNvPr>
          <p:cNvSpPr txBox="1"/>
          <p:nvPr/>
        </p:nvSpPr>
        <p:spPr>
          <a:xfrm>
            <a:off x="1618297" y="3962401"/>
            <a:ext cx="2620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自动程序处理：固化规则，产生无效工单，需要管理角色在工单分配时核对与分配。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/>
          </a:p>
          <a:p>
            <a:r>
              <a:rPr lang="en-US" altLang="zh-CN" sz="1200" dirty="0">
                <a:solidFill>
                  <a:srgbClr val="0070C0"/>
                </a:solidFill>
              </a:rPr>
              <a:t>Agent</a:t>
            </a:r>
            <a:r>
              <a:rPr lang="zh-CN" altLang="en-US" sz="1200" dirty="0">
                <a:solidFill>
                  <a:srgbClr val="0070C0"/>
                </a:solidFill>
              </a:rPr>
              <a:t>处理：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en-US" altLang="zh-CN" sz="1200" dirty="0">
                <a:solidFill>
                  <a:srgbClr val="0070C0"/>
                </a:solidFill>
              </a:rPr>
              <a:t>AI</a:t>
            </a:r>
            <a:r>
              <a:rPr lang="zh-CN" altLang="en-US" sz="1200" dirty="0">
                <a:solidFill>
                  <a:srgbClr val="0070C0"/>
                </a:solidFill>
              </a:rPr>
              <a:t>根据设备数据，无需定义繁琐的规则，自动适应规则变化和特殊处理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EDB2D7B-3826-7853-58D3-BAC15D2BF403}"/>
              </a:ext>
            </a:extLst>
          </p:cNvPr>
          <p:cNvCxnSpPr/>
          <p:nvPr/>
        </p:nvCxnSpPr>
        <p:spPr>
          <a:xfrm>
            <a:off x="3110492" y="2996316"/>
            <a:ext cx="0" cy="891872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796E1C4-375D-26EE-E5EE-4C91A31D41F7}"/>
              </a:ext>
            </a:extLst>
          </p:cNvPr>
          <p:cNvSpPr txBox="1"/>
          <p:nvPr/>
        </p:nvSpPr>
        <p:spPr>
          <a:xfrm>
            <a:off x="712805" y="3962401"/>
            <a:ext cx="461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智能升级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BB79D3-C8E9-3E13-2ACA-C7841984BB2A}"/>
              </a:ext>
            </a:extLst>
          </p:cNvPr>
          <p:cNvSpPr txBox="1"/>
          <p:nvPr/>
        </p:nvSpPr>
        <p:spPr>
          <a:xfrm>
            <a:off x="4520209" y="3896502"/>
            <a:ext cx="2620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管理员：根据经验进行处理，服务相应维修时效性依赖管理员的出勤。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/>
          </a:p>
          <a:p>
            <a:r>
              <a:rPr lang="en-US" altLang="zh-CN" sz="1200" dirty="0">
                <a:solidFill>
                  <a:srgbClr val="0070C0"/>
                </a:solidFill>
              </a:rPr>
              <a:t>Agent</a:t>
            </a:r>
            <a:r>
              <a:rPr lang="zh-CN" altLang="en-US" sz="1200" dirty="0">
                <a:solidFill>
                  <a:srgbClr val="0070C0"/>
                </a:solidFill>
              </a:rPr>
              <a:t>：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全天候自动处理，根据设备情况与人员工作负荷，技能情况自动分配工单。</a:t>
            </a:r>
            <a:endParaRPr lang="en-US" altLang="zh-CN" sz="1200" dirty="0">
              <a:solidFill>
                <a:srgbClr val="0070C0"/>
              </a:solidFill>
            </a:endParaRPr>
          </a:p>
          <a:p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幻觉问题：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需要记录</a:t>
            </a:r>
            <a:r>
              <a:rPr lang="en-US" altLang="zh-CN" sz="1200" dirty="0">
                <a:solidFill>
                  <a:srgbClr val="0070C0"/>
                </a:solidFill>
              </a:rPr>
              <a:t>Agent</a:t>
            </a:r>
            <a:r>
              <a:rPr lang="zh-CN" altLang="en-US" sz="1200" dirty="0">
                <a:solidFill>
                  <a:srgbClr val="0070C0"/>
                </a:solidFill>
              </a:rPr>
              <a:t>的工作</a:t>
            </a:r>
            <a:endParaRPr lang="en-US" altLang="zh-CN" sz="1200" dirty="0">
              <a:solidFill>
                <a:srgbClr val="0070C0"/>
              </a:solidFill>
            </a:endParaRPr>
          </a:p>
          <a:p>
            <a:endParaRPr lang="zh-CN" altLang="en-US" sz="1200" dirty="0">
              <a:solidFill>
                <a:srgbClr val="0070C0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A65D153-78B5-BF29-A4EA-A019B3E87C54}"/>
              </a:ext>
            </a:extLst>
          </p:cNvPr>
          <p:cNvCxnSpPr/>
          <p:nvPr/>
        </p:nvCxnSpPr>
        <p:spPr>
          <a:xfrm>
            <a:off x="5807310" y="2918790"/>
            <a:ext cx="0" cy="891872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4C25541-5A9E-0442-1AC7-84B87E1A8E90}"/>
              </a:ext>
            </a:extLst>
          </p:cNvPr>
          <p:cNvSpPr txBox="1"/>
          <p:nvPr/>
        </p:nvSpPr>
        <p:spPr>
          <a:xfrm>
            <a:off x="7278737" y="3962400"/>
            <a:ext cx="2620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labor</a:t>
            </a:r>
            <a:r>
              <a:rPr lang="zh-CN" altLang="en-US" sz="1200" dirty="0">
                <a:solidFill>
                  <a:srgbClr val="FF0000"/>
                </a:solidFill>
              </a:rPr>
              <a:t>：根据经验进行处理。</a:t>
            </a:r>
            <a:endParaRPr lang="en-US" altLang="zh-CN" sz="1200" dirty="0">
              <a:solidFill>
                <a:srgbClr val="FF0000"/>
              </a:solidFill>
            </a:endParaRPr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>
                <a:solidFill>
                  <a:srgbClr val="0070C0"/>
                </a:solidFill>
              </a:rPr>
              <a:t>Agent</a:t>
            </a:r>
            <a:r>
              <a:rPr lang="zh-CN" altLang="en-US" sz="1200" dirty="0">
                <a:solidFill>
                  <a:srgbClr val="0070C0"/>
                </a:solidFill>
              </a:rPr>
              <a:t>：</a:t>
            </a:r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提供维修建议，维修资料依据</a:t>
            </a:r>
            <a:endParaRPr lang="en-US" altLang="zh-CN" sz="1200" dirty="0">
              <a:solidFill>
                <a:srgbClr val="0070C0"/>
              </a:solidFill>
            </a:endParaRPr>
          </a:p>
          <a:p>
            <a:endParaRPr lang="en-US" altLang="zh-CN" sz="1200" dirty="0">
              <a:solidFill>
                <a:srgbClr val="0070C0"/>
              </a:solidFill>
            </a:endParaRPr>
          </a:p>
          <a:p>
            <a:r>
              <a:rPr lang="zh-CN" altLang="en-US" sz="1200" dirty="0">
                <a:solidFill>
                  <a:srgbClr val="0070C0"/>
                </a:solidFill>
              </a:rPr>
              <a:t>分析设备关联潜在影响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DA0DCCC-A333-D064-AD2C-DE45ACC69E0B}"/>
              </a:ext>
            </a:extLst>
          </p:cNvPr>
          <p:cNvCxnSpPr/>
          <p:nvPr/>
        </p:nvCxnSpPr>
        <p:spPr>
          <a:xfrm>
            <a:off x="8008960" y="2872142"/>
            <a:ext cx="0" cy="891872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FB2DC9A-D6D1-623E-D8C4-D90855667271}"/>
              </a:ext>
            </a:extLst>
          </p:cNvPr>
          <p:cNvSpPr txBox="1"/>
          <p:nvPr/>
        </p:nvSpPr>
        <p:spPr>
          <a:xfrm>
            <a:off x="9760475" y="3911011"/>
            <a:ext cx="23095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ROI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、节省约一年</a:t>
            </a:r>
            <a:r>
              <a:rPr lang="en-US" altLang="zh-CN" dirty="0"/>
              <a:t>40W</a:t>
            </a:r>
            <a:r>
              <a:rPr lang="zh-CN" altLang="en-US" dirty="0"/>
              <a:t>人力成本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、客户服务满意度提升</a:t>
            </a:r>
            <a:r>
              <a:rPr lang="en-US" altLang="zh-CN" dirty="0"/>
              <a:t>20.3%(</a:t>
            </a:r>
            <a:r>
              <a:rPr lang="zh-CN" altLang="en-US" dirty="0"/>
              <a:t>客户问卷调查结论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DDF9E1-5012-0E58-EEBA-5977FD63088E}"/>
              </a:ext>
            </a:extLst>
          </p:cNvPr>
          <p:cNvSpPr txBox="1"/>
          <p:nvPr/>
        </p:nvSpPr>
        <p:spPr>
          <a:xfrm>
            <a:off x="1416865" y="2062039"/>
            <a:ext cx="1111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Forge</a:t>
            </a:r>
            <a:r>
              <a:rPr lang="zh-CN" altLang="en-US" dirty="0"/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A9C97A-EEA5-389A-FC37-A80E86469309}"/>
              </a:ext>
            </a:extLst>
          </p:cNvPr>
          <p:cNvSpPr txBox="1"/>
          <p:nvPr/>
        </p:nvSpPr>
        <p:spPr>
          <a:xfrm>
            <a:off x="1174719" y="3625996"/>
            <a:ext cx="1309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Maximo</a:t>
            </a:r>
            <a:r>
              <a:rPr lang="zh-CN" altLang="en-US" dirty="0"/>
              <a:t>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083E926-51B8-C256-D3D1-6435DB92C0BA}"/>
              </a:ext>
            </a:extLst>
          </p:cNvPr>
          <p:cNvSpPr txBox="1"/>
          <p:nvPr/>
        </p:nvSpPr>
        <p:spPr>
          <a:xfrm>
            <a:off x="2697577" y="476222"/>
            <a:ext cx="789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拿着锤子找钉子 </a:t>
            </a:r>
            <a:r>
              <a:rPr lang="en-US" altLang="zh-CN" b="1" dirty="0"/>
              <a:t>VS </a:t>
            </a:r>
            <a:r>
              <a:rPr lang="zh-CN" altLang="en-US" b="1" dirty="0"/>
              <a:t>市场需求验证：需要销售与售前用场景和</a:t>
            </a:r>
            <a:r>
              <a:rPr lang="en-US" altLang="zh-CN" b="1" dirty="0"/>
              <a:t>ROI</a:t>
            </a:r>
            <a:r>
              <a:rPr lang="zh-CN" altLang="en-US" b="1" dirty="0"/>
              <a:t>跟客户讨论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6037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194A-1A3C-DAF6-C3C0-17088ECA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0932B4E7-A55E-E996-3DA8-D4012E67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Story   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Agentic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业务流程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VS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传统信息化业务流程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32CF6E3-C2A1-BF14-CE79-AAD8B38D843B}"/>
              </a:ext>
            </a:extLst>
          </p:cNvPr>
          <p:cNvSpPr txBox="1"/>
          <p:nvPr/>
        </p:nvSpPr>
        <p:spPr>
          <a:xfrm>
            <a:off x="220474" y="1120106"/>
            <a:ext cx="303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常规信息化业务流程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4B2D55A-C7B9-434A-7B80-4CFF86E058F2}"/>
              </a:ext>
            </a:extLst>
          </p:cNvPr>
          <p:cNvSpPr txBox="1"/>
          <p:nvPr/>
        </p:nvSpPr>
        <p:spPr>
          <a:xfrm>
            <a:off x="7582951" y="1104801"/>
            <a:ext cx="3492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Agentic</a:t>
            </a:r>
            <a:r>
              <a:rPr lang="zh-CN" altLang="en-US" sz="2400" b="1" dirty="0"/>
              <a:t>重塑业务流程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2607875-F1A6-1152-BC96-E4C1BD7E5BE2}"/>
              </a:ext>
            </a:extLst>
          </p:cNvPr>
          <p:cNvSpPr txBox="1"/>
          <p:nvPr/>
        </p:nvSpPr>
        <p:spPr>
          <a:xfrm>
            <a:off x="628542" y="1997249"/>
            <a:ext cx="2127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系统：推送报警信息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人：查数据、判断、创建工单</a:t>
            </a:r>
            <a:endParaRPr lang="en-US" altLang="zh-CN" sz="1600" b="1" dirty="0"/>
          </a:p>
          <a:p>
            <a:endParaRPr lang="zh-CN" altLang="en-US" sz="1600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F73FB85-5BC1-B15B-199A-B4A1B80DFC67}"/>
              </a:ext>
            </a:extLst>
          </p:cNvPr>
          <p:cNvSpPr txBox="1"/>
          <p:nvPr/>
        </p:nvSpPr>
        <p:spPr>
          <a:xfrm>
            <a:off x="6576239" y="1756477"/>
            <a:ext cx="3492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机器人：依靠视觉自动巡检（远期）</a:t>
            </a:r>
            <a:endParaRPr lang="en-US" altLang="zh-CN" sz="1600" b="1" dirty="0"/>
          </a:p>
          <a:p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运行监控</a:t>
            </a:r>
            <a:r>
              <a:rPr lang="en-US" altLang="zh-CN" sz="1600" b="1" dirty="0"/>
              <a:t>Agent</a:t>
            </a:r>
            <a:r>
              <a:rPr lang="zh-CN" altLang="en-US" sz="1600" b="1" dirty="0"/>
              <a:t>：感知故障、判断有效报警、自动创建工单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A26BD5C-F880-7304-6951-C599327162BA}"/>
              </a:ext>
            </a:extLst>
          </p:cNvPr>
          <p:cNvSpPr txBox="1"/>
          <p:nvPr/>
        </p:nvSpPr>
        <p:spPr>
          <a:xfrm>
            <a:off x="712854" y="3693573"/>
            <a:ext cx="1966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人：手动分配</a:t>
            </a:r>
            <a:endParaRPr lang="en-US" altLang="zh-CN" sz="1600" b="1" dirty="0"/>
          </a:p>
          <a:p>
            <a:r>
              <a:rPr lang="zh-CN" altLang="en-US" sz="1600" b="1" dirty="0"/>
              <a:t>系统：表单执行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F53C48C-81C4-5325-17E9-855552800EB3}"/>
              </a:ext>
            </a:extLst>
          </p:cNvPr>
          <p:cNvSpPr txBox="1"/>
          <p:nvPr/>
        </p:nvSpPr>
        <p:spPr>
          <a:xfrm>
            <a:off x="707002" y="4896583"/>
            <a:ext cx="1844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人：根据经验维修</a:t>
            </a: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C4BF222-9D38-E8F4-0101-7B27ABA3FA45}"/>
              </a:ext>
            </a:extLst>
          </p:cNvPr>
          <p:cNvGrpSpPr/>
          <p:nvPr/>
        </p:nvGrpSpPr>
        <p:grpSpPr>
          <a:xfrm>
            <a:off x="2818964" y="1094913"/>
            <a:ext cx="3722656" cy="5500620"/>
            <a:chOff x="3631829" y="1097981"/>
            <a:chExt cx="3722656" cy="5121824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CAD33401-D17F-15B6-3560-04B33AF24AD3}"/>
                </a:ext>
              </a:extLst>
            </p:cNvPr>
            <p:cNvGrpSpPr/>
            <p:nvPr/>
          </p:nvGrpSpPr>
          <p:grpSpPr>
            <a:xfrm>
              <a:off x="3864102" y="1792191"/>
              <a:ext cx="3240290" cy="4241041"/>
              <a:chOff x="998140" y="1172155"/>
              <a:chExt cx="3240290" cy="4241041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C452B9F2-AFE0-26E2-77CC-FDCFA64C5964}"/>
                  </a:ext>
                </a:extLst>
              </p:cNvPr>
              <p:cNvSpPr/>
              <p:nvPr/>
            </p:nvSpPr>
            <p:spPr>
              <a:xfrm>
                <a:off x="1880281" y="1985030"/>
                <a:ext cx="1208598" cy="50093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工单产生</a:t>
                </a:r>
              </a:p>
            </p:txBody>
          </p: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C12FE20-9A2F-9090-C020-14DF65AFFA5C}"/>
                  </a:ext>
                </a:extLst>
              </p:cNvPr>
              <p:cNvSpPr/>
              <p:nvPr/>
            </p:nvSpPr>
            <p:spPr>
              <a:xfrm>
                <a:off x="2878757" y="1175580"/>
                <a:ext cx="1359673" cy="44527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设备监控报警</a:t>
                </a:r>
              </a:p>
            </p:txBody>
          </p:sp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7287AD68-B647-EBD3-9C01-94600A6F72CD}"/>
                  </a:ext>
                </a:extLst>
              </p:cNvPr>
              <p:cNvSpPr/>
              <p:nvPr/>
            </p:nvSpPr>
            <p:spPr>
              <a:xfrm>
                <a:off x="998140" y="1172155"/>
                <a:ext cx="1359673" cy="44527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巡点检发现问题</a:t>
                </a:r>
              </a:p>
            </p:txBody>
          </p: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4710F1F4-AD40-0D61-99DF-EAF52AF53A84}"/>
                  </a:ext>
                </a:extLst>
              </p:cNvPr>
              <p:cNvCxnSpPr>
                <a:cxnSpLocks/>
                <a:stCxn id="5" idx="2"/>
                <a:endCxn id="4" idx="0"/>
              </p:cNvCxnSpPr>
              <p:nvPr/>
            </p:nvCxnSpPr>
            <p:spPr>
              <a:xfrm flipH="1">
                <a:off x="2484580" y="1620853"/>
                <a:ext cx="1074014" cy="364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0C5CB163-449D-D556-1B2F-C5310A1B6308}"/>
                  </a:ext>
                </a:extLst>
              </p:cNvPr>
              <p:cNvCxnSpPr>
                <a:cxnSpLocks/>
                <a:stCxn id="6" idx="2"/>
                <a:endCxn id="4" idx="0"/>
              </p:cNvCxnSpPr>
              <p:nvPr/>
            </p:nvCxnSpPr>
            <p:spPr>
              <a:xfrm>
                <a:off x="1677977" y="1617428"/>
                <a:ext cx="806603" cy="3676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089BFD76-63D9-3CD7-3B79-B1D4FBA5EDEB}"/>
                  </a:ext>
                </a:extLst>
              </p:cNvPr>
              <p:cNvSpPr/>
              <p:nvPr/>
            </p:nvSpPr>
            <p:spPr>
              <a:xfrm>
                <a:off x="1880281" y="2930257"/>
                <a:ext cx="1208598" cy="50093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工单分配</a:t>
                </a:r>
              </a:p>
            </p:txBody>
          </p: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7E0A0299-73BB-B1C1-260B-CF18D1775B8B}"/>
                  </a:ext>
                </a:extLst>
              </p:cNvPr>
              <p:cNvCxnSpPr>
                <a:cxnSpLocks/>
                <a:stCxn id="4" idx="2"/>
                <a:endCxn id="9" idx="0"/>
              </p:cNvCxnSpPr>
              <p:nvPr/>
            </p:nvCxnSpPr>
            <p:spPr>
              <a:xfrm>
                <a:off x="2484580" y="2485962"/>
                <a:ext cx="0" cy="4442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9D5A9FB0-5EE9-D0AC-D377-140731304102}"/>
                  </a:ext>
                </a:extLst>
              </p:cNvPr>
              <p:cNvSpPr/>
              <p:nvPr/>
            </p:nvSpPr>
            <p:spPr>
              <a:xfrm>
                <a:off x="1880281" y="3962401"/>
                <a:ext cx="1208598" cy="50093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现场维修</a:t>
                </a:r>
              </a:p>
            </p:txBody>
          </p: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A61AB343-D25C-6686-12C8-296A2E50F96A}"/>
                  </a:ext>
                </a:extLst>
              </p:cNvPr>
              <p:cNvCxnSpPr>
                <a:cxnSpLocks/>
                <a:stCxn id="9" idx="2"/>
                <a:endCxn id="11" idx="0"/>
              </p:cNvCxnSpPr>
              <p:nvPr/>
            </p:nvCxnSpPr>
            <p:spPr>
              <a:xfrm>
                <a:off x="2484580" y="3431189"/>
                <a:ext cx="0" cy="5312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C8D9808-45BA-6B96-55DC-EA264671B4C9}"/>
                  </a:ext>
                </a:extLst>
              </p:cNvPr>
              <p:cNvSpPr/>
              <p:nvPr/>
            </p:nvSpPr>
            <p:spPr>
              <a:xfrm>
                <a:off x="1880281" y="4912264"/>
                <a:ext cx="1208598" cy="50093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工单审核</a:t>
                </a:r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32549D1-A039-B0E1-F482-97A91618FAEF}"/>
                  </a:ext>
                </a:extLst>
              </p:cNvPr>
              <p:cNvCxnSpPr>
                <a:cxnSpLocks/>
                <a:stCxn id="11" idx="2"/>
                <a:endCxn id="13" idx="0"/>
              </p:cNvCxnSpPr>
              <p:nvPr/>
            </p:nvCxnSpPr>
            <p:spPr>
              <a:xfrm>
                <a:off x="2484580" y="4463333"/>
                <a:ext cx="0" cy="4489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2B6D3AA-EDB7-7620-083A-A6E8B397ED65}"/>
                </a:ext>
              </a:extLst>
            </p:cNvPr>
            <p:cNvSpPr txBox="1"/>
            <p:nvPr/>
          </p:nvSpPr>
          <p:spPr>
            <a:xfrm>
              <a:off x="4918207" y="1097981"/>
              <a:ext cx="15063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业务环节</a:t>
              </a:r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61AE37D-1565-C044-9B8C-F4ECC366BC39}"/>
                </a:ext>
              </a:extLst>
            </p:cNvPr>
            <p:cNvSpPr/>
            <p:nvPr/>
          </p:nvSpPr>
          <p:spPr>
            <a:xfrm>
              <a:off x="3631830" y="1612135"/>
              <a:ext cx="3690101" cy="1653541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9E838B28-3423-610E-6914-C98E7D933C1F}"/>
                </a:ext>
              </a:extLst>
            </p:cNvPr>
            <p:cNvSpPr/>
            <p:nvPr/>
          </p:nvSpPr>
          <p:spPr>
            <a:xfrm>
              <a:off x="3631829" y="3408212"/>
              <a:ext cx="3690101" cy="80489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71" name="图形 70" descr="徽章 1 纯色填充">
              <a:extLst>
                <a:ext uri="{FF2B5EF4-FFF2-40B4-BE49-F238E27FC236}">
                  <a16:creationId xmlns:a16="http://schemas.microsoft.com/office/drawing/2014/main" id="{0812D1B9-85B1-DB79-1C39-61D647329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3058" y="2837939"/>
              <a:ext cx="367658" cy="367658"/>
            </a:xfrm>
            <a:prstGeom prst="rect">
              <a:avLst/>
            </a:prstGeom>
          </p:spPr>
        </p:pic>
        <p:pic>
          <p:nvPicPr>
            <p:cNvPr id="73" name="图形 72" descr="徽章 3 纯色填充">
              <a:extLst>
                <a:ext uri="{FF2B5EF4-FFF2-40B4-BE49-F238E27FC236}">
                  <a16:creationId xmlns:a16="http://schemas.microsoft.com/office/drawing/2014/main" id="{D7E88001-A717-D070-2D07-ED915004B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3516" y="4896353"/>
              <a:ext cx="367200" cy="367200"/>
            </a:xfrm>
            <a:prstGeom prst="rect">
              <a:avLst/>
            </a:prstGeom>
          </p:spPr>
        </p:pic>
        <p:pic>
          <p:nvPicPr>
            <p:cNvPr id="75" name="图形 74" descr="徽章 4 纯色填充">
              <a:extLst>
                <a:ext uri="{FF2B5EF4-FFF2-40B4-BE49-F238E27FC236}">
                  <a16:creationId xmlns:a16="http://schemas.microsoft.com/office/drawing/2014/main" id="{1410BABF-0128-9889-F901-D62E0C4FF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3516" y="5852176"/>
              <a:ext cx="367200" cy="367200"/>
            </a:xfrm>
            <a:prstGeom prst="rect">
              <a:avLst/>
            </a:prstGeom>
          </p:spPr>
        </p:pic>
        <p:pic>
          <p:nvPicPr>
            <p:cNvPr id="79" name="图形 78" descr="徽章 纯色填充">
              <a:extLst>
                <a:ext uri="{FF2B5EF4-FFF2-40B4-BE49-F238E27FC236}">
                  <a16:creationId xmlns:a16="http://schemas.microsoft.com/office/drawing/2014/main" id="{B60FC619-0B4A-0446-A2F9-ED516F501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06273" y="3866341"/>
              <a:ext cx="367200" cy="367200"/>
            </a:xfrm>
            <a:prstGeom prst="rect">
              <a:avLst/>
            </a:prstGeom>
          </p:spPr>
        </p:pic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3AC6A207-27E2-925E-883E-A1FF806B07A1}"/>
                </a:ext>
              </a:extLst>
            </p:cNvPr>
            <p:cNvSpPr/>
            <p:nvPr/>
          </p:nvSpPr>
          <p:spPr>
            <a:xfrm>
              <a:off x="3664384" y="4355186"/>
              <a:ext cx="3690101" cy="1039289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00C43FE0-66ED-8AFD-0818-8B82B266BBCF}"/>
                </a:ext>
              </a:extLst>
            </p:cNvPr>
            <p:cNvSpPr/>
            <p:nvPr/>
          </p:nvSpPr>
          <p:spPr>
            <a:xfrm>
              <a:off x="3655900" y="5414912"/>
              <a:ext cx="3690101" cy="804893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EB0556F8-EAEC-9FF5-A7C8-4BC5D163AFBE}"/>
              </a:ext>
            </a:extLst>
          </p:cNvPr>
          <p:cNvSpPr txBox="1"/>
          <p:nvPr/>
        </p:nvSpPr>
        <p:spPr>
          <a:xfrm>
            <a:off x="6606764" y="3585350"/>
            <a:ext cx="3228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工单分配</a:t>
            </a:r>
            <a:r>
              <a:rPr lang="en-US" altLang="zh-CN" sz="1600" b="1" dirty="0"/>
              <a:t>Agent</a:t>
            </a:r>
            <a:r>
              <a:rPr lang="zh-CN" altLang="en-US" sz="1600" b="1" dirty="0"/>
              <a:t>：根据员工空闲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专业能力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服务达标率动态分配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8BAA7EC8-F9FF-9C81-7F48-9EFCAD081E18}"/>
              </a:ext>
            </a:extLst>
          </p:cNvPr>
          <p:cNvGrpSpPr/>
          <p:nvPr/>
        </p:nvGrpSpPr>
        <p:grpSpPr>
          <a:xfrm>
            <a:off x="6626562" y="4544479"/>
            <a:ext cx="3206142" cy="1126985"/>
            <a:chOff x="7382347" y="4756787"/>
            <a:chExt cx="4259030" cy="1126985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866BB707-A775-4D69-D62D-EA6E18EEB7EE}"/>
                </a:ext>
              </a:extLst>
            </p:cNvPr>
            <p:cNvSpPr txBox="1"/>
            <p:nvPr/>
          </p:nvSpPr>
          <p:spPr>
            <a:xfrm>
              <a:off x="7393617" y="4756787"/>
              <a:ext cx="4247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排故助手</a:t>
              </a:r>
              <a:r>
                <a:rPr lang="en-US" altLang="zh-CN" sz="1600" b="1" dirty="0"/>
                <a:t>Agent</a:t>
              </a:r>
              <a:r>
                <a:rPr lang="zh-CN" altLang="en-US" sz="1600" b="1" dirty="0"/>
                <a:t>：自动分析历史故障</a:t>
              </a:r>
              <a:r>
                <a:rPr lang="en-US" altLang="zh-CN" sz="1600" b="1" dirty="0"/>
                <a:t>/</a:t>
              </a:r>
              <a:r>
                <a:rPr lang="zh-CN" altLang="en-US" sz="1600" b="1" dirty="0"/>
                <a:t>设备关系，提供维修建议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0BBE63A-CEF4-E420-7F61-8AF4B9FCCD08}"/>
                </a:ext>
              </a:extLst>
            </p:cNvPr>
            <p:cNvSpPr txBox="1"/>
            <p:nvPr/>
          </p:nvSpPr>
          <p:spPr>
            <a:xfrm>
              <a:off x="7382347" y="5298997"/>
              <a:ext cx="40417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600" b="1" dirty="0"/>
            </a:p>
            <a:p>
              <a:r>
                <a:rPr lang="zh-CN" altLang="en-US" sz="1600" b="1" dirty="0"/>
                <a:t>人：在</a:t>
              </a:r>
              <a:r>
                <a:rPr lang="en-US" altLang="zh-CN" sz="1600" b="1" dirty="0"/>
                <a:t>Agent</a:t>
              </a:r>
              <a:r>
                <a:rPr lang="zh-CN" altLang="en-US" sz="1600" b="1" dirty="0"/>
                <a:t>帮助下进行维修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3656DB1F-5B3A-7618-CE21-9C4D19CE9A07}"/>
              </a:ext>
            </a:extLst>
          </p:cNvPr>
          <p:cNvSpPr txBox="1"/>
          <p:nvPr/>
        </p:nvSpPr>
        <p:spPr>
          <a:xfrm>
            <a:off x="779070" y="5937141"/>
            <a:ext cx="404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人：审核、审结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3840C6B-2EA3-5372-7A99-EEB7D5FD85D5}"/>
              </a:ext>
            </a:extLst>
          </p:cNvPr>
          <p:cNvSpPr txBox="1"/>
          <p:nvPr/>
        </p:nvSpPr>
        <p:spPr>
          <a:xfrm>
            <a:off x="6626562" y="5913457"/>
            <a:ext cx="4041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人：审核、审结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8E32F27-0648-9B33-8393-A27AD961C5EA}"/>
              </a:ext>
            </a:extLst>
          </p:cNvPr>
          <p:cNvSpPr txBox="1"/>
          <p:nvPr/>
        </p:nvSpPr>
        <p:spPr>
          <a:xfrm>
            <a:off x="10263242" y="3701786"/>
            <a:ext cx="2057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设施维护</a:t>
            </a:r>
            <a:endParaRPr lang="en-US" altLang="zh-CN" sz="1600" b="1" dirty="0"/>
          </a:p>
          <a:p>
            <a:r>
              <a:rPr lang="zh-CN" altLang="en-US" sz="1600" b="1" dirty="0"/>
              <a:t>规划调度</a:t>
            </a:r>
            <a:r>
              <a:rPr lang="en-US" altLang="zh-CN" sz="1600" b="1" dirty="0"/>
              <a:t>Agent</a:t>
            </a:r>
            <a:endParaRPr lang="zh-CN" altLang="en-US" sz="1600" b="1" dirty="0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A042A902-7C3F-835C-D856-B35F3F416760}"/>
              </a:ext>
            </a:extLst>
          </p:cNvPr>
          <p:cNvSpPr/>
          <p:nvPr/>
        </p:nvSpPr>
        <p:spPr>
          <a:xfrm>
            <a:off x="6576239" y="2159891"/>
            <a:ext cx="5505692" cy="3684425"/>
          </a:xfrm>
          <a:prstGeom prst="roundRect">
            <a:avLst/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spc="300">
              <a:latin typeface="linea-basic-10" charset="0"/>
              <a:ea typeface="linea-basic-10" charset="0"/>
              <a:cs typeface="linea-basic-10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2723B09-1103-28D8-770C-7C80206C7732}"/>
              </a:ext>
            </a:extLst>
          </p:cNvPr>
          <p:cNvSpPr txBox="1"/>
          <p:nvPr/>
        </p:nvSpPr>
        <p:spPr>
          <a:xfrm>
            <a:off x="10263242" y="4246651"/>
            <a:ext cx="3013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i="1" u="sng" dirty="0">
                <a:solidFill>
                  <a:srgbClr val="FF0000"/>
                </a:solidFill>
              </a:rPr>
              <a:t>协调者（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Orchestrator</a:t>
            </a:r>
            <a:r>
              <a:rPr lang="zh-CN" altLang="en-US" sz="1400" b="1" i="1" u="sng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41A762D-A907-E5B3-AF1D-D32FE1867A5B}"/>
              </a:ext>
            </a:extLst>
          </p:cNvPr>
          <p:cNvSpPr txBox="1"/>
          <p:nvPr/>
        </p:nvSpPr>
        <p:spPr>
          <a:xfrm>
            <a:off x="6533136" y="3012911"/>
            <a:ext cx="6637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1" u="sng" dirty="0">
                <a:solidFill>
                  <a:srgbClr val="FF0000"/>
                </a:solidFill>
              </a:rPr>
              <a:t>专业智能体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(Agent)</a:t>
            </a:r>
            <a:endParaRPr lang="zh-CN" altLang="en-US" sz="1400" b="1" i="1" u="sng" dirty="0">
              <a:solidFill>
                <a:srgbClr val="FF0000"/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219F128-92A9-85F4-19CE-6635782B9D98}"/>
              </a:ext>
            </a:extLst>
          </p:cNvPr>
          <p:cNvSpPr txBox="1"/>
          <p:nvPr/>
        </p:nvSpPr>
        <p:spPr>
          <a:xfrm>
            <a:off x="6550428" y="4090094"/>
            <a:ext cx="6637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1" u="sng" dirty="0">
                <a:solidFill>
                  <a:srgbClr val="FF0000"/>
                </a:solidFill>
              </a:rPr>
              <a:t>专业智能体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(Agent)</a:t>
            </a:r>
            <a:endParaRPr lang="zh-CN" altLang="en-US" sz="1400" b="1" i="1" u="sng" dirty="0">
              <a:solidFill>
                <a:srgbClr val="FF0000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85CF324-2C18-EC54-E48A-18F75689CC7F}"/>
              </a:ext>
            </a:extLst>
          </p:cNvPr>
          <p:cNvSpPr txBox="1"/>
          <p:nvPr/>
        </p:nvSpPr>
        <p:spPr>
          <a:xfrm>
            <a:off x="6650472" y="5073042"/>
            <a:ext cx="6637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1" u="sng" dirty="0">
                <a:solidFill>
                  <a:srgbClr val="FF0000"/>
                </a:solidFill>
              </a:rPr>
              <a:t>专业智能体</a:t>
            </a:r>
            <a:r>
              <a:rPr lang="en-US" altLang="zh-CN" sz="1400" b="1" i="1" u="sng" dirty="0">
                <a:solidFill>
                  <a:srgbClr val="FF0000"/>
                </a:solidFill>
              </a:rPr>
              <a:t>(Agent)</a:t>
            </a:r>
            <a:endParaRPr lang="zh-CN" altLang="en-US" sz="14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74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B664-230A-9B79-022C-74F3CCB2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7DA59152-5FB1-0355-A8F7-8132048B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介绍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F219A7C-96B8-66EF-1A14-1BCFA248E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62" y="864576"/>
            <a:ext cx="11487325" cy="51809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331DFB-D77D-3636-B8F5-B3B534F38112}"/>
              </a:ext>
            </a:extLst>
          </p:cNvPr>
          <p:cNvSpPr txBox="1"/>
          <p:nvPr/>
        </p:nvSpPr>
        <p:spPr>
          <a:xfrm>
            <a:off x="2528244" y="443426"/>
            <a:ext cx="789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UI</a:t>
            </a:r>
            <a:r>
              <a:rPr lang="zh-CN" altLang="en-US" dirty="0"/>
              <a:t>角度让人能看到</a:t>
            </a:r>
            <a:r>
              <a:rPr lang="en-US" altLang="zh-CN" dirty="0"/>
              <a:t>Agent</a:t>
            </a:r>
            <a:r>
              <a:rPr lang="zh-CN" altLang="en-US" dirty="0"/>
              <a:t>的</a:t>
            </a:r>
            <a:r>
              <a:rPr lang="en-US" altLang="zh-CN" dirty="0"/>
              <a:t>ROI</a:t>
            </a:r>
            <a:r>
              <a:rPr lang="zh-CN" altLang="en-US" dirty="0"/>
              <a:t>与工作记录</a:t>
            </a:r>
          </a:p>
        </p:txBody>
      </p:sp>
    </p:spTree>
    <p:extLst>
      <p:ext uri="{BB962C8B-B14F-4D97-AF65-F5344CB8AC3E}">
        <p14:creationId xmlns:p14="http://schemas.microsoft.com/office/powerpoint/2010/main" val="1578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14C7-1AAE-E66F-827E-D65B3B85E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907AE84-E315-9648-04AC-FF1C2C3F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介绍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2BA5FF-FC94-B0A9-4920-656058501DBE}"/>
              </a:ext>
            </a:extLst>
          </p:cNvPr>
          <p:cNvSpPr txBox="1"/>
          <p:nvPr/>
        </p:nvSpPr>
        <p:spPr>
          <a:xfrm>
            <a:off x="2528244" y="443426"/>
            <a:ext cx="789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Agent</a:t>
            </a:r>
            <a:r>
              <a:rPr lang="zh-CN" altLang="en-US" dirty="0"/>
              <a:t>的每个过程可</a:t>
            </a:r>
            <a:r>
              <a:rPr lang="en-US" altLang="zh-CN" dirty="0"/>
              <a:t>Review</a:t>
            </a:r>
            <a:r>
              <a:rPr lang="zh-CN" altLang="en-US" dirty="0"/>
              <a:t>，可检查</a:t>
            </a:r>
          </a:p>
        </p:txBody>
      </p:sp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8224E3FC-7A44-785E-6EDD-0D66881B2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351" y="1568159"/>
            <a:ext cx="10017292" cy="377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0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1933-1DB9-C1BD-496D-76FBF266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8EC7C2D3-4F84-ACC1-F684-7AC1185D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介绍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4291B0-C01C-7487-9F3C-3F893B322403}"/>
              </a:ext>
            </a:extLst>
          </p:cNvPr>
          <p:cNvSpPr txBox="1"/>
          <p:nvPr/>
        </p:nvSpPr>
        <p:spPr>
          <a:xfrm>
            <a:off x="2528244" y="443426"/>
            <a:ext cx="789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For loop</a:t>
            </a:r>
            <a:r>
              <a:rPr lang="zh-CN" altLang="en-US" dirty="0"/>
              <a:t>模式</a:t>
            </a:r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BE31B712-B584-A7D7-3A71-E5A26DDBF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0" y="1668814"/>
            <a:ext cx="5277274" cy="352037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45EF11-B4B7-6A63-DBB1-7C7590F434C2}"/>
              </a:ext>
            </a:extLst>
          </p:cNvPr>
          <p:cNvSpPr/>
          <p:nvPr/>
        </p:nvSpPr>
        <p:spPr>
          <a:xfrm>
            <a:off x="7189362" y="1494091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读取传感器数据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943368-A779-51EE-CF9F-7E7EE05970A7}"/>
              </a:ext>
            </a:extLst>
          </p:cNvPr>
          <p:cNvSpPr/>
          <p:nvPr/>
        </p:nvSpPr>
        <p:spPr>
          <a:xfrm>
            <a:off x="7189361" y="2242110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调用设备资料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D188B2A-E370-CE54-5BD0-D28E83F41B1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7944371" y="1871595"/>
            <a:ext cx="1" cy="370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6ADF9B6-D662-3BB0-34DB-92B0BD6D7F81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7977923" y="2583407"/>
            <a:ext cx="1" cy="432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61FDEBA-ADCF-8321-3EFB-2BE9070F44B1}"/>
              </a:ext>
            </a:extLst>
          </p:cNvPr>
          <p:cNvSpPr/>
          <p:nvPr/>
        </p:nvSpPr>
        <p:spPr>
          <a:xfrm>
            <a:off x="7222913" y="3015593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查询设备孪生体综合判断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39B4080-0839-8872-5835-DFDA0ECA801F}"/>
              </a:ext>
            </a:extLst>
          </p:cNvPr>
          <p:cNvCxnSpPr>
            <a:cxnSpLocks/>
          </p:cNvCxnSpPr>
          <p:nvPr/>
        </p:nvCxnSpPr>
        <p:spPr>
          <a:xfrm flipH="1">
            <a:off x="7977922" y="3411572"/>
            <a:ext cx="1" cy="432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F396537-4F30-81F1-10C4-AEF0DAAC21FD}"/>
              </a:ext>
            </a:extLst>
          </p:cNvPr>
          <p:cNvSpPr/>
          <p:nvPr/>
        </p:nvSpPr>
        <p:spPr>
          <a:xfrm>
            <a:off x="7222913" y="3862233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创建工单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84BD81C8-4583-0287-4999-6FADA2F02FA5}"/>
              </a:ext>
            </a:extLst>
          </p:cNvPr>
          <p:cNvCxnSpPr>
            <a:cxnSpLocks/>
            <a:endCxn id="24" idx="3"/>
          </p:cNvCxnSpPr>
          <p:nvPr/>
        </p:nvCxnSpPr>
        <p:spPr>
          <a:xfrm rot="16200000" flipH="1">
            <a:off x="7388532" y="3388889"/>
            <a:ext cx="1933790" cy="755010"/>
          </a:xfrm>
          <a:prstGeom prst="bentConnector4">
            <a:avLst>
              <a:gd name="adj1" fmla="val -430"/>
              <a:gd name="adj2" fmla="val 1802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0EC5DCCE-826B-7976-C6B6-45822E673C5D}"/>
              </a:ext>
            </a:extLst>
          </p:cNvPr>
          <p:cNvSpPr/>
          <p:nvPr/>
        </p:nvSpPr>
        <p:spPr>
          <a:xfrm>
            <a:off x="7222913" y="4544537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结束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831D28-7A1A-B2EA-3760-A3DB38F28561}"/>
              </a:ext>
            </a:extLst>
          </p:cNvPr>
          <p:cNvSpPr txBox="1"/>
          <p:nvPr/>
        </p:nvSpPr>
        <p:spPr>
          <a:xfrm>
            <a:off x="6484643" y="2651042"/>
            <a:ext cx="135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Agent</a:t>
            </a:r>
            <a:r>
              <a:rPr lang="zh-CN" altLang="en-US" dirty="0"/>
              <a:t>判断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677E10-5D33-FED8-B2CB-1843BB0EE3FA}"/>
              </a:ext>
            </a:extLst>
          </p:cNvPr>
          <p:cNvSpPr txBox="1"/>
          <p:nvPr/>
        </p:nvSpPr>
        <p:spPr>
          <a:xfrm>
            <a:off x="9550874" y="3581728"/>
            <a:ext cx="135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无异常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97217A-294C-8986-4991-51DC48D2154F}"/>
              </a:ext>
            </a:extLst>
          </p:cNvPr>
          <p:cNvSpPr txBox="1"/>
          <p:nvPr/>
        </p:nvSpPr>
        <p:spPr>
          <a:xfrm>
            <a:off x="4706176" y="5670258"/>
            <a:ext cx="4353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产品形态：最好能图形化编排，</a:t>
            </a:r>
            <a:endParaRPr lang="en-US" altLang="zh-CN" dirty="0"/>
          </a:p>
          <a:p>
            <a:r>
              <a:rPr lang="zh-CN" altLang="en-US" dirty="0"/>
              <a:t>项目形态：代码直接写</a:t>
            </a:r>
          </a:p>
        </p:txBody>
      </p:sp>
    </p:spTree>
    <p:extLst>
      <p:ext uri="{BB962C8B-B14F-4D97-AF65-F5344CB8AC3E}">
        <p14:creationId xmlns:p14="http://schemas.microsoft.com/office/powerpoint/2010/main" val="199555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39D6-49C8-8E42-E336-97816E5D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B84972E-F3CB-4867-5984-00D1DC5E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与产品距离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BDB3D4-A8D8-0925-7E43-89A71729EB2F}"/>
              </a:ext>
            </a:extLst>
          </p:cNvPr>
          <p:cNvSpPr/>
          <p:nvPr/>
        </p:nvSpPr>
        <p:spPr>
          <a:xfrm>
            <a:off x="1426125" y="1656896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读取传感器数据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  <a:p>
            <a:pPr algn="ctr"/>
            <a:r>
              <a:rPr lang="en-US" altLang="zh-CN" sz="1100" spc="300" dirty="0">
                <a:solidFill>
                  <a:srgbClr val="FF0000"/>
                </a:solidFill>
                <a:latin typeface="linea-basic-10" charset="0"/>
                <a:ea typeface="linea-basic-10" charset="0"/>
                <a:cs typeface="linea-basic-10" charset="0"/>
              </a:rPr>
              <a:t>Post </a:t>
            </a:r>
            <a:r>
              <a:rPr lang="zh-CN" altLang="en-US" sz="1100" spc="300" dirty="0">
                <a:solidFill>
                  <a:srgbClr val="FF0000"/>
                </a:solidFill>
                <a:latin typeface="linea-basic-10" charset="0"/>
                <a:ea typeface="linea-basic-10" charset="0"/>
                <a:cs typeface="linea-basic-10" charset="0"/>
              </a:rPr>
              <a:t>测试数据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650F2D-3271-0F4A-C893-153A2306BE87}"/>
              </a:ext>
            </a:extLst>
          </p:cNvPr>
          <p:cNvSpPr/>
          <p:nvPr/>
        </p:nvSpPr>
        <p:spPr>
          <a:xfrm>
            <a:off x="3284570" y="1657213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调用设备资料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  <a:p>
            <a:pPr algn="ctr"/>
            <a:r>
              <a:rPr lang="zh-CN" altLang="en-US" sz="1100" spc="300" dirty="0">
                <a:solidFill>
                  <a:srgbClr val="FF0000"/>
                </a:solidFill>
                <a:latin typeface="linea-basic-10" charset="0"/>
                <a:ea typeface="linea-basic-10" charset="0"/>
                <a:cs typeface="linea-basic-10" charset="0"/>
              </a:rPr>
              <a:t>模拟函数</a:t>
            </a:r>
            <a:endParaRPr lang="en-US" altLang="zh-CN" sz="1100" spc="300" dirty="0">
              <a:solidFill>
                <a:srgbClr val="FF0000"/>
              </a:solidFill>
              <a:latin typeface="linea-basic-10" charset="0"/>
              <a:ea typeface="linea-basic-10" charset="0"/>
              <a:cs typeface="linea-basic-10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3651D74-515B-7AAE-674F-6C50DB8F8D0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936144" y="1845648"/>
            <a:ext cx="348426" cy="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2FE38A7D-6FE9-6AC1-FF0C-7DF49C1F5C72}"/>
              </a:ext>
            </a:extLst>
          </p:cNvPr>
          <p:cNvSpPr/>
          <p:nvPr/>
        </p:nvSpPr>
        <p:spPr>
          <a:xfrm>
            <a:off x="5074483" y="1575138"/>
            <a:ext cx="1510019" cy="5410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查询设备孪生体综合判断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  <a:p>
            <a:pPr algn="ctr"/>
            <a:r>
              <a:rPr lang="zh-CN" altLang="en-US" sz="1100" spc="300" dirty="0">
                <a:solidFill>
                  <a:srgbClr val="FF0000"/>
                </a:solidFill>
                <a:latin typeface="linea-basic-10" charset="0"/>
                <a:ea typeface="linea-basic-10" charset="0"/>
                <a:cs typeface="linea-basic-10" charset="0"/>
              </a:rPr>
              <a:t>模拟函数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D5EF89-6F52-8590-7B0C-BEDD54AFEE78}"/>
              </a:ext>
            </a:extLst>
          </p:cNvPr>
          <p:cNvSpPr/>
          <p:nvPr/>
        </p:nvSpPr>
        <p:spPr>
          <a:xfrm>
            <a:off x="6850178" y="1656896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创建工单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模拟函数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0B22F62-2E43-ACC1-6239-D10BABBC050A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4794589" y="1845648"/>
            <a:ext cx="279894" cy="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F066A38-FDD4-33C6-ABE4-D3C1DE2256C6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6584502" y="1845648"/>
            <a:ext cx="265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E509556-A8EB-0867-54F8-CCB5AB032FC9}"/>
              </a:ext>
            </a:extLst>
          </p:cNvPr>
          <p:cNvSpPr/>
          <p:nvPr/>
        </p:nvSpPr>
        <p:spPr>
          <a:xfrm>
            <a:off x="1426126" y="1053328"/>
            <a:ext cx="6934072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写死的</a:t>
            </a:r>
            <a:r>
              <a:rPr lang="en-US" altLang="zh-CN" sz="1100" spc="300" dirty="0">
                <a:latin typeface="linea-basic-10" charset="0"/>
                <a:ea typeface="linea-basic-10" charset="0"/>
                <a:cs typeface="linea-basic-10" charset="0"/>
              </a:rPr>
              <a:t>Agent</a:t>
            </a:r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工作日志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978A120-14D3-62E7-F45A-5650BD236E5F}"/>
              </a:ext>
            </a:extLst>
          </p:cNvPr>
          <p:cNvCxnSpPr>
            <a:stCxn id="7" idx="0"/>
          </p:cNvCxnSpPr>
          <p:nvPr/>
        </p:nvCxnSpPr>
        <p:spPr>
          <a:xfrm flipV="1">
            <a:off x="2181135" y="1430832"/>
            <a:ext cx="3" cy="22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19E100F-51BF-701C-EFD3-5D262040F52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4039579" y="1431149"/>
            <a:ext cx="1" cy="22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F658E09-91C8-3145-8BFF-C8B6CBD57957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5821101" y="1430832"/>
            <a:ext cx="8392" cy="144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CB8F94-0DC1-477F-8698-83E43BCAF0A1}"/>
              </a:ext>
            </a:extLst>
          </p:cNvPr>
          <p:cNvCxnSpPr>
            <a:cxnSpLocks/>
          </p:cNvCxnSpPr>
          <p:nvPr/>
        </p:nvCxnSpPr>
        <p:spPr>
          <a:xfrm flipH="1" flipV="1">
            <a:off x="7605186" y="1412176"/>
            <a:ext cx="1" cy="22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F941B3A-DDB0-58B7-41A7-D1759E5332F7}"/>
              </a:ext>
            </a:extLst>
          </p:cNvPr>
          <p:cNvSpPr txBox="1"/>
          <p:nvPr/>
        </p:nvSpPr>
        <p:spPr>
          <a:xfrm>
            <a:off x="577421" y="1260736"/>
            <a:ext cx="651560" cy="377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POC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68A8164-9536-9A43-B433-EA02C0243EE8}"/>
              </a:ext>
            </a:extLst>
          </p:cNvPr>
          <p:cNvSpPr txBox="1"/>
          <p:nvPr/>
        </p:nvSpPr>
        <p:spPr>
          <a:xfrm>
            <a:off x="569021" y="4527390"/>
            <a:ext cx="65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实际产品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8DB781-A9D2-8843-E266-677AB8F6C343}"/>
              </a:ext>
            </a:extLst>
          </p:cNvPr>
          <p:cNvSpPr/>
          <p:nvPr/>
        </p:nvSpPr>
        <p:spPr>
          <a:xfrm>
            <a:off x="1448485" y="4444070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接入</a:t>
            </a:r>
            <a:r>
              <a:rPr lang="en-US" altLang="zh-CN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DFS</a:t>
            </a:r>
            <a:endParaRPr lang="zh-CN" altLang="en-US" sz="1100" spc="300" dirty="0">
              <a:solidFill>
                <a:schemeClr val="tx1"/>
              </a:solidFill>
              <a:latin typeface="linea-basic-10" charset="0"/>
              <a:ea typeface="linea-basic-10" charset="0"/>
              <a:cs typeface="linea-basic-10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AE7FDE-36C9-BEF8-2D51-A9B2E4DA3C9E}"/>
              </a:ext>
            </a:extLst>
          </p:cNvPr>
          <p:cNvSpPr/>
          <p:nvPr/>
        </p:nvSpPr>
        <p:spPr>
          <a:xfrm>
            <a:off x="3531765" y="4444070"/>
            <a:ext cx="1510019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换成孪生体关联的设备手册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758AE7D-97A8-C951-5B84-E88F455F7D5C}"/>
              </a:ext>
            </a:extLst>
          </p:cNvPr>
          <p:cNvSpPr/>
          <p:nvPr/>
        </p:nvSpPr>
        <p:spPr>
          <a:xfrm>
            <a:off x="5497593" y="4362318"/>
            <a:ext cx="1792434" cy="5410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换成孪生体</a:t>
            </a:r>
            <a:r>
              <a:rPr lang="en-US" altLang="zh-CN" sz="1100" spc="300" dirty="0" err="1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BrickSchema</a:t>
            </a:r>
            <a:r>
              <a:rPr lang="zh-CN" altLang="en-US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接口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08831F3-2105-C778-89E0-F8CAFB1C8A20}"/>
              </a:ext>
            </a:extLst>
          </p:cNvPr>
          <p:cNvSpPr/>
          <p:nvPr/>
        </p:nvSpPr>
        <p:spPr>
          <a:xfrm>
            <a:off x="7745836" y="4362318"/>
            <a:ext cx="1510019" cy="5410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solidFill>
                  <a:schemeClr val="tx1"/>
                </a:solidFill>
                <a:latin typeface="linea-basic-10" charset="0"/>
                <a:ea typeface="linea-basic-10" charset="0"/>
                <a:cs typeface="linea-basic-10" charset="0"/>
              </a:rPr>
              <a:t>换成工单模块接口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43F47B1-22BF-FA23-00B3-63C669F1E1D2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958504" y="4632822"/>
            <a:ext cx="573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B4CEB8A-DD69-044F-B4E1-0EE4AF2D2D23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041784" y="4632822"/>
            <a:ext cx="455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79B6095-ACB6-911C-6EA9-6A5DE2DBC72A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7290027" y="4632822"/>
            <a:ext cx="455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2B60E5D-EE84-BCF8-5276-853881B4EBA2}"/>
              </a:ext>
            </a:extLst>
          </p:cNvPr>
          <p:cNvSpPr/>
          <p:nvPr/>
        </p:nvSpPr>
        <p:spPr>
          <a:xfrm>
            <a:off x="1426124" y="5173721"/>
            <a:ext cx="7829731" cy="3775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统一的</a:t>
            </a:r>
            <a:r>
              <a:rPr lang="en-US" altLang="zh-CN" sz="1100" spc="300" dirty="0">
                <a:latin typeface="linea-basic-10" charset="0"/>
                <a:ea typeface="linea-basic-10" charset="0"/>
                <a:cs typeface="linea-basic-10" charset="0"/>
              </a:rPr>
              <a:t>Agent</a:t>
            </a:r>
            <a:r>
              <a:rPr lang="zh-CN" altLang="en-US" sz="1100" spc="300" dirty="0">
                <a:latin typeface="linea-basic-10" charset="0"/>
                <a:ea typeface="linea-basic-10" charset="0"/>
                <a:cs typeface="linea-basic-10" charset="0"/>
              </a:rPr>
              <a:t>工作日志机制</a:t>
            </a:r>
            <a:endParaRPr lang="en-US" altLang="zh-CN" sz="1100" spc="300" dirty="0">
              <a:latin typeface="linea-basic-10" charset="0"/>
              <a:ea typeface="linea-basic-10" charset="0"/>
              <a:cs typeface="linea-basic-10" charset="0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48E81FA-2674-6454-D6BF-4552E5803699}"/>
              </a:ext>
            </a:extLst>
          </p:cNvPr>
          <p:cNvCxnSpPr/>
          <p:nvPr/>
        </p:nvCxnSpPr>
        <p:spPr>
          <a:xfrm>
            <a:off x="755009" y="3145872"/>
            <a:ext cx="99325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485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EA22-8929-FBD5-B68D-747E6C2A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B31E8658-4421-3980-4FD3-F789501F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与产品距离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37A23A-BA73-4361-2068-698A1B7030DE}"/>
              </a:ext>
            </a:extLst>
          </p:cNvPr>
          <p:cNvSpPr txBox="1"/>
          <p:nvPr/>
        </p:nvSpPr>
        <p:spPr>
          <a:xfrm>
            <a:off x="2289495" y="840185"/>
            <a:ext cx="248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POC</a:t>
            </a:r>
            <a:r>
              <a:rPr lang="zh-CN" altLang="en-US" dirty="0"/>
              <a:t>：智能体定义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C09C15-6DA4-405F-A936-19DB1BBFD458}"/>
              </a:ext>
            </a:extLst>
          </p:cNvPr>
          <p:cNvSpPr txBox="1"/>
          <p:nvPr/>
        </p:nvSpPr>
        <p:spPr>
          <a:xfrm>
            <a:off x="7986168" y="840185"/>
            <a:ext cx="248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产品：智能体定义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248297B-A9CD-B239-986D-DF7C0BC73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39636"/>
            <a:ext cx="5629712" cy="498705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7204324-28A6-56B6-4FA3-F8D8A504E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755" y="1400707"/>
            <a:ext cx="4982666" cy="536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75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332C-D5F6-19CC-F492-E22B9FE7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2421B525-C73B-8D3A-1554-9357FD99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451"/>
          </a:xfrm>
        </p:spPr>
        <p:txBody>
          <a:bodyPr/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产品技术框架选型参考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325C3D-2C46-0F3F-FE51-2515ED52516B}"/>
              </a:ext>
            </a:extLst>
          </p:cNvPr>
          <p:cNvSpPr txBox="1"/>
          <p:nvPr/>
        </p:nvSpPr>
        <p:spPr>
          <a:xfrm>
            <a:off x="1796642" y="1881232"/>
            <a:ext cx="146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平台应用型：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12AF20-ABC0-F45D-CE48-F360EA61950E}"/>
              </a:ext>
            </a:extLst>
          </p:cNvPr>
          <p:cNvSpPr txBox="1"/>
          <p:nvPr/>
        </p:nvSpPr>
        <p:spPr>
          <a:xfrm>
            <a:off x="1796642" y="4355012"/>
            <a:ext cx="146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框架开发型：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4E6D59-34F1-86EB-9061-3AEE72350B15}"/>
              </a:ext>
            </a:extLst>
          </p:cNvPr>
          <p:cNvSpPr txBox="1"/>
          <p:nvPr/>
        </p:nvSpPr>
        <p:spPr>
          <a:xfrm>
            <a:off x="3777841" y="1102454"/>
            <a:ext cx="231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端（世界通用</a:t>
            </a:r>
            <a:r>
              <a:rPr lang="en-US" altLang="zh-CN" dirty="0"/>
              <a:t>agent</a:t>
            </a:r>
            <a:r>
              <a:rPr lang="zh-CN" altLang="en-US" dirty="0"/>
              <a:t>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CEC1DF-634E-77B7-B3C8-C4F64E5BE5AF}"/>
              </a:ext>
            </a:extLst>
          </p:cNvPr>
          <p:cNvSpPr txBox="1"/>
          <p:nvPr/>
        </p:nvSpPr>
        <p:spPr>
          <a:xfrm>
            <a:off x="7109670" y="1102454"/>
            <a:ext cx="146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9498EF-71E9-EC8C-8A79-C26E450A84B3}"/>
              </a:ext>
            </a:extLst>
          </p:cNvPr>
          <p:cNvSpPr txBox="1"/>
          <p:nvPr/>
        </p:nvSpPr>
        <p:spPr>
          <a:xfrm>
            <a:off x="3615655" y="1825693"/>
            <a:ext cx="415255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dify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DD0ACE-E2AB-E73F-9618-4FD472865FD1}"/>
              </a:ext>
            </a:extLst>
          </p:cNvPr>
          <p:cNvSpPr txBox="1"/>
          <p:nvPr/>
        </p:nvSpPr>
        <p:spPr>
          <a:xfrm>
            <a:off x="3615655" y="2364266"/>
            <a:ext cx="177007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Manus</a:t>
            </a:r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753E7E4-000E-DBA6-3CD3-D4434FD684DB}"/>
              </a:ext>
            </a:extLst>
          </p:cNvPr>
          <p:cNvCxnSpPr/>
          <p:nvPr/>
        </p:nvCxnSpPr>
        <p:spPr>
          <a:xfrm>
            <a:off x="1796642" y="3189544"/>
            <a:ext cx="762559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1CFB8F-53AA-7849-068B-94A0B9F09443}"/>
              </a:ext>
            </a:extLst>
          </p:cNvPr>
          <p:cNvCxnSpPr>
            <a:cxnSpLocks/>
          </p:cNvCxnSpPr>
          <p:nvPr/>
        </p:nvCxnSpPr>
        <p:spPr>
          <a:xfrm flipH="1">
            <a:off x="6095998" y="864576"/>
            <a:ext cx="17929" cy="559001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8363DCB-DBDA-3CD8-88A2-7428EAE0ADF2}"/>
              </a:ext>
            </a:extLst>
          </p:cNvPr>
          <p:cNvSpPr txBox="1"/>
          <p:nvPr/>
        </p:nvSpPr>
        <p:spPr>
          <a:xfrm>
            <a:off x="3615654" y="3612088"/>
            <a:ext cx="177007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Camel-AI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96F3E0-9926-78F9-C72D-C8005D2FC762}"/>
              </a:ext>
            </a:extLst>
          </p:cNvPr>
          <p:cNvSpPr txBox="1"/>
          <p:nvPr/>
        </p:nvSpPr>
        <p:spPr>
          <a:xfrm>
            <a:off x="3615654" y="4480871"/>
            <a:ext cx="447051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highlight>
                  <a:srgbClr val="00A9F5"/>
                </a:highlight>
              </a:rPr>
              <a:t>Langchain</a:t>
            </a:r>
            <a:r>
              <a:rPr lang="en-US" altLang="zh-CN" dirty="0">
                <a:highlight>
                  <a:srgbClr val="00A9F5"/>
                </a:highlight>
              </a:rPr>
              <a:t> (Python)</a:t>
            </a:r>
            <a:endParaRPr lang="zh-CN" altLang="en-US" dirty="0">
              <a:highlight>
                <a:srgbClr val="00A9F5"/>
              </a:highlight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D6FE29-2330-C2E6-CC4A-46FE0B39D908}"/>
              </a:ext>
            </a:extLst>
          </p:cNvPr>
          <p:cNvSpPr txBox="1"/>
          <p:nvPr/>
        </p:nvSpPr>
        <p:spPr>
          <a:xfrm>
            <a:off x="9835353" y="916941"/>
            <a:ext cx="2008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、开源协议是否允许商用，改</a:t>
            </a:r>
            <a:r>
              <a:rPr lang="en-US" altLang="zh-CN" dirty="0"/>
              <a:t>Logo,</a:t>
            </a:r>
            <a:r>
              <a:rPr lang="zh-CN" altLang="en-US" dirty="0"/>
              <a:t>，多租户；</a:t>
            </a:r>
            <a:r>
              <a:rPr lang="en-US" altLang="zh-CN" dirty="0"/>
              <a:t>MIT</a:t>
            </a:r>
            <a:r>
              <a:rPr lang="zh-CN" altLang="en-US" dirty="0"/>
              <a:t>最佳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E7068BF-6872-337A-40EF-BD65B485CCEB}"/>
              </a:ext>
            </a:extLst>
          </p:cNvPr>
          <p:cNvSpPr txBox="1"/>
          <p:nvPr/>
        </p:nvSpPr>
        <p:spPr>
          <a:xfrm>
            <a:off x="9835353" y="2425128"/>
            <a:ext cx="20080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、采用框架开发型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langchain0.1</a:t>
            </a:r>
            <a:r>
              <a:rPr lang="zh-CN" altLang="en-US" dirty="0"/>
              <a:t>版本支持</a:t>
            </a:r>
            <a:r>
              <a:rPr lang="en-US" altLang="zh-CN" dirty="0"/>
              <a:t>chain</a:t>
            </a:r>
            <a:r>
              <a:rPr lang="zh-CN" altLang="en-US" dirty="0"/>
              <a:t>模式，（逻辑链，分支，循环）新版本升级为</a:t>
            </a:r>
            <a:r>
              <a:rPr lang="en-US" altLang="zh-CN" dirty="0"/>
              <a:t>LCEL</a:t>
            </a:r>
            <a:r>
              <a:rPr lang="zh-CN" altLang="en-US" dirty="0"/>
              <a:t>（逻辑表达式）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 err="1"/>
              <a:t>langGraph</a:t>
            </a:r>
            <a:r>
              <a:rPr lang="zh-CN" altLang="en-US" dirty="0"/>
              <a:t>最为强大。</a:t>
            </a:r>
            <a:endParaRPr lang="en-US" altLang="zh-CN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F8A6ED-51E2-B3AA-2C3E-A94191C45371}"/>
              </a:ext>
            </a:extLst>
          </p:cNvPr>
          <p:cNvSpPr txBox="1"/>
          <p:nvPr/>
        </p:nvSpPr>
        <p:spPr>
          <a:xfrm>
            <a:off x="3615655" y="5624092"/>
            <a:ext cx="447051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Agentsflex</a:t>
            </a:r>
            <a:r>
              <a:rPr lang="en-US" altLang="zh-CN" dirty="0"/>
              <a:t> (Java)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86589E-15A3-F868-0010-93CF42AC1AE8}"/>
              </a:ext>
            </a:extLst>
          </p:cNvPr>
          <p:cNvSpPr txBox="1"/>
          <p:nvPr/>
        </p:nvSpPr>
        <p:spPr>
          <a:xfrm>
            <a:off x="3615654" y="5039462"/>
            <a:ext cx="447051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00A9F5"/>
                </a:highlight>
              </a:rPr>
              <a:t>Lang graph (Python)</a:t>
            </a:r>
            <a:endParaRPr lang="zh-CN" altLang="en-US" dirty="0">
              <a:highlight>
                <a:srgbClr val="00A9F5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3735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0"/>
          <p:cNvSpPr/>
          <p:nvPr/>
        </p:nvSpPr>
        <p:spPr>
          <a:xfrm>
            <a:off x="-19344" y="0"/>
            <a:ext cx="12214232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spc="300">
              <a:latin typeface="Roboto Light" charset="0"/>
              <a:ea typeface="linea-basic-10" charset="0"/>
              <a:cs typeface="linea-basic-10" charset="0"/>
            </a:endParaRPr>
          </a:p>
        </p:txBody>
      </p:sp>
      <p:pic>
        <p:nvPicPr>
          <p:cNvPr id="20" name="图片占位符 2" descr="图片占位符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231" y="655547"/>
            <a:ext cx="12214232" cy="36456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" name="Rectangle 2"/>
          <p:cNvSpPr/>
          <p:nvPr/>
        </p:nvSpPr>
        <p:spPr>
          <a:xfrm>
            <a:off x="-25118" y="655547"/>
            <a:ext cx="12220006" cy="3645631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miter lim="400000"/>
          </a:ln>
        </p:spPr>
        <p:txBody>
          <a:bodyPr lIns="45719" tIns="45719" rIns="45719" bIns="45719" anchor="ctr"/>
          <a:lstStyle/>
          <a:p>
            <a:pPr algn="ctr">
              <a:defRPr sz="600">
                <a:solidFill>
                  <a:srgbClr val="FFFFFF"/>
                </a:solidFill>
              </a:defRPr>
            </a:pPr>
            <a:endParaRPr sz="600"/>
          </a:p>
        </p:txBody>
      </p:sp>
      <p:sp>
        <p:nvSpPr>
          <p:cNvPr id="2" name="TextBox 3"/>
          <p:cNvSpPr txBox="1"/>
          <p:nvPr/>
        </p:nvSpPr>
        <p:spPr>
          <a:xfrm>
            <a:off x="84778" y="3019778"/>
            <a:ext cx="3201327" cy="1021352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Beijing</a:t>
            </a:r>
            <a:b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东城区雍和航星科技园</a:t>
            </a:r>
            <a:endParaRPr lang="en-US" altLang="zh-CN" sz="16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en-US" altLang="zh-CN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r>
              <a:rPr lang="zh-CN" altLang="en-US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号楼东厅</a:t>
            </a:r>
            <a:r>
              <a:rPr lang="en-US" altLang="zh-CN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lang="zh-CN" altLang="en-US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层</a:t>
            </a:r>
            <a:endParaRPr sz="16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Oval 4"/>
          <p:cNvSpPr/>
          <p:nvPr/>
        </p:nvSpPr>
        <p:spPr>
          <a:xfrm flipH="1">
            <a:off x="771178" y="4833177"/>
            <a:ext cx="585644" cy="585795"/>
          </a:xfrm>
          <a:prstGeom prst="ellipse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tIns="45719" rIns="45719" b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4" name="Text Placeholder 33"/>
          <p:cNvSpPr txBox="1"/>
          <p:nvPr/>
        </p:nvSpPr>
        <p:spPr>
          <a:xfrm>
            <a:off x="1511615" y="4777343"/>
            <a:ext cx="2422796" cy="2462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defRPr sz="1600">
                <a:solidFill>
                  <a:srgbClr val="44546A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5" name="Rectangle 6"/>
          <p:cNvSpPr txBox="1"/>
          <p:nvPr/>
        </p:nvSpPr>
        <p:spPr>
          <a:xfrm>
            <a:off x="1424120" y="5028226"/>
            <a:ext cx="2981707" cy="957167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Sales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service@datamesh.com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Partner: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partner@datamesh.com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Investment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ir@datamesh.com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Placeholder 33"/>
          <p:cNvSpPr txBox="1"/>
          <p:nvPr/>
        </p:nvSpPr>
        <p:spPr>
          <a:xfrm>
            <a:off x="5548768" y="4777343"/>
            <a:ext cx="2422795" cy="2462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defRPr sz="1600">
                <a:solidFill>
                  <a:srgbClr val="44546A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Phone</a:t>
            </a:r>
          </a:p>
        </p:txBody>
      </p:sp>
      <p:sp>
        <p:nvSpPr>
          <p:cNvPr id="7" name="Oval 8"/>
          <p:cNvSpPr/>
          <p:nvPr/>
        </p:nvSpPr>
        <p:spPr>
          <a:xfrm flipH="1">
            <a:off x="4803533" y="4833177"/>
            <a:ext cx="585643" cy="585795"/>
          </a:xfrm>
          <a:prstGeom prst="ellipse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tIns="45719" rIns="45719" b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8" name="Rectangle 9"/>
          <p:cNvSpPr txBox="1"/>
          <p:nvPr/>
        </p:nvSpPr>
        <p:spPr>
          <a:xfrm>
            <a:off x="5456029" y="5028225"/>
            <a:ext cx="2548396" cy="1257249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+86 10 85715801</a:t>
            </a:r>
          </a:p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+1 425 274 3400</a:t>
            </a:r>
          </a:p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+81 80 46086868</a:t>
            </a:r>
            <a:endParaRPr lang="en-US"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 sz="1300"/>
            </a:pP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</a:t>
            </a:r>
            <a:r>
              <a:rPr lang="zh-CN" altLang="en-US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+65 85353074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Placeholder 33"/>
          <p:cNvSpPr txBox="1"/>
          <p:nvPr/>
        </p:nvSpPr>
        <p:spPr>
          <a:xfrm>
            <a:off x="8882836" y="4777341"/>
            <a:ext cx="2422795" cy="24622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defRPr sz="1600">
                <a:solidFill>
                  <a:srgbClr val="44546A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Website</a:t>
            </a:r>
          </a:p>
        </p:txBody>
      </p:sp>
      <p:sp>
        <p:nvSpPr>
          <p:cNvPr id="10" name="Oval 11"/>
          <p:cNvSpPr/>
          <p:nvPr/>
        </p:nvSpPr>
        <p:spPr>
          <a:xfrm flipH="1">
            <a:off x="8143649" y="4849617"/>
            <a:ext cx="585643" cy="585795"/>
          </a:xfrm>
          <a:prstGeom prst="ellipse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5719" tIns="45719" rIns="45719" bIns="45719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>
              <a:solidFill>
                <a:schemeClr val="bg1"/>
              </a:solidFill>
            </a:endParaRPr>
          </a:p>
        </p:txBody>
      </p:sp>
      <p:sp>
        <p:nvSpPr>
          <p:cNvPr id="11" name="Rectangle 12"/>
          <p:cNvSpPr txBox="1"/>
          <p:nvPr/>
        </p:nvSpPr>
        <p:spPr>
          <a:xfrm>
            <a:off x="8791750" y="5029201"/>
            <a:ext cx="2860753" cy="957167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>
              <a:lnSpc>
                <a:spcPct val="150000"/>
              </a:lnSpc>
              <a:defRPr sz="1300"/>
            </a:pP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www.datamesh.com.cn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 sz="1300"/>
            </a:pP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www.datamesh.com</a:t>
            </a:r>
            <a:endParaRPr sz="13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 sz="1300"/>
            </a:pPr>
            <a:r>
              <a:rPr sz="130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www.datamesh.co.jp</a:t>
            </a:r>
            <a:r>
              <a:rPr sz="1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" name="Freeform 107"/>
          <p:cNvSpPr/>
          <p:nvPr/>
        </p:nvSpPr>
        <p:spPr>
          <a:xfrm>
            <a:off x="4968109" y="4963969"/>
            <a:ext cx="258895" cy="281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86" h="21447" extrusionOk="0">
                <a:moveTo>
                  <a:pt x="20382" y="16674"/>
                </a:moveTo>
                <a:cubicBezTo>
                  <a:pt x="20182" y="16484"/>
                  <a:pt x="20182" y="16484"/>
                  <a:pt x="20182" y="16484"/>
                </a:cubicBezTo>
                <a:cubicBezTo>
                  <a:pt x="19782" y="15726"/>
                  <a:pt x="15582" y="14400"/>
                  <a:pt x="15182" y="14400"/>
                </a:cubicBezTo>
                <a:cubicBezTo>
                  <a:pt x="14982" y="14400"/>
                  <a:pt x="14982" y="14400"/>
                  <a:pt x="14982" y="14400"/>
                </a:cubicBezTo>
                <a:cubicBezTo>
                  <a:pt x="14382" y="14589"/>
                  <a:pt x="13582" y="15158"/>
                  <a:pt x="12382" y="16295"/>
                </a:cubicBezTo>
                <a:cubicBezTo>
                  <a:pt x="10782" y="15537"/>
                  <a:pt x="8782" y="13832"/>
                  <a:pt x="7782" y="12695"/>
                </a:cubicBezTo>
                <a:cubicBezTo>
                  <a:pt x="6582" y="11558"/>
                  <a:pt x="5382" y="9663"/>
                  <a:pt x="4782" y="8337"/>
                </a:cubicBezTo>
                <a:cubicBezTo>
                  <a:pt x="6382" y="7011"/>
                  <a:pt x="6982" y="6442"/>
                  <a:pt x="6982" y="5684"/>
                </a:cubicBezTo>
                <a:cubicBezTo>
                  <a:pt x="7182" y="5495"/>
                  <a:pt x="6382" y="1326"/>
                  <a:pt x="5582" y="758"/>
                </a:cubicBezTo>
                <a:cubicBezTo>
                  <a:pt x="5382" y="758"/>
                  <a:pt x="5382" y="758"/>
                  <a:pt x="5382" y="758"/>
                </a:cubicBezTo>
                <a:cubicBezTo>
                  <a:pt x="4782" y="379"/>
                  <a:pt x="4182" y="0"/>
                  <a:pt x="3182" y="0"/>
                </a:cubicBezTo>
                <a:cubicBezTo>
                  <a:pt x="2982" y="189"/>
                  <a:pt x="2782" y="189"/>
                  <a:pt x="2782" y="379"/>
                </a:cubicBezTo>
                <a:cubicBezTo>
                  <a:pt x="2182" y="568"/>
                  <a:pt x="782" y="1516"/>
                  <a:pt x="182" y="2653"/>
                </a:cubicBezTo>
                <a:cubicBezTo>
                  <a:pt x="-218" y="3411"/>
                  <a:pt x="-418" y="10042"/>
                  <a:pt x="4782" y="15726"/>
                </a:cubicBezTo>
                <a:cubicBezTo>
                  <a:pt x="9982" y="21221"/>
                  <a:pt x="16382" y="21600"/>
                  <a:pt x="17382" y="21411"/>
                </a:cubicBezTo>
                <a:cubicBezTo>
                  <a:pt x="17382" y="21411"/>
                  <a:pt x="17382" y="21411"/>
                  <a:pt x="17382" y="21411"/>
                </a:cubicBezTo>
                <a:cubicBezTo>
                  <a:pt x="17582" y="21221"/>
                  <a:pt x="17582" y="21221"/>
                  <a:pt x="17582" y="21221"/>
                </a:cubicBezTo>
                <a:cubicBezTo>
                  <a:pt x="18782" y="20842"/>
                  <a:pt x="19982" y="19705"/>
                  <a:pt x="20382" y="19137"/>
                </a:cubicBezTo>
                <a:cubicBezTo>
                  <a:pt x="21182" y="18379"/>
                  <a:pt x="20582" y="17242"/>
                  <a:pt x="20382" y="1667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tIns="45719" rIns="45719" bIns="45719"/>
          <a:lstStyle/>
          <a:p>
            <a:pPr>
              <a:defRPr sz="600"/>
            </a:pPr>
            <a:endParaRPr sz="600">
              <a:solidFill>
                <a:schemeClr val="bg1"/>
              </a:solidFill>
            </a:endParaRPr>
          </a:p>
        </p:txBody>
      </p:sp>
      <p:sp>
        <p:nvSpPr>
          <p:cNvPr id="13" name="Freeform 172"/>
          <p:cNvSpPr/>
          <p:nvPr/>
        </p:nvSpPr>
        <p:spPr>
          <a:xfrm>
            <a:off x="2205993" y="1448543"/>
            <a:ext cx="645191" cy="9456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6480" y="0"/>
                  <a:pt x="0" y="1477"/>
                  <a:pt x="0" y="6831"/>
                </a:cubicBezTo>
                <a:cubicBezTo>
                  <a:pt x="0" y="9415"/>
                  <a:pt x="8640" y="18831"/>
                  <a:pt x="10800" y="21600"/>
                </a:cubicBezTo>
                <a:cubicBezTo>
                  <a:pt x="12960" y="18831"/>
                  <a:pt x="21600" y="9415"/>
                  <a:pt x="21600" y="6831"/>
                </a:cubicBezTo>
                <a:cubicBezTo>
                  <a:pt x="21600" y="1477"/>
                  <a:pt x="15120" y="0"/>
                  <a:pt x="10800" y="0"/>
                </a:cubicBezTo>
                <a:close/>
                <a:moveTo>
                  <a:pt x="10800" y="9046"/>
                </a:moveTo>
                <a:cubicBezTo>
                  <a:pt x="8910" y="9046"/>
                  <a:pt x="7290" y="8123"/>
                  <a:pt x="7290" y="6831"/>
                </a:cubicBezTo>
                <a:cubicBezTo>
                  <a:pt x="7290" y="5538"/>
                  <a:pt x="8910" y="4431"/>
                  <a:pt x="10800" y="4431"/>
                </a:cubicBezTo>
                <a:cubicBezTo>
                  <a:pt x="12690" y="4431"/>
                  <a:pt x="14310" y="5538"/>
                  <a:pt x="14310" y="6831"/>
                </a:cubicBezTo>
                <a:cubicBezTo>
                  <a:pt x="14310" y="8123"/>
                  <a:pt x="12690" y="9046"/>
                  <a:pt x="10800" y="9046"/>
                </a:cubicBezTo>
                <a:close/>
              </a:path>
            </a:pathLst>
          </a:custGeom>
          <a:solidFill>
            <a:srgbClr val="00B0F0"/>
          </a:solidFill>
          <a:ln w="12700">
            <a:miter lim="400000"/>
          </a:ln>
        </p:spPr>
        <p:txBody>
          <a:bodyPr lIns="45719" tIns="45719" rIns="45719" bIns="45719"/>
          <a:lstStyle/>
          <a:p>
            <a:pPr>
              <a:defRPr sz="600"/>
            </a:pPr>
            <a:endParaRPr sz="600">
              <a:solidFill>
                <a:schemeClr val="bg1"/>
              </a:solidFill>
            </a:endParaRPr>
          </a:p>
        </p:txBody>
      </p:sp>
      <p:sp>
        <p:nvSpPr>
          <p:cNvPr id="14" name="Freeform 78"/>
          <p:cNvSpPr/>
          <p:nvPr/>
        </p:nvSpPr>
        <p:spPr>
          <a:xfrm>
            <a:off x="8292775" y="4980079"/>
            <a:ext cx="293956" cy="294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55" y="18813"/>
                </a:moveTo>
                <a:cubicBezTo>
                  <a:pt x="18465" y="20555"/>
                  <a:pt x="18465" y="20555"/>
                  <a:pt x="18465" y="20555"/>
                </a:cubicBezTo>
                <a:cubicBezTo>
                  <a:pt x="17768" y="21252"/>
                  <a:pt x="16723" y="21600"/>
                  <a:pt x="15677" y="21600"/>
                </a:cubicBezTo>
                <a:cubicBezTo>
                  <a:pt x="14981" y="21600"/>
                  <a:pt x="13935" y="21252"/>
                  <a:pt x="13239" y="20555"/>
                </a:cubicBezTo>
                <a:cubicBezTo>
                  <a:pt x="10452" y="17768"/>
                  <a:pt x="10452" y="17768"/>
                  <a:pt x="10452" y="17768"/>
                </a:cubicBezTo>
                <a:cubicBezTo>
                  <a:pt x="9755" y="17071"/>
                  <a:pt x="9406" y="16026"/>
                  <a:pt x="9406" y="14981"/>
                </a:cubicBezTo>
                <a:cubicBezTo>
                  <a:pt x="9406" y="13935"/>
                  <a:pt x="9755" y="13239"/>
                  <a:pt x="10452" y="12542"/>
                </a:cubicBezTo>
                <a:cubicBezTo>
                  <a:pt x="9406" y="11148"/>
                  <a:pt x="9406" y="11148"/>
                  <a:pt x="9406" y="11148"/>
                </a:cubicBezTo>
                <a:cubicBezTo>
                  <a:pt x="8710" y="11845"/>
                  <a:pt x="7665" y="12542"/>
                  <a:pt x="6619" y="12542"/>
                </a:cubicBezTo>
                <a:cubicBezTo>
                  <a:pt x="5574" y="12542"/>
                  <a:pt x="4529" y="11845"/>
                  <a:pt x="3832" y="11148"/>
                </a:cubicBezTo>
                <a:cubicBezTo>
                  <a:pt x="1045" y="8361"/>
                  <a:pt x="1045" y="8361"/>
                  <a:pt x="1045" y="8361"/>
                </a:cubicBezTo>
                <a:cubicBezTo>
                  <a:pt x="348" y="7665"/>
                  <a:pt x="0" y="6968"/>
                  <a:pt x="0" y="5923"/>
                </a:cubicBezTo>
                <a:cubicBezTo>
                  <a:pt x="0" y="4877"/>
                  <a:pt x="348" y="3832"/>
                  <a:pt x="1045" y="3135"/>
                </a:cubicBezTo>
                <a:cubicBezTo>
                  <a:pt x="3135" y="1045"/>
                  <a:pt x="3135" y="1045"/>
                  <a:pt x="3135" y="1045"/>
                </a:cubicBezTo>
                <a:cubicBezTo>
                  <a:pt x="3832" y="348"/>
                  <a:pt x="4877" y="0"/>
                  <a:pt x="5923" y="0"/>
                </a:cubicBezTo>
                <a:cubicBezTo>
                  <a:pt x="6619" y="0"/>
                  <a:pt x="7665" y="348"/>
                  <a:pt x="8361" y="1394"/>
                </a:cubicBezTo>
                <a:cubicBezTo>
                  <a:pt x="11148" y="3832"/>
                  <a:pt x="11148" y="3832"/>
                  <a:pt x="11148" y="3832"/>
                </a:cubicBezTo>
                <a:cubicBezTo>
                  <a:pt x="11845" y="4529"/>
                  <a:pt x="12194" y="5574"/>
                  <a:pt x="12194" y="6619"/>
                </a:cubicBezTo>
                <a:cubicBezTo>
                  <a:pt x="12194" y="7665"/>
                  <a:pt x="11845" y="8710"/>
                  <a:pt x="11148" y="9406"/>
                </a:cubicBezTo>
                <a:cubicBezTo>
                  <a:pt x="12194" y="10452"/>
                  <a:pt x="12194" y="10452"/>
                  <a:pt x="12194" y="10452"/>
                </a:cubicBezTo>
                <a:cubicBezTo>
                  <a:pt x="12890" y="9755"/>
                  <a:pt x="13935" y="9406"/>
                  <a:pt x="14981" y="9406"/>
                </a:cubicBezTo>
                <a:cubicBezTo>
                  <a:pt x="16026" y="9406"/>
                  <a:pt x="17071" y="9755"/>
                  <a:pt x="17768" y="10452"/>
                </a:cubicBezTo>
                <a:cubicBezTo>
                  <a:pt x="20555" y="13239"/>
                  <a:pt x="20555" y="13239"/>
                  <a:pt x="20555" y="13239"/>
                </a:cubicBezTo>
                <a:cubicBezTo>
                  <a:pt x="21252" y="13935"/>
                  <a:pt x="21600" y="14981"/>
                  <a:pt x="21600" y="16026"/>
                </a:cubicBezTo>
                <a:cubicBezTo>
                  <a:pt x="21600" y="17071"/>
                  <a:pt x="21252" y="18116"/>
                  <a:pt x="20555" y="18813"/>
                </a:cubicBezTo>
                <a:close/>
                <a:moveTo>
                  <a:pt x="9406" y="5923"/>
                </a:moveTo>
                <a:cubicBezTo>
                  <a:pt x="6619" y="3135"/>
                  <a:pt x="6619" y="3135"/>
                  <a:pt x="6619" y="3135"/>
                </a:cubicBezTo>
                <a:cubicBezTo>
                  <a:pt x="6271" y="2787"/>
                  <a:pt x="6271" y="2787"/>
                  <a:pt x="5923" y="2787"/>
                </a:cubicBezTo>
                <a:cubicBezTo>
                  <a:pt x="5574" y="2787"/>
                  <a:pt x="5226" y="2787"/>
                  <a:pt x="4877" y="3135"/>
                </a:cubicBezTo>
                <a:cubicBezTo>
                  <a:pt x="2787" y="4877"/>
                  <a:pt x="2787" y="4877"/>
                  <a:pt x="2787" y="4877"/>
                </a:cubicBezTo>
                <a:cubicBezTo>
                  <a:pt x="2787" y="5226"/>
                  <a:pt x="2439" y="5574"/>
                  <a:pt x="2439" y="5923"/>
                </a:cubicBezTo>
                <a:cubicBezTo>
                  <a:pt x="2439" y="6271"/>
                  <a:pt x="2787" y="6619"/>
                  <a:pt x="2787" y="6619"/>
                </a:cubicBezTo>
                <a:cubicBezTo>
                  <a:pt x="5574" y="9406"/>
                  <a:pt x="5574" y="9406"/>
                  <a:pt x="5574" y="9406"/>
                </a:cubicBezTo>
                <a:cubicBezTo>
                  <a:pt x="5923" y="9755"/>
                  <a:pt x="6271" y="9755"/>
                  <a:pt x="6619" y="9755"/>
                </a:cubicBezTo>
                <a:cubicBezTo>
                  <a:pt x="6968" y="9755"/>
                  <a:pt x="7316" y="9755"/>
                  <a:pt x="7665" y="9406"/>
                </a:cubicBezTo>
                <a:cubicBezTo>
                  <a:pt x="6968" y="9058"/>
                  <a:pt x="6619" y="8710"/>
                  <a:pt x="6619" y="8013"/>
                </a:cubicBezTo>
                <a:cubicBezTo>
                  <a:pt x="6619" y="7316"/>
                  <a:pt x="7316" y="6619"/>
                  <a:pt x="8013" y="6619"/>
                </a:cubicBezTo>
                <a:cubicBezTo>
                  <a:pt x="8361" y="6619"/>
                  <a:pt x="9058" y="7316"/>
                  <a:pt x="9406" y="7665"/>
                </a:cubicBezTo>
                <a:cubicBezTo>
                  <a:pt x="9755" y="7316"/>
                  <a:pt x="9755" y="6968"/>
                  <a:pt x="9755" y="6619"/>
                </a:cubicBezTo>
                <a:cubicBezTo>
                  <a:pt x="9755" y="6271"/>
                  <a:pt x="9755" y="5923"/>
                  <a:pt x="9406" y="5923"/>
                </a:cubicBezTo>
                <a:close/>
                <a:moveTo>
                  <a:pt x="18813" y="14981"/>
                </a:moveTo>
                <a:cubicBezTo>
                  <a:pt x="16026" y="12194"/>
                  <a:pt x="16026" y="12194"/>
                  <a:pt x="16026" y="12194"/>
                </a:cubicBezTo>
                <a:cubicBezTo>
                  <a:pt x="15677" y="12194"/>
                  <a:pt x="15329" y="11845"/>
                  <a:pt x="14981" y="11845"/>
                </a:cubicBezTo>
                <a:cubicBezTo>
                  <a:pt x="14632" y="11845"/>
                  <a:pt x="14284" y="12194"/>
                  <a:pt x="13935" y="12542"/>
                </a:cubicBezTo>
                <a:cubicBezTo>
                  <a:pt x="14632" y="12890"/>
                  <a:pt x="14981" y="13239"/>
                  <a:pt x="14981" y="13935"/>
                </a:cubicBezTo>
                <a:cubicBezTo>
                  <a:pt x="14981" y="14632"/>
                  <a:pt x="14632" y="14981"/>
                  <a:pt x="13935" y="14981"/>
                </a:cubicBezTo>
                <a:cubicBezTo>
                  <a:pt x="13239" y="14981"/>
                  <a:pt x="12890" y="14632"/>
                  <a:pt x="12194" y="14284"/>
                </a:cubicBezTo>
                <a:cubicBezTo>
                  <a:pt x="11845" y="14284"/>
                  <a:pt x="11845" y="14632"/>
                  <a:pt x="11845" y="14981"/>
                </a:cubicBezTo>
                <a:cubicBezTo>
                  <a:pt x="11845" y="15329"/>
                  <a:pt x="11845" y="15677"/>
                  <a:pt x="12194" y="16026"/>
                </a:cubicBezTo>
                <a:cubicBezTo>
                  <a:pt x="14981" y="18813"/>
                  <a:pt x="14981" y="18813"/>
                  <a:pt x="14981" y="18813"/>
                </a:cubicBezTo>
                <a:cubicBezTo>
                  <a:pt x="15329" y="19161"/>
                  <a:pt x="15677" y="19161"/>
                  <a:pt x="15677" y="19161"/>
                </a:cubicBezTo>
                <a:cubicBezTo>
                  <a:pt x="16026" y="19161"/>
                  <a:pt x="16374" y="19161"/>
                  <a:pt x="16723" y="18813"/>
                </a:cubicBezTo>
                <a:cubicBezTo>
                  <a:pt x="18813" y="16723"/>
                  <a:pt x="18813" y="16723"/>
                  <a:pt x="18813" y="16723"/>
                </a:cubicBezTo>
                <a:cubicBezTo>
                  <a:pt x="18813" y="16723"/>
                  <a:pt x="19161" y="16374"/>
                  <a:pt x="19161" y="16026"/>
                </a:cubicBezTo>
                <a:cubicBezTo>
                  <a:pt x="19161" y="15677"/>
                  <a:pt x="18813" y="15329"/>
                  <a:pt x="18813" y="1498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tIns="45719" rIns="45719" bIns="45719"/>
          <a:lstStyle/>
          <a:p>
            <a:pPr>
              <a:defRPr sz="600"/>
            </a:pPr>
            <a:endParaRPr sz="600">
              <a:solidFill>
                <a:schemeClr val="bg1"/>
              </a:solidFill>
            </a:endParaRPr>
          </a:p>
        </p:txBody>
      </p:sp>
      <p:sp>
        <p:nvSpPr>
          <p:cNvPr id="15" name="Freeform 74"/>
          <p:cNvSpPr/>
          <p:nvPr/>
        </p:nvSpPr>
        <p:spPr>
          <a:xfrm>
            <a:off x="911126" y="4990169"/>
            <a:ext cx="312004" cy="242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6557"/>
                </a:moveTo>
                <a:cubicBezTo>
                  <a:pt x="17700" y="8100"/>
                  <a:pt x="15900" y="10029"/>
                  <a:pt x="14100" y="11571"/>
                </a:cubicBezTo>
                <a:cubicBezTo>
                  <a:pt x="13200" y="12343"/>
                  <a:pt x="12000" y="13886"/>
                  <a:pt x="11100" y="13886"/>
                </a:cubicBezTo>
                <a:cubicBezTo>
                  <a:pt x="10800" y="13886"/>
                  <a:pt x="10800" y="13886"/>
                  <a:pt x="10800" y="13886"/>
                </a:cubicBezTo>
                <a:cubicBezTo>
                  <a:pt x="10800" y="13886"/>
                  <a:pt x="10800" y="13886"/>
                  <a:pt x="10800" y="13886"/>
                </a:cubicBezTo>
                <a:cubicBezTo>
                  <a:pt x="9900" y="13886"/>
                  <a:pt x="8700" y="12343"/>
                  <a:pt x="7800" y="11571"/>
                </a:cubicBezTo>
                <a:cubicBezTo>
                  <a:pt x="6000" y="10029"/>
                  <a:pt x="4200" y="8100"/>
                  <a:pt x="2100" y="6557"/>
                </a:cubicBezTo>
                <a:cubicBezTo>
                  <a:pt x="1500" y="5786"/>
                  <a:pt x="0" y="4243"/>
                  <a:pt x="0" y="2700"/>
                </a:cubicBezTo>
                <a:cubicBezTo>
                  <a:pt x="0" y="1157"/>
                  <a:pt x="900" y="0"/>
                  <a:pt x="2100" y="0"/>
                </a:cubicBezTo>
                <a:cubicBezTo>
                  <a:pt x="19800" y="0"/>
                  <a:pt x="19800" y="0"/>
                  <a:pt x="19800" y="0"/>
                </a:cubicBezTo>
                <a:cubicBezTo>
                  <a:pt x="21000" y="0"/>
                  <a:pt x="21600" y="771"/>
                  <a:pt x="21600" y="2314"/>
                </a:cubicBezTo>
                <a:cubicBezTo>
                  <a:pt x="21600" y="4243"/>
                  <a:pt x="20700" y="5786"/>
                  <a:pt x="19800" y="6557"/>
                </a:cubicBezTo>
                <a:close/>
                <a:moveTo>
                  <a:pt x="21600" y="19286"/>
                </a:moveTo>
                <a:cubicBezTo>
                  <a:pt x="21600" y="20443"/>
                  <a:pt x="21000" y="21600"/>
                  <a:pt x="19800" y="21600"/>
                </a:cubicBezTo>
                <a:cubicBezTo>
                  <a:pt x="2100" y="21600"/>
                  <a:pt x="2100" y="21600"/>
                  <a:pt x="2100" y="21600"/>
                </a:cubicBezTo>
                <a:cubicBezTo>
                  <a:pt x="900" y="21600"/>
                  <a:pt x="0" y="20443"/>
                  <a:pt x="0" y="19286"/>
                </a:cubicBezTo>
                <a:cubicBezTo>
                  <a:pt x="0" y="6943"/>
                  <a:pt x="0" y="6943"/>
                  <a:pt x="0" y="6943"/>
                </a:cubicBezTo>
                <a:cubicBezTo>
                  <a:pt x="600" y="7329"/>
                  <a:pt x="900" y="7714"/>
                  <a:pt x="1500" y="8100"/>
                </a:cubicBezTo>
                <a:cubicBezTo>
                  <a:pt x="3300" y="10029"/>
                  <a:pt x="5400" y="11571"/>
                  <a:pt x="7200" y="13500"/>
                </a:cubicBezTo>
                <a:cubicBezTo>
                  <a:pt x="8400" y="14657"/>
                  <a:pt x="9600" y="15814"/>
                  <a:pt x="10800" y="15814"/>
                </a:cubicBezTo>
                <a:cubicBezTo>
                  <a:pt x="10800" y="15814"/>
                  <a:pt x="10800" y="15814"/>
                  <a:pt x="10800" y="15814"/>
                </a:cubicBezTo>
                <a:cubicBezTo>
                  <a:pt x="11100" y="15814"/>
                  <a:pt x="11100" y="15814"/>
                  <a:pt x="11100" y="15814"/>
                </a:cubicBezTo>
                <a:cubicBezTo>
                  <a:pt x="12300" y="15814"/>
                  <a:pt x="13500" y="14657"/>
                  <a:pt x="14400" y="13500"/>
                </a:cubicBezTo>
                <a:cubicBezTo>
                  <a:pt x="16500" y="11571"/>
                  <a:pt x="18600" y="10029"/>
                  <a:pt x="20400" y="8100"/>
                </a:cubicBezTo>
                <a:cubicBezTo>
                  <a:pt x="21000" y="7714"/>
                  <a:pt x="21300" y="7329"/>
                  <a:pt x="21600" y="6943"/>
                </a:cubicBezTo>
                <a:lnTo>
                  <a:pt x="21600" y="1928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tIns="45719" rIns="45719" bIns="45719"/>
          <a:lstStyle/>
          <a:p>
            <a:pPr>
              <a:defRPr sz="600"/>
            </a:pPr>
            <a:endParaRPr sz="600">
              <a:solidFill>
                <a:schemeClr val="bg1"/>
              </a:solidFill>
            </a:endParaRPr>
          </a:p>
        </p:txBody>
      </p:sp>
      <p:pic>
        <p:nvPicPr>
          <p:cNvPr id="16" name="图片 23" descr="图片 2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3543" y="2524501"/>
            <a:ext cx="1710091" cy="2682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TextBox 18"/>
          <p:cNvSpPr txBox="1"/>
          <p:nvPr/>
        </p:nvSpPr>
        <p:spPr>
          <a:xfrm>
            <a:off x="2707848" y="3041771"/>
            <a:ext cx="3201327" cy="1023852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Seattle</a:t>
            </a:r>
            <a:br>
              <a: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sz="160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rPr>
              <a:t>1400 112</a:t>
            </a:r>
            <a:r>
              <a:rPr lang="en-US" sz="1600" baseline="3000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rPr>
              <a:t>th</a:t>
            </a:r>
            <a:r>
              <a:rPr lang="en-US" sz="160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rPr>
              <a:t> Ave SE, Suite 100</a:t>
            </a:r>
          </a:p>
          <a:p>
            <a:pPr algn="ctr">
              <a:lnSpc>
                <a:spcPct val="130000"/>
              </a:lnSpc>
              <a:defRPr sz="1600">
                <a:solidFill>
                  <a:srgbClr val="808080"/>
                </a:solidFill>
              </a:defRPr>
            </a:pPr>
            <a:r>
              <a:rPr sz="1600">
                <a:solidFill>
                  <a:schemeClr val="bg1"/>
                </a:solidFill>
                <a:latin typeface="Roboto Light" charset="0"/>
                <a:ea typeface="Roboto Light" charset="0"/>
                <a:cs typeface="Roboto Light" charset="0"/>
              </a:rPr>
              <a:t>Redmond, WA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14270" y="3032632"/>
            <a:ext cx="3593156" cy="1021352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Tokyo</a:t>
            </a:r>
            <a:br>
              <a: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ja-JP" altLang="en-US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東京都中央区日本橋人形町</a:t>
            </a:r>
            <a:r>
              <a:rPr lang="en-US" altLang="ja-JP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3-3-5 </a:t>
            </a:r>
          </a:p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ja-JP" altLang="en-US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天翔日本橋人形町ビル</a:t>
            </a:r>
            <a:r>
              <a:rPr lang="en-US" altLang="ja-JP"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404</a:t>
            </a:r>
            <a:endParaRPr sz="16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18"/>
          <p:cNvSpPr txBox="1"/>
          <p:nvPr/>
        </p:nvSpPr>
        <p:spPr>
          <a:xfrm>
            <a:off x="5525990" y="3041042"/>
            <a:ext cx="3201327" cy="703251"/>
          </a:xfrm>
          <a:prstGeom prst="rect">
            <a:avLst/>
          </a:prstGeom>
          <a:ln w="12700">
            <a:miter lim="400000"/>
          </a:ln>
        </p:spPr>
        <p:txBody>
          <a:bodyPr lIns="45711" tIns="45711" rIns="45711" bIns="45711">
            <a:spAutoFit/>
          </a:bodyPr>
          <a:lstStyle/>
          <a:p>
            <a:pPr algn="ctr">
              <a:lnSpc>
                <a:spcPct val="130000"/>
              </a:lnSpc>
              <a:defRPr sz="1600" b="1">
                <a:solidFill>
                  <a:srgbClr val="808080"/>
                </a:solidFill>
              </a:defRPr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Singapore</a:t>
            </a:r>
            <a:br>
              <a: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sv-SE" altLang="zh-CN" u="none" strike="noStrike">
                <a:solidFill>
                  <a:srgbClr val="FFFFFF"/>
                </a:solidFill>
                <a:effectLst/>
                <a:latin typeface="Roboto Light" charset="0"/>
              </a:rPr>
              <a:t>298 Tiong Bahru Rd, #05-01</a:t>
            </a:r>
            <a:endParaRPr sz="1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微软雅黑 Light">
      <a:majorFont>
        <a:latin typeface="Segoe UI Light"/>
        <a:ea typeface="微软雅黑 Light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802C8FAE6AB4DACE8A10BF61373D6" ma:contentTypeVersion="13" ma:contentTypeDescription="Create a new document." ma:contentTypeScope="" ma:versionID="277f27276be7d4adc16a68bea7c4b581">
  <xsd:schema xmlns:xsd="http://www.w3.org/2001/XMLSchema" xmlns:xs="http://www.w3.org/2001/XMLSchema" xmlns:p="http://schemas.microsoft.com/office/2006/metadata/properties" xmlns:ns2="e88bdfca-13a5-428f-89b6-6d56b5dfab4f" xmlns:ns3="cb4db22a-0bef-4838-8c27-50974d28b071" targetNamespace="http://schemas.microsoft.com/office/2006/metadata/properties" ma:root="true" ma:fieldsID="d42cd96b31e181024ec39b26cb711607" ns2:_="" ns3:_="">
    <xsd:import namespace="e88bdfca-13a5-428f-89b6-6d56b5dfab4f"/>
    <xsd:import namespace="cb4db22a-0bef-4838-8c27-50974d28b0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bdfca-13a5-428f-89b6-6d56b5dfab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db22a-0bef-4838-8c27-50974d28b0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759E4E-BFAB-4F97-9FD2-B0B7BA7D644D}">
  <ds:schemaRefs/>
</ds:datastoreItem>
</file>

<file path=customXml/itemProps2.xml><?xml version="1.0" encoding="utf-8"?>
<ds:datastoreItem xmlns:ds="http://schemas.openxmlformats.org/officeDocument/2006/customXml" ds:itemID="{3078CF59-AE26-4DDE-8DE3-F1CE8322298A}">
  <ds:schemaRefs/>
</ds:datastoreItem>
</file>

<file path=customXml/itemProps3.xml><?xml version="1.0" encoding="utf-8"?>
<ds:datastoreItem xmlns:ds="http://schemas.openxmlformats.org/officeDocument/2006/customXml" ds:itemID="{4AF7B6C0-15FE-4FC2-96DE-23D6EACF7FD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790</Words>
  <Application>Microsoft Office PowerPoint</Application>
  <PresentationFormat>宽屏</PresentationFormat>
  <Paragraphs>165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linea-basic-10</vt:lpstr>
      <vt:lpstr>等线</vt:lpstr>
      <vt:lpstr>微软雅黑</vt:lpstr>
      <vt:lpstr>微软雅黑 Light</vt:lpstr>
      <vt:lpstr>Arial</vt:lpstr>
      <vt:lpstr>Bebas Neue</vt:lpstr>
      <vt:lpstr>Calibri</vt:lpstr>
      <vt:lpstr>Roboto Light</vt:lpstr>
      <vt:lpstr>Source Sans Pro</vt:lpstr>
      <vt:lpstr>1_Office Theme</vt:lpstr>
      <vt:lpstr>PowerPoint 演示文稿</vt:lpstr>
      <vt:lpstr>背景</vt:lpstr>
      <vt:lpstr>大模型应用的业界范式：RAG（FAI）</vt:lpstr>
      <vt:lpstr>大模型应用的业界范式：Agent（POC）</vt:lpstr>
      <vt:lpstr>POC关注的内容</vt:lpstr>
      <vt:lpstr>POC Story</vt:lpstr>
      <vt:lpstr>POC Story     Agentic业务流程  VS  传统信息化业务流程</vt:lpstr>
      <vt:lpstr>POC 介绍</vt:lpstr>
      <vt:lpstr>POC 介绍</vt:lpstr>
      <vt:lpstr>POC 介绍</vt:lpstr>
      <vt:lpstr>POC 与产品距离</vt:lpstr>
      <vt:lpstr>POC 与产品距离</vt:lpstr>
      <vt:lpstr>产品技术框架选型参考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Nikita Huang</dc:creator>
  <cp:lastModifiedBy>Xuanzheng Li 李玄正</cp:lastModifiedBy>
  <cp:revision>53</cp:revision>
  <dcterms:created xsi:type="dcterms:W3CDTF">2020-07-18T22:30:00Z</dcterms:created>
  <dcterms:modified xsi:type="dcterms:W3CDTF">2025-04-15T01:05:42Z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0x01010027E802C8FAE6AB4DACE8A10BF61373D6</vt:lpwstr>
  </property>
  <property fmtid="{D5CDD505-2E9C-101B-9397-08002B2CF9AE}" pid="3" name="ICV">
    <vt:lpwstr>11FA0656355C4DD89C512743DE4935D5_12</vt:lpwstr>
  </property>
  <property fmtid="{D5CDD505-2E9C-101B-9397-08002B2CF9AE}" pid="4" name="KSOProductBuildVer">
    <vt:lpwstr>2052-12.1.0.19302</vt:lpwstr>
  </property>
</Properties>
</file>