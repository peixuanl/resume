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🏭  FactVerse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C8FF"/>
                </a:solidFill>
                <a:latin typeface="Microsoft YaHei"/>
              </a:defRPr>
            </a:pPr>
            <a:r>
              <a:t>全球部署与团队协作策略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开发、测试与实施团队如何协作，将平台交付给全球客户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97680"/>
            <a:ext cx="393192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DataMesh Inc.  ·  2026 年 3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机密 — 仅供内部使用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平台概览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FactVerse AI Agent 的规模与能力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架构一览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19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四层架构、三大服务、七大平台引擎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团队架构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开发、测试与实施团队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214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开发流程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Git 工作流、分支策略、代码评审、冲刺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797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测试策略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单元 → 集成 → 端到端 → 性能 → UAT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97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CI/CD 流水线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自动化构建、测试、打包、部署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381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38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环境策略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694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开发 → 预生产 → 生产（按客户）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381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438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客户部署模型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694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本地化、云端与混合方案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96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国际化 (i18n)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11 种语言、区域合规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96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模块化定制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模块中心：按需启用/禁用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548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754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实施手册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0109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客户上线四阶段方法论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7548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754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运维支持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0109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SLA 等级、监控与事件响应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413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团队全球扩展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招聘、培训与知识转移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4132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总结与行动计划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关键要点与下一步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平台概览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Microsoft YaHei"/>
              </a:defRPr>
            </a:pPr>
            <a:r>
              <a:t>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1,860+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源代码文件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Microsoft YaHei"/>
              </a:defRPr>
            </a:pPr>
            <a: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API 端点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Microsoft YaHei"/>
              </a:defRPr>
            </a:pPr>
            <a:r>
              <a:t>🗄️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190+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Microsoft YaHei"/>
              </a:defRPr>
            </a:pPr>
            <a: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支持语言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Microsoft YaHei"/>
              </a:defRPr>
            </a:pPr>
            <a: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500+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自动化测试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1554480"/>
            <a:ext cx="16916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4231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知识图谱节点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83280"/>
            <a:ext cx="3520440" cy="1828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Microsoft YaHei"/>
              </a:defRPr>
            </a:pPr>
            <a:r>
              <a:t>☕ 后端服务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77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Java 21 + Spring Boot 3.4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43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720+ 端点，125 次数据库迁移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383280"/>
            <a:ext cx="3520440" cy="1828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Microsoft YaHei"/>
              </a:defRPr>
            </a:pPr>
            <a:r>
              <a:t>🐍 AI 引擎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977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Python 3.12 + FastAPI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343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280+ 端点，31 个 AI 工具，6 个 LLM 提供商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59" y="3383280"/>
            <a:ext cx="3520440" cy="1828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39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🖥️ 前端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9" y="3977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Vue 3 + TypeScript + Vite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4343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67 页面，28 模块，Element Plus + Three.js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▸ 统一的 AI Agent 操作系统——不是工具集合。专为 DataMesh FactVerse 数字孪生而构建。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架构一览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第四层 — 业务应用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TrafficOps 智能枢纽  ·  HeatOps 智能供热  ·  SemiOps 半导体  ·  DCops 数据中心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Microsoft YaHei"/>
              </a:defRPr>
            </a:pPr>
            <a:r>
              <a:t>第三层 — 平台工具（23 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知识工具 (12)  ·  业务工具 (6)  ·  跨模块工具 (3)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64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第二层 — AI Agent 平台（7 服务）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Agent 上下文  ·  内容与知识  ·  知识图谱  ·  工具框架  ·  向量服务  ·  LLM 服务  ·  推送服务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Microsoft YaHei"/>
              </a:defRPr>
            </a:pPr>
            <a:r>
              <a:t>第一层 — 基础服务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445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认证 / RBAC  ·  多租户  ·  审计日志  ·  存储  ·  缓存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881360" cy="749808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第零层 — 基础设施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PostgreSQL 16 + pgvector  ·  Redis 7  ·  ClickHouse  ·  TimescaleDB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▸ 每一层只依赖其下层——依赖清晰，便于独立测试和部署。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团队架构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43891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  <a:latin typeface="Microsoft YaHei"/>
              </a:defRPr>
            </a:pPr>
            <a:r>
              <a:t>👨‍💻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开发团队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后端工程师 (Java/Spring)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AI/ML 工程师 (Python/FastAPI)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前端工程师 (Vue/TS)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平台架构师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DevOps / 基础设施工程师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国际化 / 本地化负责人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职责：功能开发、代码评审、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架构决策、CI/CD 维护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3891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96"/>
                </a:solidFill>
                <a:latin typeface="Microsoft YaHei"/>
              </a:defRPr>
            </a:pPr>
            <a:r>
              <a:t>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测试团队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测试自动化工程师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性能测试工程师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安全测试工程师（渗透测试）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UAT 协调人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职责：测试计划、回归测试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套件、Golden 数据集、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负载测试、安全扫描、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客户验收测试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43891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实施团队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解决方案架构师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现场工程师 / 部署人员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客户成功经理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培训专员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职责：现场评估、系统部署、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BMS 对接、模块配置、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客户培训、上线支持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▸ 三个团队在同步的两周冲刺中协作。实施团队将客户需求反馈给开发团队。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开发流程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功能</a:t>
            </a:r>
            <a:br/>
            <a:r>
              <a:t>分支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feature/*</a:t>
            </a:r>
            <a:br/>
            <a:r>
              <a:t>从 develop 拉取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代码</a:t>
            </a:r>
            <a:br/>
            <a:r>
              <a:t>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PR + 2 人批准</a:t>
            </a:r>
            <a:br/>
            <a:r>
              <a:t>lint + 类型检查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CI</a:t>
            </a:r>
            <a:br/>
            <a:r>
              <a:t>流水线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构建 + 测试</a:t>
            </a:r>
            <a:br/>
            <a:r>
              <a:t>三大服务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合入</a:t>
            </a:r>
            <a:br/>
            <a:r>
              <a:t>Develop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绿灯自动合并</a:t>
            </a:r>
            <a:br/>
            <a:r>
              <a:t>冲突检测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发布</a:t>
            </a:r>
            <a:br/>
            <a:r>
              <a:t>分支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release/v*</a:t>
            </a:r>
            <a:br/>
            <a:r>
              <a:t>最终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1645920"/>
            <a:ext cx="173736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783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打标签</a:t>
            </a:r>
            <a:br/>
            <a:r>
              <a:t>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331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语义化版本号</a:t>
            </a:r>
            <a:br/>
            <a:r>
              <a:t>Docker 镜像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74720"/>
            <a:ext cx="11247120" cy="27432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Microsoft YaHei"/>
              </a:defRPr>
            </a:pPr>
            <a:r>
              <a:t>冲刺节奏（两周一轮）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0233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第 1-2 天：冲刺规划 · 需求细化 · 架构探索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第 3-8 天：功能开发 · 每日站会 · 持续集成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第 9-10 天：代码冻结 · 集成测试 · 回归套件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第 11 天：利益相关方 UAT · 向实施团队演示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第 12 天：回顾会 · 发布说明 · Docker 镜像打标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888899"/>
                </a:solidFill>
                <a:latin typeface="Microsoft YaHei"/>
              </a:defRPr>
            </a:pPr>
            <a:r>
              <a:t>规范：约定式提交 · 热修复走主干分支 · 长期功能使用功能标志</a:t>
            </a:r>
          </a:p>
          <a:p>
            <a:pPr>
              <a:spcBef>
                <a:spcPts val="300"/>
              </a:spcBef>
              <a:defRPr sz="1200">
                <a:solidFill>
                  <a:srgbClr val="888899"/>
                </a:solidFill>
                <a:latin typeface="Microsoft YaHei"/>
              </a:defRPr>
            </a:pPr>
            <a:r>
              <a:t>工具：GitHub/GitLab · JIRA/Linear · Slack · Swagger/OpenAPI API 契约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测试策略 — 测试金字塔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4630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544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500+ 测试覆盖三大服务</a:t>
            </a:r>
            <a:br/>
            <a:r>
              <a:t>后端: JUnit 5 + Mockito · AI: pytest · 前端: Vitest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35808"/>
            <a:ext cx="1106424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72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Microsoft YaHei"/>
              </a:defRPr>
            </a:pPr>
            <a:r>
              <a:t>集成测试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127248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API 契约测试、数据库迁移测试</a:t>
            </a:r>
            <a:br/>
            <a:r>
              <a:t>Flyway CI · AI ↔ 后端 HTTP · WebSocket 推送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17136"/>
            <a:ext cx="11064240" cy="12801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端到端/浏览器测试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608576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关键用户流程：登录、仪表盘、AI 顾问对话、</a:t>
            </a:r>
            <a:br/>
            <a:r>
              <a:t>模块导航、移动端视图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07024"/>
            <a:ext cx="11064240" cy="11887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044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Microsoft YaHei"/>
              </a:defRPr>
            </a:pPr>
            <a:r>
              <a:t>性能/负载测试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998464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k6 / Locust 负载测试：100+ 并发用户</a:t>
            </a:r>
            <a:br/>
            <a:r>
              <a:t>API 响应 &lt; 200ms p95，AI 推理 &lt; 2s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7205472"/>
            <a:ext cx="11064240" cy="10972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342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安全/渗透测试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7296912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OWASP Top 10、JWT 审计、SSRF 防护</a:t>
            </a:r>
            <a:br/>
            <a:r>
              <a:t>速率限制验证，11/11 已修复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▸ Golden 数据集：4 个场景（智慧 FM、TrafficOps、HeatOps、SemiOps），38 个基准值。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CI/CD 流水线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FF"/>
                </a:solidFill>
                <a:latin typeface="Microsoft YaHei"/>
              </a:defRPr>
            </a:pPr>
            <a:r>
              <a:t>🔨 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Maven 编译（后端）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pip install + lint（AI）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npm run build（前端）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TypeScript 类型检查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🧪 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JUnit 5（103 测试）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pytest（310+ 测试）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Vitest（75+ 测试）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Flyway 迁移验证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39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Microsoft YaHei"/>
              </a:defRPr>
            </a:pPr>
            <a:r>
              <a:t>📦 打包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Docker 构建（3 镜像）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镜像安全扫描 (Trivy)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语义化版本标签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推送到镜像仓库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9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59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🚀 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docker compose pull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滚动重启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健康检查验证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冒烟测试套件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19" y="1554480"/>
            <a:ext cx="2148840" cy="2926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9" y="169164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📊 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9" y="2148840"/>
            <a:ext cx="187451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Prometheus 指标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Grafana 仪表盘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Golden 数据集校验</a:t>
            </a:r>
          </a:p>
          <a:p>
            <a:pPr>
              <a:spcBef>
                <a:spcPts val="4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• 告警监控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Microsoft YaHei"/>
              </a:defRPr>
            </a:pPr>
            <a:r>
              <a:t>Docker 镜像与注册仓库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📦  jiel/factverse-backend:latest   — Java 21 Spring Boot 应用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📦  jiel/factverse-ai-engine:latest — Python 3.12 FastAPI + ML 模型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📦  jiel/factverse-frontend:latest  — Vue 3 SPA (Nginx 服务)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环境策略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4114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Microsoft YaHei"/>
              </a:defRPr>
            </a:pPr>
            <a:r>
              <a:t>🛠️ 开发环境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本地 / 开发服务器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Docker Compose 本地运行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三大服务热重载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模拟器填充测试数据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功能标志全部启用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CORS 对 localhost 开放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3566160" cy="4114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Microsoft YaHei"/>
              </a:defRPr>
            </a:pPr>
            <a:r>
              <a:t>🧪 预生产环境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生产环境镜像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231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与生产配置完全一致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客户数据快照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实施团队 UAT 测试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性能基线测试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安全扫描后方可升级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54480"/>
            <a:ext cx="3566160" cy="41148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🌍 生产环境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按客户独立部署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4231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租户隔离或独立 VM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SSL/TLS 终端（Nginx）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监控: Prometheus + Grafana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每日 3 AM UTC 自动备份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数据保留策略生效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客户部署模型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4023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Microsoft YaHei"/>
              </a:defRPr>
            </a:pPr>
            <a:r>
              <a:t>☁️ SaaS / 公有云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多租户共享基础设施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最快的交付周期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自动更新与补丁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共享 Kubernetes 集群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RBAC + 行级安全租户隔离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适用于：中小企业、试点项目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4023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Microsoft YaHei"/>
              </a:defRPr>
            </a:pPr>
            <a:r>
              <a:t>🏢 专属云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单租户云端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客户专属实例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数据主权（区域选择）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自定义 SSL 证书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独立 PostgreSQL + Redis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适用于：大型企业、受监管行业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4023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🔒 本地部署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部署在客户网络内部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支持离线部署（气隙网络）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客户管理基础设施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离线模型推理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VPN 远程支持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适用于：政府、国防、关键基础设施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▸ 所有模型使用相同的 Docker 镜像。通过 .env 和模块中心配置驱动差异化。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国际化 (i18n) — 支持 11 种语言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🇺🇸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🇨🇳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简体中文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🇹🇼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繁體中文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55448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🇯🇵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09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日本語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🇰🇷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한국어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🇷🇺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Русский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🇪🇸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Español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37744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🇫🇷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Français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20040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🇩🇪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Deutsch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20040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🇧🇷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Português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200400"/>
            <a:ext cx="2560320" cy="6400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🇸🇦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العربية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97680"/>
            <a:ext cx="11247120" cy="19202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Microsoft YaHei"/>
              </a:defRPr>
            </a:pPr>
            <a:r>
              <a:t>i18n 基础设施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0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 6,500+ 翻译键 × 11 种语言 = 100% 键值覆盖率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 vue-i18n 按语言懒加载 locale 包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 自动化脚本：i18n:sync, i18n:check, i18n:progress 用于 CI 强制检查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 区域合规：日期/时间格式、数字格式、货币、阿拉伯语 RTL 支持</a:t>
            </a:r>
          </a:p>
          <a:p>
            <a:pPr>
              <a:spcBef>
                <a:spcPts val="3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▸  工作流：开发者在 en.json 添加键 → i18n:sync 同步所有语言 → 翻译人员填补空缺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模块化定制 — 模块中心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Microsoft YaHei"/>
              </a:defRPr>
            </a:pPr>
            <a:r>
              <a:t>每位客户精准获取所需模块——无冗余、无不必要的复杂性。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Microsoft YaHei"/>
              </a:defRPr>
            </a:pPr>
            <a:r>
              <a:t>🚗 TrafficOps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智能枢纽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Microsoft YaHei"/>
              </a:defRPr>
            </a:pPr>
            <a:r>
              <a:t>🔥 HeatOps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智能供热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🔬 SemiOps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半导体制造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1168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🖥️ DCops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68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数据中心运维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Microsoft YaHei"/>
              </a:defRPr>
            </a:pPr>
            <a:r>
              <a:t>👁️ VisionOps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视觉分析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FF"/>
                </a:solidFill>
                <a:latin typeface="Microsoft YaHei"/>
              </a:defRPr>
            </a:pPr>
            <a:r>
              <a:t>🏢 FMS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设施管理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🧭 Wayfinding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室内导航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200400"/>
            <a:ext cx="2697480" cy="100584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291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🌱 GM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57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绿色认证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Microsoft YaHei"/>
              </a:defRPr>
            </a:pPr>
            <a:r>
              <a:t>模块中心工作原理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通过管理界面或 API 按租户切换模块开关——无需代码变更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禁用的模块：路由隐藏、API 返回 403、侧栏条目移除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每个模块自成体系：路由、Store、API 客户端、i18n 键（约 13 个文件）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新模块注册：继承 BaseAgentTool + Flyway 迁移——平台自动发现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实施手册 — 四阶段方法论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阶段一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调研发现</a:t>
            </a:r>
            <a:br/>
            <a:r>
              <a:t>（2-3 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现场评估考察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识别现有 BMS/SCADA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设备与传感器映射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选择部署模块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定义成功指标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部署配置</a:t>
            </a:r>
            <a:br/>
            <a:r>
              <a:t>（2-4 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环境准备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配置 .env 与密钥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BMS 对接向导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数据连接器设置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模块中心配置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阶段三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集成测试</a:t>
            </a:r>
            <a:br/>
            <a:r>
              <a:t>（3-4 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接入实时传感器数据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验证数据管道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Golden 数据集对比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客户运维团队 UAT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AI 顾问调优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463040"/>
            <a:ext cx="2743200" cy="45720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阶段四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上线交付</a:t>
            </a:r>
            <a:br/>
            <a:r>
              <a:t>（1-2 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514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生产环境切换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员工培训课程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运维手册移交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监控体系搭建</a:t>
            </a:r>
          </a:p>
          <a:p>
            <a:pPr>
              <a:spcBef>
                <a:spcPts val="6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✓  30 天超级支持期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▸ 总周期：从启动到上线 8-13 周。可复制的实施手册适用于每一位客户。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运维支持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Microsoft YaHei"/>
              </a:defRPr>
            </a:pPr>
            <a:r>
              <a:t>SLA 服务等级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8640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CC"/>
                </a:solidFill>
                <a:latin typeface="Microsoft YaHei"/>
              </a:defRPr>
            </a:pPr>
            <a:r>
              <a:t>🥉 标准版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47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工作时间 · 8 小时响应 · 邮件支持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48640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Microsoft YaHei"/>
              </a:defRPr>
            </a:pPr>
            <a:r>
              <a:t>🥈 高级版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32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扩展时间 · 4 小时响应 · Slack + 邮件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548640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🥇 企业版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18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7×24 · 1 小时响应 · 专属 CSM + 值班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Microsoft YaHei"/>
              </a:defRPr>
            </a:pPr>
            <a:r>
              <a:t>监控与可观测性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Prometheus 指标（后端 + AI 引擎）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Grafana FactVerse 运营仪表盘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每 10 分钟健康检查定时任务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每日 3 AM UTC 自动备份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数据保留：传感器 30d、告警 90d、工单 180d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Webhook 告警推送 Slack/Teams/PagerDuty</a:t>
            </a:r>
          </a:p>
          <a:p>
            <a:pPr>
              <a:spcBef>
                <a:spcPts val="4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统一健康端点: /api/v1/system/status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客户升级路径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Docker 镜像拉取 → 滚动重启 → Flyway 自动迁移 → 冒烟测试——零停机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发布说明含破坏性变更警告 · 主要版本迁移指南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金丝雀发布：10% 流量切换到新版本，监控后全量推送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回滚：使用上一个 Docker 标签 + Flyway 撤销迁移（如需要）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团队全球扩展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Microsoft YaHei"/>
              </a:defRPr>
            </a:pPr>
            <a:r>
              <a:t>🌏 亚太区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西雅图 / 东京 / 新加坡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核心平台开发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AI/ML 引擎研发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日/韩/中本地化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亚太客户实施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Microsoft YaHei"/>
              </a:defRPr>
            </a:pPr>
            <a:r>
              <a:t>🌍 欧洲/中东/非洲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伦敦 / 柏林 / 迪拜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EU 数据合规 (GDPR)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德/法/西/阿拉伯本地化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欧洲客户部署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本地部署专家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🌎 美洲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西雅图 / 圣保罗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英/葡本地化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南北美洲实施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云基础设施 (AWS/Azure)</a:t>
            </a:r>
          </a:p>
          <a:p>
            <a:pPr>
              <a:spcBef>
                <a:spcPts val="5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•  性能工程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Microsoft YaHei"/>
              </a:defRPr>
            </a:pPr>
            <a:r>
              <a:t>知识转移与新人培养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AGENTS.md + CONVENTIONS.md 用于新开发者入职（AI 原生、自文档化）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SSOT.md 作为活文档单一数据源——每位团队成员首先阅读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992 个已文档化的 API 端点 (Swagger UI)——消除隐式知识</a:t>
            </a:r>
          </a:p>
          <a:p>
            <a:pPr>
              <a:spcBef>
                <a:spcPts val="300"/>
              </a:spcBef>
              <a:defRPr sz="1100">
                <a:solidFill>
                  <a:srgbClr val="BBBBCC"/>
                </a:solidFill>
                <a:latin typeface="Microsoft YaHei"/>
              </a:defRPr>
            </a:pPr>
            <a:r>
              <a:t>▸  Golden 数据集 + 演示用户 (demo/admin123) 让新人第一天即可动手探索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86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总结与行动计划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平台已投产就绪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361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1,860+ 文件、1,000+ 端点、11 种语言、500+ 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21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模块化可定制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219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模块中心让每位客户精准获取所需功能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07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部署无边界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077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SaaS、专属云、气隙网络本地部署——统一 Docker 镜像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935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93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可复制的实施方法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935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四阶段手册：调研 → 部署 → 集成 → 上线（8-13 周）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47120" cy="5943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793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全球可扩展团队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793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开发 + 测试 + 实施三团队覆盖亚太、EMEA、美洲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1A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🎯 下一步行动计划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1. 确定 2026 年 Q2 团队招聘计划——优先招聘实施工程师</a:t>
            </a:r>
          </a:p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2. 搭建 CI/CD 流水线（GitHub Actions + Docker 镜像仓库）</a:t>
            </a:r>
          </a:p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3. 确定 3 个试点客户用于首批商业部署</a:t>
            </a:r>
          </a:p>
          <a:p>
            <a:pPr>
              <a:spcBef>
                <a:spcPts val="200"/>
              </a:spcBef>
              <a:defRPr sz="1200">
                <a:solidFill>
                  <a:srgbClr val="BBBBCC"/>
                </a:solidFill>
                <a:latin typeface="Microsoft YaHei"/>
              </a:defRPr>
            </a:pPr>
            <a:r>
              <a:t>4. 在内部进行四阶段实施手册的模拟演练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