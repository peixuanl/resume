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61" r:id="rId2"/>
    <p:sldId id="263" r:id="rId3"/>
    <p:sldId id="265" r:id="rId4"/>
    <p:sldId id="279" r:id="rId5"/>
    <p:sldId id="275" r:id="rId6"/>
    <p:sldId id="287" r:id="rId7"/>
    <p:sldId id="282" r:id="rId8"/>
    <p:sldId id="288" r:id="rId9"/>
    <p:sldId id="274" r:id="rId10"/>
    <p:sldId id="286" r:id="rId11"/>
    <p:sldId id="272" r:id="rId12"/>
    <p:sldId id="280" r:id="rId13"/>
    <p:sldId id="276" r:id="rId14"/>
    <p:sldId id="273" r:id="rId15"/>
    <p:sldId id="264" r:id="rId16"/>
    <p:sldId id="270" r:id="rId17"/>
    <p:sldId id="285" r:id="rId18"/>
    <p:sldId id="281" r:id="rId19"/>
    <p:sldId id="277" r:id="rId20"/>
    <p:sldId id="256" r:id="rId21"/>
    <p:sldId id="257" r:id="rId22"/>
    <p:sldId id="258" r:id="rId23"/>
    <p:sldId id="259" r:id="rId24"/>
    <p:sldId id="26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4478" autoAdjust="0"/>
  </p:normalViewPr>
  <p:slideViewPr>
    <p:cSldViewPr snapToGrid="0">
      <p:cViewPr>
        <p:scale>
          <a:sx n="92" d="100"/>
          <a:sy n="92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76101-EED7-4A34-84A2-70206600A9A5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6D17D-1DC6-4DF0-9F78-A519B4D593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6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TSM</a:t>
            </a:r>
            <a:r>
              <a:rPr lang="zh-CN" altLang="en-US" dirty="0"/>
              <a:t>文件解析效果及交互样式（草稿）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D17D-1DC6-4DF0-9F78-A519B4D593E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621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D17D-1DC6-4DF0-9F78-A519B4D593E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19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DD940-6ACC-5EFD-43DD-4FC2FE7F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8584F-175A-EC63-17EB-F9DE39736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1892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26DFD-4A50-848E-3CAC-603E7FC8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FA4C0-6513-A6D3-1C43-04DC70E5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17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7C6A-E4F0-DC23-0884-72B39327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065E1-053A-CC5B-5680-0FA17D17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6A516-AE67-9012-5287-2B17FD2D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C506E-A93B-9B06-7C54-CF0416EA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C20FE-F887-1494-644C-0FECAFCD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E6523-7EDF-CD13-0E48-AD3BBDB0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A5137-DE93-37A6-0DD5-5BA673E38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EBB9F-50F7-8A19-39D5-5008F145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F1151-1834-95EA-EC3D-43DF0AAD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C0243-6942-7E91-EBB3-41F0F8FF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457D0-E561-55BB-BAB0-F6BD23A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9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0ED6-9687-0BA5-B7A6-1BD196FD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B27E5-BB55-FE32-7402-E0FFC9D0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E20E2-54D6-C3EA-C702-E51027A1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AB0D97-2A52-1DB7-1F9C-6009B467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DB788-7D9B-28CE-2A38-DB7663511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570E86-FEB9-33C2-C86A-49243FAB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F91D6-EACD-1A53-BC8A-C67C373E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7C56D9-CDE9-0915-2FF1-3B602B16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B918-05CB-E30C-30A5-68872D6C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83202A-294B-3AB7-2A0B-FB3D568C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0FC58-8B68-7FCA-EF97-F6B291CC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8C62B-2342-05FE-6D75-67E152C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1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63244-6F5D-AA2C-6BE8-D1921A9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CE3833-E10A-559C-103C-55D81BCE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93B01-0767-414F-AA62-0ECD4C3E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56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FA40D-040E-45AE-9333-0FD9B6FE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E93DE-85C4-75BE-9269-4C44BBC00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458DC-B680-71A3-7C67-082DD9C9B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5D202-98C8-20FF-B93B-58945A8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D3CCB-2746-7A8B-E1F6-06FE8EA7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08BC1-46C4-C4F9-6A1D-FD05F5D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33906-579B-2A27-1C0B-4F27C15E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00D636-D380-779E-5DD7-E19E14595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87FA7B-4E8C-DF75-15D9-E4BC53FED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CA4B2-5636-0C37-A98F-1EA9AAD5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5753D-4639-2219-5648-14C3AD60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9923F-00C9-4D14-6CBC-7508617E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9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9648D-D24C-0849-103B-7E84621A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42F3EA-89B9-D153-5F48-2754D4CA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05D46-546C-D0E0-F21E-26B3AFE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2DFD-2B0C-4BDA-B74C-18FCB716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1057-0B6B-ED78-30F9-F5E22416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89BD5E-CDF7-4803-A379-BA8A590A0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95285-E3BB-D407-4177-C93FAA009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AC4F1-D200-1E3B-B612-23F55E83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2024/7/18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E10CF-B597-4DB3-3B58-53B17DFA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349E5-6076-1884-B06F-13B02680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60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16BBC9-12F4-D2A3-0314-766DD947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5" y="412831"/>
            <a:ext cx="10515600" cy="9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9501F-C562-3754-8C1C-F58FF110F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32" y="1499627"/>
            <a:ext cx="10354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7B73A878-8A85-530F-D496-E50C6E4F9B26}"/>
              </a:ext>
            </a:extLst>
          </p:cNvPr>
          <p:cNvSpPr/>
          <p:nvPr/>
        </p:nvSpPr>
        <p:spPr>
          <a:xfrm>
            <a:off x="0" y="105968"/>
            <a:ext cx="435935" cy="904550"/>
          </a:xfrm>
          <a:prstGeom prst="rect">
            <a:avLst/>
          </a:prstGeom>
          <a:solidFill>
            <a:srgbClr val="1E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5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02A99-77F7-0209-E3DC-A260FFBA8E3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0938" y="6237911"/>
            <a:ext cx="1521703" cy="5147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C47C38-DEA7-F4D0-423D-8443B90D8C9A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3826" y="6222671"/>
            <a:ext cx="1521703" cy="514726"/>
          </a:xfrm>
          <a:prstGeom prst="rect">
            <a:avLst/>
          </a:prstGeom>
        </p:spPr>
      </p:pic>
      <p:sp>
        <p:nvSpPr>
          <p:cNvPr id="11" name="TextBox 16">
            <a:extLst>
              <a:ext uri="{FF2B5EF4-FFF2-40B4-BE49-F238E27FC236}">
                <a16:creationId xmlns:a16="http://schemas.microsoft.com/office/drawing/2014/main" id="{8BA5DFFA-9798-C160-4F07-14F67AF4EBAD}"/>
              </a:ext>
            </a:extLst>
          </p:cNvPr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99FB5CA-1654-F537-45BC-2F69C063AA9A}"/>
              </a:ext>
            </a:extLst>
          </p:cNvPr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3" name="Group 20">
            <a:extLst>
              <a:ext uri="{FF2B5EF4-FFF2-40B4-BE49-F238E27FC236}">
                <a16:creationId xmlns:a16="http://schemas.microsoft.com/office/drawing/2014/main" id="{D0851872-4CF6-B6E1-B010-620BEB9C10A4}"/>
              </a:ext>
            </a:extLst>
          </p:cNvPr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4" name="Straight Connector 18">
              <a:extLst>
                <a:ext uri="{FF2B5EF4-FFF2-40B4-BE49-F238E27FC236}">
                  <a16:creationId xmlns:a16="http://schemas.microsoft.com/office/drawing/2014/main" id="{1D96F396-1375-5AE4-149B-5F79A2EAB332}"/>
                </a:ext>
              </a:extLst>
            </p:cNvPr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iangle 19">
              <a:extLst>
                <a:ext uri="{FF2B5EF4-FFF2-40B4-BE49-F238E27FC236}">
                  <a16:creationId xmlns:a16="http://schemas.microsoft.com/office/drawing/2014/main" id="{0DB32C93-797E-8E86-BAE2-4942469DBC11}"/>
                </a:ext>
              </a:extLst>
            </p:cNvPr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94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05-50-00-810-803-A.js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0B326-42D2-FA27-E76F-C5790D3381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Ameco</a:t>
            </a:r>
            <a:r>
              <a:rPr lang="zh-CN" altLang="en-US" dirty="0"/>
              <a:t>华北航线项目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570831-E5BB-AE35-2E78-D1673DB66B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 dirty="0"/>
              <a:t>240717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604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44E93-B381-694C-9642-281166F0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46" y="32458"/>
            <a:ext cx="10515600" cy="974577"/>
          </a:xfrm>
        </p:spPr>
        <p:txBody>
          <a:bodyPr/>
          <a:lstStyle/>
          <a:p>
            <a:r>
              <a:rPr lang="zh-CN" altLang="en-US" dirty="0"/>
              <a:t>当前现状</a:t>
            </a:r>
            <a:r>
              <a:rPr lang="en-US" altLang="zh-CN" dirty="0"/>
              <a:t>——</a:t>
            </a:r>
            <a:r>
              <a:rPr lang="zh-CN" altLang="en-US" dirty="0"/>
              <a:t>业务流程梳理和痛点描述</a:t>
            </a:r>
          </a:p>
        </p:txBody>
      </p:sp>
      <p:pic>
        <p:nvPicPr>
          <p:cNvPr id="10" name="内容占位符 9" descr="表格&#10;&#10;描述已自动生成">
            <a:extLst>
              <a:ext uri="{FF2B5EF4-FFF2-40B4-BE49-F238E27FC236}">
                <a16:creationId xmlns:a16="http://schemas.microsoft.com/office/drawing/2014/main" id="{99BAAD91-EE3A-3B7B-A342-79137388B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83" y="779933"/>
            <a:ext cx="11084560" cy="5973891"/>
          </a:xfrm>
        </p:spPr>
      </p:pic>
    </p:spTree>
    <p:extLst>
      <p:ext uri="{BB962C8B-B14F-4D97-AF65-F5344CB8AC3E}">
        <p14:creationId xmlns:p14="http://schemas.microsoft.com/office/powerpoint/2010/main" val="3983468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5" name="内容占位符 4" descr="手机屏幕截图&#10;&#10;描述已自动生成">
            <a:extLst>
              <a:ext uri="{FF2B5EF4-FFF2-40B4-BE49-F238E27FC236}">
                <a16:creationId xmlns:a16="http://schemas.microsoft.com/office/drawing/2014/main" id="{A566EAAE-ECE5-1C01-E98D-081CD4173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35" y="708827"/>
            <a:ext cx="3488655" cy="2197213"/>
          </a:xfrm>
        </p:spPr>
      </p:pic>
      <p:pic>
        <p:nvPicPr>
          <p:cNvPr id="18" name="图片 17" descr="手机屏幕截图&#10;&#10;描述已自动生成">
            <a:extLst>
              <a:ext uri="{FF2B5EF4-FFF2-40B4-BE49-F238E27FC236}">
                <a16:creationId xmlns:a16="http://schemas.microsoft.com/office/drawing/2014/main" id="{1B9E9B54-A004-CE5F-E844-F9809DF8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35" y="3429000"/>
            <a:ext cx="3488655" cy="2209220"/>
          </a:xfrm>
          <a:prstGeom prst="rect">
            <a:avLst/>
          </a:prstGeom>
        </p:spPr>
      </p:pic>
      <p:pic>
        <p:nvPicPr>
          <p:cNvPr id="21" name="图片 20" descr="图示&#10;&#10;描述已自动生成">
            <a:extLst>
              <a:ext uri="{FF2B5EF4-FFF2-40B4-BE49-F238E27FC236}">
                <a16:creationId xmlns:a16="http://schemas.microsoft.com/office/drawing/2014/main" id="{08DA2968-2673-E4CC-FE93-10FAF05AC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94" y="1638155"/>
            <a:ext cx="6525944" cy="440633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D4532AD-97D0-7994-886E-9E2FC359570E}"/>
              </a:ext>
            </a:extLst>
          </p:cNvPr>
          <p:cNvSpPr txBox="1"/>
          <p:nvPr/>
        </p:nvSpPr>
        <p:spPr>
          <a:xfrm>
            <a:off x="980907" y="1069908"/>
            <a:ext cx="651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业务现状：产生业务痛点①和②</a:t>
            </a:r>
          </a:p>
        </p:txBody>
      </p:sp>
    </p:spTree>
    <p:extLst>
      <p:ext uri="{BB962C8B-B14F-4D97-AF65-F5344CB8AC3E}">
        <p14:creationId xmlns:p14="http://schemas.microsoft.com/office/powerpoint/2010/main" val="111612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5" name="内容占位符 4" descr="手机屏幕截图&#10;&#10;描述已自动生成">
            <a:extLst>
              <a:ext uri="{FF2B5EF4-FFF2-40B4-BE49-F238E27FC236}">
                <a16:creationId xmlns:a16="http://schemas.microsoft.com/office/drawing/2014/main" id="{A566EAAE-ECE5-1C01-E98D-081CD4173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814" y="1069908"/>
            <a:ext cx="3488655" cy="2197213"/>
          </a:xfrm>
        </p:spPr>
      </p:pic>
      <p:pic>
        <p:nvPicPr>
          <p:cNvPr id="18" name="图片 17" descr="手机屏幕截图&#10;&#10;描述已自动生成">
            <a:extLst>
              <a:ext uri="{FF2B5EF4-FFF2-40B4-BE49-F238E27FC236}">
                <a16:creationId xmlns:a16="http://schemas.microsoft.com/office/drawing/2014/main" id="{1B9E9B54-A004-CE5F-E844-F9809DF8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815" y="3951961"/>
            <a:ext cx="3488655" cy="2209220"/>
          </a:xfrm>
          <a:prstGeom prst="rect">
            <a:avLst/>
          </a:prstGeom>
        </p:spPr>
      </p:pic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22864689-FD0A-8096-672F-E7B63562B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66" y="1261488"/>
            <a:ext cx="7290721" cy="550118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8095C4-C9CA-726C-C425-774A72F534C9}"/>
              </a:ext>
            </a:extLst>
          </p:cNvPr>
          <p:cNvSpPr txBox="1"/>
          <p:nvPr/>
        </p:nvSpPr>
        <p:spPr>
          <a:xfrm>
            <a:off x="905256" y="886968"/>
            <a:ext cx="651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预期流程：通过建立标准库的方式解决业务痛点①和②</a:t>
            </a:r>
          </a:p>
        </p:txBody>
      </p:sp>
    </p:spTree>
    <p:extLst>
      <p:ext uri="{BB962C8B-B14F-4D97-AF65-F5344CB8AC3E}">
        <p14:creationId xmlns:p14="http://schemas.microsoft.com/office/powerpoint/2010/main" val="399314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11ECB00-0EE3-3402-AA30-9D0139CE93CE}"/>
              </a:ext>
            </a:extLst>
          </p:cNvPr>
          <p:cNvGrpSpPr/>
          <p:nvPr/>
        </p:nvGrpSpPr>
        <p:grpSpPr>
          <a:xfrm>
            <a:off x="961389" y="3128029"/>
            <a:ext cx="6565477" cy="3230438"/>
            <a:chOff x="671858" y="3423930"/>
            <a:chExt cx="6025276" cy="341632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588B6B0-19CC-7523-D0C7-AE3CE409BE60}"/>
                </a:ext>
              </a:extLst>
            </p:cNvPr>
            <p:cNvSpPr txBox="1"/>
            <p:nvPr/>
          </p:nvSpPr>
          <p:spPr>
            <a:xfrm>
              <a:off x="715790" y="3481081"/>
              <a:ext cx="5932144" cy="3027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系统解</a:t>
              </a:r>
              <a:r>
                <a:rPr lang="zh-CN" altLang="zh-CN" dirty="0"/>
                <a:t>析</a:t>
              </a:r>
              <a:r>
                <a:rPr lang="en-US" altLang="zh-CN" dirty="0"/>
                <a:t>A330</a:t>
              </a:r>
              <a:r>
                <a:rPr lang="zh-CN" altLang="zh-CN" dirty="0"/>
                <a:t>飞机排故手册</a:t>
              </a:r>
              <a:r>
                <a:rPr lang="zh-CN" altLang="en-US" dirty="0"/>
                <a:t>（</a:t>
              </a:r>
              <a:r>
                <a:rPr lang="en-US" altLang="zh-CN" dirty="0"/>
                <a:t>TSM</a:t>
              </a:r>
              <a:r>
                <a:rPr lang="zh-CN" altLang="en-US" dirty="0"/>
                <a:t>），通过技术方法进行加工处理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为用户提供完整的解析成果：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逐故障的，中英对照的</a:t>
              </a:r>
              <a:r>
                <a:rPr lang="zh-CN" altLang="zh-CN" dirty="0"/>
                <a:t>维修流程图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逐故障的，中英对照文字描述步骤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altLang="zh-CN" dirty="0"/>
            </a:p>
            <a:p>
              <a:r>
                <a:rPr lang="zh-CN" altLang="en-US" dirty="0"/>
                <a:t>由人工对系统解析成果进行修改、整合，对翻译进行校验。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审核确认后，形成标准排故流程，导入</a:t>
              </a:r>
              <a:r>
                <a:rPr lang="en-US" altLang="zh-CN" dirty="0"/>
                <a:t>【</a:t>
              </a:r>
              <a:r>
                <a:rPr lang="zh-CN" altLang="en-US" dirty="0"/>
                <a:t>排故方案库</a:t>
              </a:r>
              <a:r>
                <a:rPr lang="en-US" altLang="zh-CN" dirty="0"/>
                <a:t>】</a:t>
              </a:r>
              <a:r>
                <a:rPr lang="zh-CN" altLang="en-US" dirty="0"/>
                <a:t>。</a:t>
              </a:r>
              <a:endParaRPr lang="en-US" altLang="zh-CN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5965C15-30F3-4424-2D1F-7536CB494705}"/>
                </a:ext>
              </a:extLst>
            </p:cNvPr>
            <p:cNvSpPr/>
            <p:nvPr/>
          </p:nvSpPr>
          <p:spPr>
            <a:xfrm>
              <a:off x="671858" y="3423930"/>
              <a:ext cx="6025276" cy="341632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8286647" y="1472247"/>
            <a:ext cx="3822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工程化方法解析</a:t>
            </a:r>
            <a:r>
              <a:rPr lang="en-US" altLang="zh-CN" dirty="0"/>
              <a:t>TSM</a:t>
            </a:r>
            <a:r>
              <a:rPr lang="zh-CN" altLang="en-US" dirty="0"/>
              <a:t>，形成英文的</a:t>
            </a:r>
            <a:r>
              <a:rPr lang="en-US" altLang="zh-CN" dirty="0"/>
              <a:t>【</a:t>
            </a:r>
            <a:r>
              <a:rPr lang="zh-CN" altLang="en-US" dirty="0"/>
              <a:t>故障</a:t>
            </a:r>
            <a:r>
              <a:rPr lang="en-US" altLang="zh-CN" dirty="0"/>
              <a:t>-</a:t>
            </a:r>
            <a:r>
              <a:rPr lang="zh-CN" altLang="en-US" dirty="0"/>
              <a:t>排故方案</a:t>
            </a:r>
            <a:r>
              <a:rPr lang="en-US" altLang="zh-CN" dirty="0"/>
              <a:t>】</a:t>
            </a:r>
            <a:r>
              <a:rPr lang="zh-CN" altLang="en-US" dirty="0"/>
              <a:t>的文字步骤描述。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b="1" dirty="0"/>
              <a:t>通过工程化方法处理文字步骤描述，生成英文的流程图</a:t>
            </a:r>
            <a:r>
              <a:rPr lang="zh-CN" altLang="en-US" dirty="0"/>
              <a:t>（识别</a:t>
            </a:r>
            <a:r>
              <a:rPr lang="en-US" altLang="zh-CN" dirty="0"/>
              <a:t>if-else</a:t>
            </a:r>
            <a:r>
              <a:rPr lang="zh-CN" altLang="en-US" dirty="0"/>
              <a:t>、层级关系）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通过</a:t>
            </a:r>
            <a:r>
              <a:rPr lang="en-US" altLang="zh-CN" dirty="0"/>
              <a:t>LLM+</a:t>
            </a:r>
            <a:r>
              <a:rPr lang="zh-CN" altLang="en-US" dirty="0"/>
              <a:t>知识库</a:t>
            </a:r>
            <a:r>
              <a:rPr lang="en-US" altLang="zh-CN" dirty="0"/>
              <a:t>(</a:t>
            </a:r>
            <a:r>
              <a:rPr lang="zh-CN" altLang="en-US" dirty="0"/>
              <a:t>术语表</a:t>
            </a:r>
            <a:r>
              <a:rPr lang="en-US" altLang="zh-CN" dirty="0"/>
              <a:t>)</a:t>
            </a:r>
            <a:r>
              <a:rPr lang="zh-CN" altLang="en-US" dirty="0"/>
              <a:t>，将英文翻译成中文；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A04DA5-B020-C542-6625-41216303292D}"/>
              </a:ext>
            </a:extLst>
          </p:cNvPr>
          <p:cNvSpPr txBox="1"/>
          <p:nvPr/>
        </p:nvSpPr>
        <p:spPr>
          <a:xfrm>
            <a:off x="8217974" y="4210979"/>
            <a:ext cx="3822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人工修改、整合流程图，需要基于流程图编辑器操作（</a:t>
            </a:r>
            <a:r>
              <a:rPr lang="en-US" altLang="zh-CN" dirty="0"/>
              <a:t>Web</a:t>
            </a:r>
            <a:r>
              <a:rPr lang="zh-CN" altLang="en-US" dirty="0"/>
              <a:t>端）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已有流程图的增减步骤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多流程图合并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特定权限的人能够进行翻译校验，修改过程留痕。需要的交互：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划线批注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中英文单词的实时高亮对照</a:t>
            </a:r>
            <a:endParaRPr lang="en-US" altLang="zh-CN" dirty="0"/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BEB8A52E-467A-ED1C-3BFF-9389FF53F410}"/>
              </a:ext>
            </a:extLst>
          </p:cNvPr>
          <p:cNvSpPr/>
          <p:nvPr/>
        </p:nvSpPr>
        <p:spPr>
          <a:xfrm>
            <a:off x="1557336" y="3504248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416102EE-7597-1878-2698-2F482ACB0D4C}"/>
              </a:ext>
            </a:extLst>
          </p:cNvPr>
          <p:cNvSpPr/>
          <p:nvPr/>
        </p:nvSpPr>
        <p:spPr>
          <a:xfrm>
            <a:off x="8034234" y="1472247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17735722-E052-6182-3035-1548C6A06F51}"/>
              </a:ext>
            </a:extLst>
          </p:cNvPr>
          <p:cNvSpPr/>
          <p:nvPr/>
        </p:nvSpPr>
        <p:spPr>
          <a:xfrm>
            <a:off x="6784656" y="5012738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A974CD0A-87E5-635F-4214-FF2909F4C3CF}"/>
              </a:ext>
            </a:extLst>
          </p:cNvPr>
          <p:cNvSpPr/>
          <p:nvPr/>
        </p:nvSpPr>
        <p:spPr>
          <a:xfrm>
            <a:off x="8002103" y="4192646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38DD75-54B0-0BBF-821E-72F74E8782D6}"/>
              </a:ext>
            </a:extLst>
          </p:cNvPr>
          <p:cNvSpPr txBox="1"/>
          <p:nvPr/>
        </p:nvSpPr>
        <p:spPr>
          <a:xfrm>
            <a:off x="668054" y="1237535"/>
            <a:ext cx="6167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故障分析靠经验</a:t>
            </a:r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缺乏标准积累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B8F5C6-E889-529C-86DF-79EAB39AEDEB}"/>
              </a:ext>
            </a:extLst>
          </p:cNvPr>
          <p:cNvSpPr txBox="1"/>
          <p:nvPr/>
        </p:nvSpPr>
        <p:spPr>
          <a:xfrm>
            <a:off x="668054" y="2023601"/>
            <a:ext cx="6167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2.TSM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翻译不标准、成本高</a:t>
            </a:r>
            <a:endParaRPr lang="zh-CN" altLang="en-US" dirty="0"/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CC015221-A49E-EBFC-841E-6436B3E16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623" y="1044683"/>
            <a:ext cx="3822192" cy="185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0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解析为</a:t>
            </a:r>
            <a:r>
              <a:rPr lang="en-US" altLang="zh-CN" dirty="0"/>
              <a:t>JSON</a:t>
            </a:r>
            <a:r>
              <a:rPr lang="zh-CN" altLang="en-US" dirty="0"/>
              <a:t>文件数据保存和转换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462881" y="1019967"/>
            <a:ext cx="38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TSM</a:t>
            </a:r>
            <a:r>
              <a:rPr lang="zh-CN" altLang="en-US" dirty="0"/>
              <a:t>解析为</a:t>
            </a:r>
            <a:r>
              <a:rPr lang="en-US" altLang="zh-CN" dirty="0"/>
              <a:t>JSON</a:t>
            </a:r>
            <a:r>
              <a:rPr lang="zh-CN" altLang="en-US" dirty="0"/>
              <a:t>的效果展示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A04DA5-B020-C542-6625-41216303292D}"/>
              </a:ext>
            </a:extLst>
          </p:cNvPr>
          <p:cNvSpPr txBox="1"/>
          <p:nvPr/>
        </p:nvSpPr>
        <p:spPr>
          <a:xfrm>
            <a:off x="5791200" y="4995098"/>
            <a:ext cx="584883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Why</a:t>
            </a:r>
            <a:r>
              <a:rPr lang="zh-CN" altLang="en-US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选择</a:t>
            </a:r>
            <a:r>
              <a:rPr lang="en-US" altLang="zh-CN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JSON</a:t>
            </a:r>
            <a:r>
              <a:rPr lang="zh-CN" altLang="en-US" dirty="0">
                <a:solidFill>
                  <a:srgbClr val="15171A"/>
                </a:solidFill>
                <a:highlight>
                  <a:srgbClr val="FFFFFF"/>
                </a:highlight>
                <a:latin typeface="PingFang SC"/>
              </a:rPr>
              <a:t>作为数据保存格式？</a:t>
            </a:r>
            <a:endParaRPr lang="en-US" altLang="zh-CN" b="0" i="0" dirty="0">
              <a:solidFill>
                <a:srgbClr val="15171A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JSON</a:t>
            </a:r>
            <a:r>
              <a:rPr lang="zh-CN" altLang="en-US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为轻量级文件，处理速度快。</a:t>
            </a:r>
            <a:endParaRPr lang="en-US" altLang="zh-CN" b="0" i="0" dirty="0">
              <a:solidFill>
                <a:srgbClr val="15171A"/>
              </a:solidFill>
              <a:effectLst/>
              <a:highlight>
                <a:srgbClr val="FFFFFF"/>
              </a:highlight>
              <a:latin typeface="PingFang SC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JSON</a:t>
            </a:r>
            <a:r>
              <a:rPr lang="zh-CN" altLang="en-US" b="0" i="0" dirty="0">
                <a:solidFill>
                  <a:srgbClr val="15171A"/>
                </a:solidFill>
                <a:effectLst/>
                <a:highlight>
                  <a:srgbClr val="FFFFFF"/>
                </a:highlight>
                <a:latin typeface="PingFang SC"/>
              </a:rPr>
              <a:t>文件可以使用在网页上，便于实现动态的交互和更新页面内容。</a:t>
            </a:r>
            <a:endParaRPr lang="en-US" altLang="zh-CN" dirty="0"/>
          </a:p>
        </p:txBody>
      </p:sp>
      <p:pic>
        <p:nvPicPr>
          <p:cNvPr id="3" name="图片 2" descr="文本&#10;&#10;描述已自动生成">
            <a:hlinkClick r:id="rId2" action="ppaction://hlinkfile"/>
            <a:extLst>
              <a:ext uri="{FF2B5EF4-FFF2-40B4-BE49-F238E27FC236}">
                <a16:creationId xmlns:a16="http://schemas.microsoft.com/office/drawing/2014/main" id="{D696627B-02FB-7930-F118-861C8A3FB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447" y="1937849"/>
            <a:ext cx="5762153" cy="2885239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D90E474-3367-ABA7-B59C-3D750ECD9B2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464246"/>
          <a:ext cx="10515600" cy="398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9038">
                  <a:extLst>
                    <a:ext uri="{9D8B030D-6E8A-4147-A177-3AD203B41FA5}">
                      <a16:colId xmlns:a16="http://schemas.microsoft.com/office/drawing/2014/main" val="1395368705"/>
                    </a:ext>
                  </a:extLst>
                </a:gridCol>
                <a:gridCol w="5466562">
                  <a:extLst>
                    <a:ext uri="{9D8B030D-6E8A-4147-A177-3AD203B41FA5}">
                      <a16:colId xmlns:a16="http://schemas.microsoft.com/office/drawing/2014/main" val="3195468126"/>
                    </a:ext>
                  </a:extLst>
                </a:gridCol>
              </a:tblGrid>
              <a:tr h="39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TSM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原文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JSON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文件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820259"/>
                  </a:ext>
                </a:extLst>
              </a:tr>
            </a:tbl>
          </a:graphicData>
        </a:graphic>
      </p:graphicFrame>
      <p:pic>
        <p:nvPicPr>
          <p:cNvPr id="19" name="图片 18" descr="日程表&#10;&#10;中度可信度描述已自动生成">
            <a:extLst>
              <a:ext uri="{FF2B5EF4-FFF2-40B4-BE49-F238E27FC236}">
                <a16:creationId xmlns:a16="http://schemas.microsoft.com/office/drawing/2014/main" id="{25F70E12-E37D-E709-F6DD-33717AEA5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48" y="1830335"/>
            <a:ext cx="3325127" cy="50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23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利用</a:t>
            </a:r>
            <a:r>
              <a:rPr lang="en-US" altLang="zh-CN" dirty="0"/>
              <a:t>LLM</a:t>
            </a:r>
            <a:r>
              <a:rPr lang="zh-CN" altLang="en-US" dirty="0"/>
              <a:t>翻译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457614" y="827839"/>
            <a:ext cx="601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利用不同开源</a:t>
            </a:r>
            <a:r>
              <a:rPr lang="en-US" altLang="zh-CN" dirty="0"/>
              <a:t>LLM</a:t>
            </a:r>
            <a:r>
              <a:rPr lang="zh-CN" altLang="en-US" dirty="0"/>
              <a:t>模型和本地部署</a:t>
            </a:r>
            <a:r>
              <a:rPr lang="en-US" altLang="zh-CN" dirty="0"/>
              <a:t>LLM</a:t>
            </a:r>
            <a:r>
              <a:rPr lang="zh-CN" altLang="en-US" dirty="0"/>
              <a:t>模型翻译，</a:t>
            </a:r>
          </a:p>
        </p:txBody>
      </p:sp>
      <p:pic>
        <p:nvPicPr>
          <p:cNvPr id="19" name="图片 18" descr="日程表&#10;&#10;中度可信度描述已自动生成">
            <a:extLst>
              <a:ext uri="{FF2B5EF4-FFF2-40B4-BE49-F238E27FC236}">
                <a16:creationId xmlns:a16="http://schemas.microsoft.com/office/drawing/2014/main" id="{25F70E12-E37D-E709-F6DD-33717AEA5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88" y="1639639"/>
            <a:ext cx="3264451" cy="4920150"/>
          </a:xfrm>
          <a:prstGeom prst="rect">
            <a:avLst/>
          </a:prstGeom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1DC4292-2AA0-AE1F-B8B1-D32A969A0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438308"/>
              </p:ext>
            </p:extLst>
          </p:nvPr>
        </p:nvGraphicFramePr>
        <p:xfrm>
          <a:off x="838200" y="1240982"/>
          <a:ext cx="10515600" cy="398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9038">
                  <a:extLst>
                    <a:ext uri="{9D8B030D-6E8A-4147-A177-3AD203B41FA5}">
                      <a16:colId xmlns:a16="http://schemas.microsoft.com/office/drawing/2014/main" val="1395368705"/>
                    </a:ext>
                  </a:extLst>
                </a:gridCol>
                <a:gridCol w="5466562">
                  <a:extLst>
                    <a:ext uri="{9D8B030D-6E8A-4147-A177-3AD203B41FA5}">
                      <a16:colId xmlns:a16="http://schemas.microsoft.com/office/drawing/2014/main" val="3195468126"/>
                    </a:ext>
                  </a:extLst>
                </a:gridCol>
              </a:tblGrid>
              <a:tr h="39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TSM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原文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翻译结果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820259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D1265FD-CA45-6E95-E4D6-FD9134282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665541"/>
              </p:ext>
            </p:extLst>
          </p:nvPr>
        </p:nvGraphicFramePr>
        <p:xfrm>
          <a:off x="6221690" y="1690520"/>
          <a:ext cx="5132110" cy="44274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776">
                  <a:extLst>
                    <a:ext uri="{9D8B030D-6E8A-4147-A177-3AD203B41FA5}">
                      <a16:colId xmlns:a16="http://schemas.microsoft.com/office/drawing/2014/main" val="3035766192"/>
                    </a:ext>
                  </a:extLst>
                </a:gridCol>
                <a:gridCol w="3631334">
                  <a:extLst>
                    <a:ext uri="{9D8B030D-6E8A-4147-A177-3AD203B41FA5}">
                      <a16:colId xmlns:a16="http://schemas.microsoft.com/office/drawing/2014/main" val="2107784489"/>
                    </a:ext>
                  </a:extLst>
                </a:gridCol>
              </a:tblGrid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本地部署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5710197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ChatGPT4.0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69055616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通义千文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330943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KIMI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751971"/>
                  </a:ext>
                </a:extLst>
              </a:tr>
            </a:tbl>
          </a:graphicData>
        </a:graphic>
      </p:graphicFrame>
      <p:pic>
        <p:nvPicPr>
          <p:cNvPr id="26" name="图片 25" descr="文本&#10;&#10;描述已自动生成">
            <a:extLst>
              <a:ext uri="{FF2B5EF4-FFF2-40B4-BE49-F238E27FC236}">
                <a16:creationId xmlns:a16="http://schemas.microsoft.com/office/drawing/2014/main" id="{1E2A87E8-1CCF-6AF3-143A-42B2C96D0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454" y="2765300"/>
            <a:ext cx="1921725" cy="1138958"/>
          </a:xfrm>
          <a:prstGeom prst="rect">
            <a:avLst/>
          </a:prstGeom>
        </p:spPr>
      </p:pic>
      <p:pic>
        <p:nvPicPr>
          <p:cNvPr id="28" name="图片 27" descr="文本, 信件&#10;&#10;描述已自动生成">
            <a:extLst>
              <a:ext uri="{FF2B5EF4-FFF2-40B4-BE49-F238E27FC236}">
                <a16:creationId xmlns:a16="http://schemas.microsoft.com/office/drawing/2014/main" id="{856B26E1-C642-9E0A-ABEF-40B98E151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395" y="5090541"/>
            <a:ext cx="995841" cy="965404"/>
          </a:xfrm>
          <a:prstGeom prst="rect">
            <a:avLst/>
          </a:prstGeom>
        </p:spPr>
      </p:pic>
      <p:pic>
        <p:nvPicPr>
          <p:cNvPr id="30" name="图片 29" descr="文本&#10;&#10;描述已自动生成">
            <a:extLst>
              <a:ext uri="{FF2B5EF4-FFF2-40B4-BE49-F238E27FC236}">
                <a16:creationId xmlns:a16="http://schemas.microsoft.com/office/drawing/2014/main" id="{A8C36064-A076-4FF4-B784-D6F4B74A0A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041" y="1639639"/>
            <a:ext cx="1498552" cy="1141266"/>
          </a:xfrm>
          <a:prstGeom prst="rect">
            <a:avLst/>
          </a:prstGeom>
        </p:spPr>
      </p:pic>
      <p:pic>
        <p:nvPicPr>
          <p:cNvPr id="32" name="图片 31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8FCAA23-7432-236C-5392-D4164413F9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947" y="3904258"/>
            <a:ext cx="1808232" cy="113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48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利用</a:t>
            </a:r>
            <a:r>
              <a:rPr lang="en-US" altLang="zh-CN" dirty="0"/>
              <a:t>LLM</a:t>
            </a:r>
            <a:r>
              <a:rPr lang="zh-CN" altLang="en-US" dirty="0"/>
              <a:t>翻译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A48931-6B87-B08F-4636-CDA064AB7521}"/>
              </a:ext>
            </a:extLst>
          </p:cNvPr>
          <p:cNvSpPr txBox="1"/>
          <p:nvPr/>
        </p:nvSpPr>
        <p:spPr>
          <a:xfrm>
            <a:off x="457614" y="827839"/>
            <a:ext cx="601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选取其中部分翻译结果进行对比，</a:t>
            </a:r>
          </a:p>
        </p:txBody>
      </p:sp>
      <p:pic>
        <p:nvPicPr>
          <p:cNvPr id="28" name="图片 27" descr="文本, 信件&#10;&#10;描述已自动生成">
            <a:extLst>
              <a:ext uri="{FF2B5EF4-FFF2-40B4-BE49-F238E27FC236}">
                <a16:creationId xmlns:a16="http://schemas.microsoft.com/office/drawing/2014/main" id="{856B26E1-C642-9E0A-ABEF-40B98E151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395" y="5090541"/>
            <a:ext cx="995841" cy="965404"/>
          </a:xfrm>
          <a:prstGeom prst="rect">
            <a:avLst/>
          </a:prstGeom>
        </p:spPr>
      </p:pic>
      <p:pic>
        <p:nvPicPr>
          <p:cNvPr id="30" name="图片 29" descr="文本&#10;&#10;描述已自动生成">
            <a:extLst>
              <a:ext uri="{FF2B5EF4-FFF2-40B4-BE49-F238E27FC236}">
                <a16:creationId xmlns:a16="http://schemas.microsoft.com/office/drawing/2014/main" id="{A8C36064-A076-4FF4-B784-D6F4B74A0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59" y="1108364"/>
            <a:ext cx="6763622" cy="5151034"/>
          </a:xfrm>
          <a:prstGeom prst="rect">
            <a:avLst/>
          </a:prstGeom>
        </p:spPr>
      </p:pic>
      <p:pic>
        <p:nvPicPr>
          <p:cNvPr id="32" name="图片 31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8FCAA23-7432-236C-5392-D4164413F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947" y="3904258"/>
            <a:ext cx="1808232" cy="1135402"/>
          </a:xfrm>
          <a:prstGeom prst="rect">
            <a:avLst/>
          </a:prstGeom>
        </p:spPr>
      </p:pic>
      <p:pic>
        <p:nvPicPr>
          <p:cNvPr id="26" name="图片 25" descr="文本&#10;&#10;描述已自动生成">
            <a:extLst>
              <a:ext uri="{FF2B5EF4-FFF2-40B4-BE49-F238E27FC236}">
                <a16:creationId xmlns:a16="http://schemas.microsoft.com/office/drawing/2014/main" id="{1E2A87E8-1CCF-6AF3-143A-42B2C96D0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152" y="1108364"/>
            <a:ext cx="7259647" cy="43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02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形用户界面, 应用程序&#10;&#10;描述已自动生成">
            <a:extLst>
              <a:ext uri="{FF2B5EF4-FFF2-40B4-BE49-F238E27FC236}">
                <a16:creationId xmlns:a16="http://schemas.microsoft.com/office/drawing/2014/main" id="{447593A6-166E-E714-8CD6-326100019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67227" cy="4351337"/>
          </a:xfrm>
        </p:spPr>
      </p:pic>
      <p:pic>
        <p:nvPicPr>
          <p:cNvPr id="7" name="图片 6" descr="图表&#10;&#10;描述已自动生成">
            <a:extLst>
              <a:ext uri="{FF2B5EF4-FFF2-40B4-BE49-F238E27FC236}">
                <a16:creationId xmlns:a16="http://schemas.microsoft.com/office/drawing/2014/main" id="{6AB9A1F6-1D3E-60A4-2024-400C6D4AE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01" y="1387408"/>
            <a:ext cx="6998060" cy="3981655"/>
          </a:xfrm>
          <a:prstGeom prst="rect">
            <a:avLst/>
          </a:prstGeom>
        </p:spPr>
      </p:pic>
      <p:pic>
        <p:nvPicPr>
          <p:cNvPr id="9" name="图片 8" descr="图表&#10;&#10;描述已自动生成">
            <a:extLst>
              <a:ext uri="{FF2B5EF4-FFF2-40B4-BE49-F238E27FC236}">
                <a16:creationId xmlns:a16="http://schemas.microsoft.com/office/drawing/2014/main" id="{8D182E86-40AB-F058-495D-F590C6C66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128" y="2761488"/>
            <a:ext cx="7251671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ED72CE55-1C23-4560-AA79-0EE6FD0B1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873" y="1356858"/>
            <a:ext cx="6046169" cy="41442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5F1BA1B-6A5A-6AD8-2E66-0834B39A6187}"/>
              </a:ext>
            </a:extLst>
          </p:cNvPr>
          <p:cNvSpPr txBox="1"/>
          <p:nvPr/>
        </p:nvSpPr>
        <p:spPr>
          <a:xfrm>
            <a:off x="980906" y="1069909"/>
            <a:ext cx="836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业务现状：人工查询</a:t>
            </a:r>
            <a:r>
              <a:rPr lang="en-US" altLang="zh-CN" b="1" dirty="0"/>
              <a:t>TSM</a:t>
            </a:r>
            <a:r>
              <a:rPr lang="zh-CN" altLang="en-US" b="1" dirty="0"/>
              <a:t>、人脑归纳总结排故方案，产生业务痛点③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213015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ED72CE55-1C23-4560-AA79-0EE6FD0B1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873" y="1356858"/>
            <a:ext cx="6046169" cy="41442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5F1BA1B-6A5A-6AD8-2E66-0834B39A6187}"/>
              </a:ext>
            </a:extLst>
          </p:cNvPr>
          <p:cNvSpPr txBox="1"/>
          <p:nvPr/>
        </p:nvSpPr>
        <p:spPr>
          <a:xfrm>
            <a:off x="980906" y="1069909"/>
            <a:ext cx="836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业务现状：人工查询</a:t>
            </a:r>
            <a:r>
              <a:rPr lang="en-US" altLang="zh-CN" b="1" dirty="0"/>
              <a:t>TSM</a:t>
            </a:r>
            <a:r>
              <a:rPr lang="zh-CN" altLang="en-US" b="1" dirty="0"/>
              <a:t>、人脑归纳总结排故方案，产生业务痛点③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114822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20" name="图片 19" descr="图示&#10;&#10;描述已自动生成">
            <a:extLst>
              <a:ext uri="{FF2B5EF4-FFF2-40B4-BE49-F238E27FC236}">
                <a16:creationId xmlns:a16="http://schemas.microsoft.com/office/drawing/2014/main" id="{68B22F75-5F9A-6D01-77D1-136A985FA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207" y="1298508"/>
            <a:ext cx="7074623" cy="47988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8469CC-D9BA-FEDE-C4EC-1DD11DE8FEDB}"/>
              </a:ext>
            </a:extLst>
          </p:cNvPr>
          <p:cNvSpPr txBox="1"/>
          <p:nvPr/>
        </p:nvSpPr>
        <p:spPr>
          <a:xfrm>
            <a:off x="464490" y="929176"/>
            <a:ext cx="774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预期流程：通过标准库中检索、推荐排故方案的方式解决业务痛点③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392548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0FC5A30-72F5-D5D3-D993-76760E6F695E}"/>
              </a:ext>
            </a:extLst>
          </p:cNvPr>
          <p:cNvSpPr txBox="1"/>
          <p:nvPr/>
        </p:nvSpPr>
        <p:spPr>
          <a:xfrm>
            <a:off x="1205644" y="3616827"/>
            <a:ext cx="40337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/>
            <a:r>
              <a:rPr lang="zh-CN" altLang="en-US" dirty="0"/>
              <a:t>排故工程师输入</a:t>
            </a:r>
            <a:r>
              <a:rPr lang="zh-CN" altLang="en-US" b="1" dirty="0"/>
              <a:t>结构化</a:t>
            </a:r>
            <a:r>
              <a:rPr lang="zh-CN" altLang="en-US" dirty="0"/>
              <a:t>故障描述。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系统通过</a:t>
            </a:r>
            <a:r>
              <a:rPr lang="zh-CN" altLang="en-US" b="1" dirty="0"/>
              <a:t>检索匹配</a:t>
            </a:r>
            <a:r>
              <a:rPr lang="en-US" altLang="zh-CN" dirty="0"/>
              <a:t>【</a:t>
            </a:r>
            <a:r>
              <a:rPr lang="zh-CN" altLang="en-US" dirty="0"/>
              <a:t>排故方案库</a:t>
            </a:r>
            <a:r>
              <a:rPr lang="en-US" altLang="zh-CN" dirty="0"/>
              <a:t>】</a:t>
            </a:r>
            <a:r>
              <a:rPr lang="zh-CN" altLang="en-US" dirty="0"/>
              <a:t>，提供排故方案建议（</a:t>
            </a:r>
            <a:r>
              <a:rPr lang="en-US" altLang="zh-CN" dirty="0"/>
              <a:t>Top5</a:t>
            </a:r>
            <a:r>
              <a:rPr lang="zh-CN" altLang="en-US" dirty="0"/>
              <a:t>）供排故工程师参考。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排故人员对系统建议进行梳理整合，绘制流程图、编写文字步骤，形成确定的排故方案。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进行后续审批步骤。</a:t>
            </a:r>
            <a:endParaRPr lang="en-US" altLang="zh-CN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2F02AC-E3DC-D632-867B-FBB0B0090D02}"/>
              </a:ext>
            </a:extLst>
          </p:cNvPr>
          <p:cNvSpPr txBox="1"/>
          <p:nvPr/>
        </p:nvSpPr>
        <p:spPr>
          <a:xfrm>
            <a:off x="6660620" y="-565472"/>
            <a:ext cx="43476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b="1" i="1" dirty="0"/>
              <a:t>结构化的故障描述（</a:t>
            </a:r>
            <a:r>
              <a:rPr lang="en-US" altLang="zh-CN" b="1" i="1" dirty="0"/>
              <a:t>nice to have</a:t>
            </a:r>
            <a:r>
              <a:rPr lang="zh-CN" altLang="en-US" b="1" i="1" dirty="0"/>
              <a:t>）</a:t>
            </a:r>
            <a:endParaRPr lang="en-US" altLang="zh-CN" b="1" i="1" dirty="0"/>
          </a:p>
          <a:p>
            <a:r>
              <a:rPr lang="zh-CN" altLang="en-US" b="1" dirty="0"/>
              <a:t>通过下拉框选项等方式。手动选择故障描述中的关键词，避免口语化描述</a:t>
            </a:r>
            <a:r>
              <a:rPr lang="en-US" altLang="zh-CN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机型、机号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目标设备、故障类型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警告数值、超限范围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异常类型</a:t>
            </a:r>
            <a:endParaRPr lang="en-US" altLang="zh-CN" b="1" dirty="0"/>
          </a:p>
          <a:p>
            <a:r>
              <a:rPr lang="zh-CN" altLang="en-US" b="1" dirty="0"/>
              <a:t>如果没有结构化输入的方法，就手动输入（不建议）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利用向量库匹配？</a:t>
            </a:r>
            <a:r>
              <a:rPr lang="en-US" altLang="zh-CN" b="1" dirty="0"/>
              <a:t>XXX</a:t>
            </a:r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B7D96A8D-127D-DAA1-66D1-15D4CF724BE1}"/>
              </a:ext>
            </a:extLst>
          </p:cNvPr>
          <p:cNvSpPr/>
          <p:nvPr/>
        </p:nvSpPr>
        <p:spPr>
          <a:xfrm>
            <a:off x="3715320" y="3513690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CDAE05FD-5234-CAAA-BC07-DE1F26C263BC}"/>
              </a:ext>
            </a:extLst>
          </p:cNvPr>
          <p:cNvSpPr/>
          <p:nvPr/>
        </p:nvSpPr>
        <p:spPr>
          <a:xfrm>
            <a:off x="3292943" y="4066394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533645E3-5E3F-626C-93A0-4913F61D5AA3}"/>
              </a:ext>
            </a:extLst>
          </p:cNvPr>
          <p:cNvSpPr/>
          <p:nvPr/>
        </p:nvSpPr>
        <p:spPr>
          <a:xfrm>
            <a:off x="6440339" y="297998"/>
            <a:ext cx="252413" cy="26924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59857A-95CF-FA3F-D4DC-24BCDDAAE33E}"/>
              </a:ext>
            </a:extLst>
          </p:cNvPr>
          <p:cNvSpPr txBox="1"/>
          <p:nvPr/>
        </p:nvSpPr>
        <p:spPr>
          <a:xfrm>
            <a:off x="6660620" y="2839021"/>
            <a:ext cx="43476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检索匹配：</a:t>
            </a:r>
            <a:endParaRPr lang="en-US" altLang="zh-CN" b="1" dirty="0"/>
          </a:p>
          <a:p>
            <a:r>
              <a:rPr lang="zh-CN" altLang="en-US" b="1" dirty="0"/>
              <a:t>是个完全工程化的过程，没有</a:t>
            </a:r>
            <a:r>
              <a:rPr lang="en-US" altLang="zh-CN" b="1" dirty="0"/>
              <a:t>LLM</a:t>
            </a:r>
            <a:r>
              <a:rPr lang="zh-CN" altLang="en-US" b="1" dirty="0"/>
              <a:t>参与？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C3B2B310-951E-D6DF-C2EA-CFB230A9C9A9}"/>
              </a:ext>
            </a:extLst>
          </p:cNvPr>
          <p:cNvSpPr/>
          <p:nvPr/>
        </p:nvSpPr>
        <p:spPr>
          <a:xfrm>
            <a:off x="6376076" y="3635905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EC61D8-45AB-D3FC-57FE-76DD8C70A0C0}"/>
              </a:ext>
            </a:extLst>
          </p:cNvPr>
          <p:cNvSpPr txBox="1"/>
          <p:nvPr/>
        </p:nvSpPr>
        <p:spPr>
          <a:xfrm>
            <a:off x="1090422" y="1373521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TSM</a:t>
            </a: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的检索梳理耗时耗力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FF2525"/>
                </a:solidFill>
                <a:effectLst/>
                <a:latin typeface="Arial" panose="020B0604020202020204" pitchFamily="34" charset="0"/>
              </a:rPr>
              <a:t>排故方案编写效率不高</a:t>
            </a:r>
            <a:endParaRPr lang="en-US" altLang="zh-CN" b="0" i="0" dirty="0">
              <a:solidFill>
                <a:srgbClr val="FF2525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>
              <a:solidFill>
                <a:srgbClr val="FF2525"/>
              </a:solidFill>
              <a:latin typeface="Arial" panose="020B0604020202020204" pitchFamily="34" charset="0"/>
            </a:endParaRPr>
          </a:p>
          <a:p>
            <a:r>
              <a:rPr lang="zh-CN" altLang="en-US" i="1" dirty="0">
                <a:solidFill>
                  <a:srgbClr val="FF0000"/>
                </a:solidFill>
              </a:rPr>
              <a:t>编写单个排故方案，耗时</a:t>
            </a:r>
            <a:r>
              <a:rPr lang="en-US" altLang="zh-CN" i="1" dirty="0">
                <a:solidFill>
                  <a:srgbClr val="FF0000"/>
                </a:solidFill>
              </a:rPr>
              <a:t>20min-2</a:t>
            </a:r>
            <a:r>
              <a:rPr lang="zh-CN" altLang="en-US" i="1" dirty="0">
                <a:solidFill>
                  <a:srgbClr val="FF0000"/>
                </a:solidFill>
              </a:rPr>
              <a:t>小时不等；</a:t>
            </a:r>
            <a:endParaRPr lang="en-US" altLang="zh-CN" i="1" dirty="0">
              <a:solidFill>
                <a:srgbClr val="FF0000"/>
              </a:solidFill>
            </a:endParaRPr>
          </a:p>
          <a:p>
            <a:r>
              <a:rPr lang="zh-CN" altLang="en-US" i="1" dirty="0">
                <a:solidFill>
                  <a:srgbClr val="FF0000"/>
                </a:solidFill>
              </a:rPr>
              <a:t>且时长因人而异。</a:t>
            </a:r>
            <a:endParaRPr lang="en-US" altLang="zh-CN" i="1" dirty="0">
              <a:solidFill>
                <a:srgbClr val="FF0000"/>
              </a:solidFill>
            </a:endParaRPr>
          </a:p>
          <a:p>
            <a:r>
              <a:rPr lang="zh-CN" altLang="en-US" i="1" dirty="0">
                <a:solidFill>
                  <a:srgbClr val="FF0000"/>
                </a:solidFill>
              </a:rPr>
              <a:t>复杂排故方案耗时达几天。</a:t>
            </a:r>
            <a:endParaRPr lang="en-US" altLang="zh-CN" i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6" name="星形: 五角 5">
            <a:extLst>
              <a:ext uri="{FF2B5EF4-FFF2-40B4-BE49-F238E27FC236}">
                <a16:creationId xmlns:a16="http://schemas.microsoft.com/office/drawing/2014/main" id="{18E2844C-7929-7348-32FC-F0D0B0B6AF9F}"/>
              </a:ext>
            </a:extLst>
          </p:cNvPr>
          <p:cNvSpPr/>
          <p:nvPr/>
        </p:nvSpPr>
        <p:spPr>
          <a:xfrm>
            <a:off x="2708743" y="5793594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星形: 五角 7">
            <a:extLst>
              <a:ext uri="{FF2B5EF4-FFF2-40B4-BE49-F238E27FC236}">
                <a16:creationId xmlns:a16="http://schemas.microsoft.com/office/drawing/2014/main" id="{BA957ADE-4F46-A1C3-4330-4046AC64C3F9}"/>
              </a:ext>
            </a:extLst>
          </p:cNvPr>
          <p:cNvSpPr/>
          <p:nvPr/>
        </p:nvSpPr>
        <p:spPr>
          <a:xfrm>
            <a:off x="6376076" y="5019196"/>
            <a:ext cx="316676" cy="334581"/>
          </a:xfrm>
          <a:prstGeom prst="star5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F33FD6-70DE-EF90-56B0-1EAADAD65630}"/>
              </a:ext>
            </a:extLst>
          </p:cNvPr>
          <p:cNvSpPr txBox="1"/>
          <p:nvPr/>
        </p:nvSpPr>
        <p:spPr>
          <a:xfrm>
            <a:off x="6692752" y="4182348"/>
            <a:ext cx="43476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前台排故工程师，是否能再次修改、润色标准库中的流程？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或是只能选择标准库中的流程，不能修改。</a:t>
            </a:r>
            <a:endParaRPr lang="en-US" altLang="zh-CN" b="1" dirty="0"/>
          </a:p>
          <a:p>
            <a:r>
              <a:rPr lang="zh-CN" altLang="en-US" b="1" dirty="0"/>
              <a:t>如果流程不满足，走修改发布到标准库的环节，后台工程师去调整标准库。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0085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痛点分析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技术方案应对</a:t>
            </a:r>
          </a:p>
        </p:txBody>
      </p:sp>
      <p:pic>
        <p:nvPicPr>
          <p:cNvPr id="8" name="内容占位符 7" descr="文本, 信件&#10;&#10;描述已自动生成">
            <a:extLst>
              <a:ext uri="{FF2B5EF4-FFF2-40B4-BE49-F238E27FC236}">
                <a16:creationId xmlns:a16="http://schemas.microsoft.com/office/drawing/2014/main" id="{795613F9-4090-116D-57D8-6821ACDE0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90" y="1422464"/>
            <a:ext cx="3631716" cy="1784327"/>
          </a:xfrm>
        </p:spPr>
      </p:pic>
      <p:pic>
        <p:nvPicPr>
          <p:cNvPr id="11" name="图片 10" descr="手机屏幕截图&#10;&#10;描述已自动生成">
            <a:extLst>
              <a:ext uri="{FF2B5EF4-FFF2-40B4-BE49-F238E27FC236}">
                <a16:creationId xmlns:a16="http://schemas.microsoft.com/office/drawing/2014/main" id="{FA4CE1DE-D36D-75AD-B470-78AA6E2AB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454" y="1447576"/>
            <a:ext cx="3467068" cy="1784327"/>
          </a:xfrm>
          <a:prstGeom prst="rect">
            <a:avLst/>
          </a:prstGeom>
        </p:spPr>
      </p:pic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3DEDE0EF-3036-3593-AE7A-FA6D9990C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770" y="1447576"/>
            <a:ext cx="4098150" cy="1784327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C3C93D8-6BE0-887F-2559-A87AA376F6E0}"/>
              </a:ext>
            </a:extLst>
          </p:cNvPr>
          <p:cNvGrpSpPr/>
          <p:nvPr/>
        </p:nvGrpSpPr>
        <p:grpSpPr>
          <a:xfrm>
            <a:off x="691194" y="3651209"/>
            <a:ext cx="6308986" cy="3057618"/>
            <a:chOff x="671858" y="3423930"/>
            <a:chExt cx="6025276" cy="341632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2D9ED33-02F7-24B3-D647-8F3137845EA3}"/>
                </a:ext>
              </a:extLst>
            </p:cNvPr>
            <p:cNvSpPr txBox="1"/>
            <p:nvPr/>
          </p:nvSpPr>
          <p:spPr>
            <a:xfrm>
              <a:off x="715790" y="3481081"/>
              <a:ext cx="5932144" cy="319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系统协助方案审核和修改的留痕工作：</a:t>
              </a:r>
              <a:endParaRPr lang="en-US" altLang="zh-CN" dirty="0"/>
            </a:p>
            <a:p>
              <a:r>
                <a:rPr lang="zh-CN" altLang="en-US" dirty="0"/>
                <a:t>在每阶段方案流转过程中，通过存档和签署，保存审核和修改中的人、时间、内容信息。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按照</a:t>
              </a:r>
              <a:r>
                <a:rPr lang="en-US" altLang="zh-CN" b="1" dirty="0"/>
                <a:t>Checklist</a:t>
              </a:r>
              <a:r>
                <a:rPr lang="zh-CN" altLang="en-US" dirty="0"/>
                <a:t>的产品逻辑，维修工程师步骤化的执行维修方案。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智能判定完工：完成所有维修条目，系统提醒完工。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系统自动存档在维修中的操作内容，并自动生成维修日志。</a:t>
              </a:r>
              <a:endParaRPr lang="en-US" altLang="zh-CN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A1CFF3C-2A2A-02A5-74DD-962C32425B10}"/>
                </a:ext>
              </a:extLst>
            </p:cNvPr>
            <p:cNvSpPr/>
            <p:nvPr/>
          </p:nvSpPr>
          <p:spPr>
            <a:xfrm>
              <a:off x="671858" y="3423930"/>
              <a:ext cx="6025276" cy="341632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216860A-0B44-9C9C-0E56-F632A1F58E9F}"/>
              </a:ext>
            </a:extLst>
          </p:cNvPr>
          <p:cNvSpPr txBox="1"/>
          <p:nvPr/>
        </p:nvSpPr>
        <p:spPr>
          <a:xfrm>
            <a:off x="7448598" y="4453083"/>
            <a:ext cx="46437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维修工程师</a:t>
            </a:r>
            <a:r>
              <a:rPr lang="zh-CN" altLang="en-US" b="1" dirty="0"/>
              <a:t>不能</a:t>
            </a:r>
            <a:r>
              <a:rPr lang="zh-CN" altLang="en-US" dirty="0"/>
              <a:t>看到完整的维修方案，仅能看到当前维修步骤。避免总览所有步骤后，选择第一步和结尾步操作，中间跳步。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按要求提交现场照片、视频、文字描述等过程性资料。</a:t>
            </a:r>
            <a:r>
              <a:rPr lang="en-US" altLang="zh-CN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E7896CE3-785F-9DB0-81D8-893BA32A2AA8}"/>
              </a:ext>
            </a:extLst>
          </p:cNvPr>
          <p:cNvSpPr/>
          <p:nvPr/>
        </p:nvSpPr>
        <p:spPr>
          <a:xfrm>
            <a:off x="1237129" y="5180018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AA4647E8-35B3-5AC7-7E75-EACCFDB82DD3}"/>
              </a:ext>
            </a:extLst>
          </p:cNvPr>
          <p:cNvSpPr/>
          <p:nvPr/>
        </p:nvSpPr>
        <p:spPr>
          <a:xfrm>
            <a:off x="7224661" y="4494396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53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CFC45-00F7-FB8E-768E-56992C49F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未来预期</a:t>
            </a:r>
            <a:r>
              <a:rPr lang="en-US" altLang="zh-CN" dirty="0"/>
              <a:t>——</a:t>
            </a:r>
            <a:r>
              <a:rPr lang="zh-CN" altLang="en-US" dirty="0"/>
              <a:t>基于飞机故障诊断辅助系统的业务流程</a:t>
            </a:r>
          </a:p>
        </p:txBody>
      </p:sp>
      <p:pic>
        <p:nvPicPr>
          <p:cNvPr id="4" name="内容占位符 3" descr="表格&#10;&#10;描述已自动生成">
            <a:extLst>
              <a:ext uri="{FF2B5EF4-FFF2-40B4-BE49-F238E27FC236}">
                <a16:creationId xmlns:a16="http://schemas.microsoft.com/office/drawing/2014/main" id="{8BDBE2A0-9401-7F4A-E249-C814D8D83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0" y="760024"/>
            <a:ext cx="10634479" cy="5649801"/>
          </a:xfrm>
        </p:spPr>
      </p:pic>
    </p:spTree>
    <p:extLst>
      <p:ext uri="{BB962C8B-B14F-4D97-AF65-F5344CB8AC3E}">
        <p14:creationId xmlns:p14="http://schemas.microsoft.com/office/powerpoint/2010/main" val="2112663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BE53C-FC4C-856D-BECC-76DC054E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32458"/>
            <a:ext cx="10515600" cy="974577"/>
          </a:xfrm>
        </p:spPr>
        <p:txBody>
          <a:bodyPr/>
          <a:lstStyle/>
          <a:p>
            <a:r>
              <a:rPr lang="zh-CN" altLang="en-US" dirty="0"/>
              <a:t>本次项目的范围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232245A-99C4-C589-44B2-FD6B05941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404409"/>
              </p:ext>
            </p:extLst>
          </p:nvPr>
        </p:nvGraphicFramePr>
        <p:xfrm>
          <a:off x="562686" y="809777"/>
          <a:ext cx="11522900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40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3435107">
                  <a:extLst>
                    <a:ext uri="{9D8B030D-6E8A-4147-A177-3AD203B41FA5}">
                      <a16:colId xmlns:a16="http://schemas.microsoft.com/office/drawing/2014/main" val="1159266562"/>
                    </a:ext>
                  </a:extLst>
                </a:gridCol>
                <a:gridCol w="1278467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3797671460"/>
                    </a:ext>
                  </a:extLst>
                </a:gridCol>
                <a:gridCol w="2653719">
                  <a:extLst>
                    <a:ext uri="{9D8B030D-6E8A-4147-A177-3AD203B41FA5}">
                      <a16:colId xmlns:a16="http://schemas.microsoft.com/office/drawing/2014/main" val="3577724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频次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核心动作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解析</a:t>
                      </a:r>
                      <a:r>
                        <a:rPr lang="en-US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，建立排故方案的标准库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前期准备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每季度更新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工程师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修改、润色排故方案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调整、校对翻译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消除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lang="en-US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理解</a:t>
                      </a: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差异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复用标准流程减少重复工作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376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根据故障描述、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自动分析和推荐排故方案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输入故障，获得推荐方案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提高信息检索处理效率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节省方案编写的时间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手动修改方案，审核确认发布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结合推荐内容，人工编写方案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提交审核、发布到现场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流程线上化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014947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步骤化执行排故方案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按步骤执行任务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上传每步骤的记录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避免跳步、过程留痕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606024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排故业务流程管理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申请技术支援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判定排故流程审结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流程线上化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审核归档工作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日常评估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按季度更新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评估排故方案</a:t>
                      </a:r>
                      <a:r>
                        <a:rPr lang="en-US" altLang="zh-CN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现场执行的完整性，归档优秀案例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标准业务数据的积累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671960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5D42BD39-A4B6-F661-A32B-35DCBA65E0F9}"/>
              </a:ext>
            </a:extLst>
          </p:cNvPr>
          <p:cNvSpPr txBox="1">
            <a:spLocks/>
          </p:cNvSpPr>
          <p:nvPr/>
        </p:nvSpPr>
        <p:spPr>
          <a:xfrm>
            <a:off x="636526" y="5412257"/>
            <a:ext cx="10515600" cy="901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非本次项目的范围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7D2D92-5225-9361-E419-7DA0A7C6A9CB}"/>
              </a:ext>
            </a:extLst>
          </p:cNvPr>
          <p:cNvSpPr txBox="1"/>
          <p:nvPr/>
        </p:nvSpPr>
        <p:spPr>
          <a:xfrm>
            <a:off x="804672" y="5902212"/>
            <a:ext cx="859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结构化、标准化的故障描述输入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优秀案例导入标准库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413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FA9F-E002-044D-1AAF-9789E19F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16" y="163487"/>
            <a:ext cx="10515600" cy="974577"/>
          </a:xfrm>
        </p:spPr>
        <p:txBody>
          <a:bodyPr/>
          <a:lstStyle/>
          <a:p>
            <a:r>
              <a:rPr lang="zh-CN" altLang="en-US" dirty="0"/>
              <a:t>预期优化效果对比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AC49DA7-C6E1-1461-99C0-C82D21B79ED7}"/>
              </a:ext>
            </a:extLst>
          </p:cNvPr>
          <p:cNvGraphicFramePr>
            <a:graphicFrameLocks noGrp="1"/>
          </p:cNvGraphicFramePr>
          <p:nvPr/>
        </p:nvGraphicFramePr>
        <p:xfrm>
          <a:off x="794815" y="1122257"/>
          <a:ext cx="1060236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026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3827209817"/>
                    </a:ext>
                  </a:extLst>
                </a:gridCol>
                <a:gridCol w="3282124">
                  <a:extLst>
                    <a:ext uri="{9D8B030D-6E8A-4147-A177-3AD203B41FA5}">
                      <a16:colId xmlns:a16="http://schemas.microsoft.com/office/drawing/2014/main" val="3873500286"/>
                    </a:ext>
                  </a:extLst>
                </a:gridCol>
                <a:gridCol w="1293613">
                  <a:extLst>
                    <a:ext uri="{9D8B030D-6E8A-4147-A177-3AD203B41FA5}">
                      <a16:colId xmlns:a16="http://schemas.microsoft.com/office/drawing/2014/main" val="3207409823"/>
                    </a:ext>
                  </a:extLst>
                </a:gridCol>
                <a:gridCol w="2040216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658472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</a:tblGrid>
              <a:tr h="317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描述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准确率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+mn-ea"/>
                          <a:ea typeface="+mn-ea"/>
                        </a:rPr>
                        <a:t>成本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41256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1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依靠人工翻译排故手册，每次编写排故方案时都需先翻译再撰写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分钟</a:t>
                      </a:r>
                      <a:r>
                        <a:rPr lang="en-US" altLang="zh-CN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-2</a:t>
                      </a:r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小时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2510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利用</a:t>
                      </a:r>
                      <a:r>
                        <a:rPr lang="en-US" altLang="zh-CN" sz="1600" b="0" dirty="0">
                          <a:latin typeface="+mn-ea"/>
                          <a:ea typeface="+mn-ea"/>
                        </a:rPr>
                        <a:t>AI</a:t>
                      </a:r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进行翻译，并人工进行微调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223224"/>
                  </a:ext>
                </a:extLst>
              </a:tr>
              <a:tr h="326315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2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  <a:tr h="3351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671960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3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8077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34962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4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366243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210609"/>
                  </a:ext>
                </a:extLst>
              </a:tr>
              <a:tr h="20910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+mn-ea"/>
                          <a:ea typeface="+mn-ea"/>
                        </a:rPr>
                        <a:t>5</a:t>
                      </a:r>
                      <a:endParaRPr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现状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283433"/>
                  </a:ext>
                </a:extLst>
              </a:tr>
              <a:tr h="20910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优化方案</a:t>
                      </a: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kern="1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948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2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FA9F-E002-044D-1AAF-9789E19F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16" y="163487"/>
            <a:ext cx="10515600" cy="974577"/>
          </a:xfrm>
        </p:spPr>
        <p:txBody>
          <a:bodyPr/>
          <a:lstStyle/>
          <a:p>
            <a:r>
              <a:rPr lang="zh-CN" altLang="en-US" dirty="0"/>
              <a:t>不同部署方案效果对比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AC49DA7-C6E1-1461-99C0-C82D21B79ED7}"/>
              </a:ext>
            </a:extLst>
          </p:cNvPr>
          <p:cNvGraphicFramePr>
            <a:graphicFrameLocks noGrp="1"/>
          </p:cNvGraphicFramePr>
          <p:nvPr/>
        </p:nvGraphicFramePr>
        <p:xfrm>
          <a:off x="794815" y="1138064"/>
          <a:ext cx="1060236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026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3827209817"/>
                    </a:ext>
                  </a:extLst>
                </a:gridCol>
                <a:gridCol w="3039035">
                  <a:extLst>
                    <a:ext uri="{9D8B030D-6E8A-4147-A177-3AD203B41FA5}">
                      <a16:colId xmlns:a16="http://schemas.microsoft.com/office/drawing/2014/main" val="3873500286"/>
                    </a:ext>
                  </a:extLst>
                </a:gridCol>
                <a:gridCol w="1536702">
                  <a:extLst>
                    <a:ext uri="{9D8B030D-6E8A-4147-A177-3AD203B41FA5}">
                      <a16:colId xmlns:a16="http://schemas.microsoft.com/office/drawing/2014/main" val="3207409823"/>
                    </a:ext>
                  </a:extLst>
                </a:gridCol>
                <a:gridCol w="2040216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658472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</a:tblGrid>
              <a:tr h="31741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优化方案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准确率</a:t>
                      </a:r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成本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41256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利用本地部署的翻译模型进行翻译，并人工调整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2510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利用公开模型</a:t>
                      </a:r>
                      <a:r>
                        <a:rPr lang="en-US" altLang="zh-CN" sz="1600" dirty="0"/>
                        <a:t>(GPT4.0)</a:t>
                      </a:r>
                      <a:r>
                        <a:rPr lang="zh-CN" altLang="en-US" sz="1600" dirty="0"/>
                        <a:t>进行翻译，并人工进行微调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223224"/>
                  </a:ext>
                </a:extLst>
              </a:tr>
              <a:tr h="326315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  <a:tr h="3351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671960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8077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234962"/>
                  </a:ext>
                </a:extLst>
              </a:tr>
              <a:tr h="331362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366243"/>
                  </a:ext>
                </a:extLst>
              </a:tr>
              <a:tr h="3313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210609"/>
                  </a:ext>
                </a:extLst>
              </a:tr>
              <a:tr h="20910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atin typeface="+mn-ea"/>
                          <a:ea typeface="+mn-ea"/>
                        </a:rPr>
                        <a:t>本地化部署</a:t>
                      </a:r>
                      <a:endParaRPr lang="en-US" altLang="zh-CN" sz="16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283433"/>
                  </a:ext>
                </a:extLst>
              </a:tr>
              <a:tr h="20910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kern="1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公有化部署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948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870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FA9F-E002-044D-1AAF-9789E19F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11" y="136592"/>
            <a:ext cx="10515600" cy="974577"/>
          </a:xfrm>
        </p:spPr>
        <p:txBody>
          <a:bodyPr/>
          <a:lstStyle/>
          <a:p>
            <a:r>
              <a:rPr lang="zh-CN" altLang="en-US" dirty="0"/>
              <a:t>软硬件环境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59F8E7-3071-5A24-B62C-3E015FB82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796886"/>
              </p:ext>
            </p:extLst>
          </p:nvPr>
        </p:nvGraphicFramePr>
        <p:xfrm>
          <a:off x="721198" y="866363"/>
          <a:ext cx="10749603" cy="4027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86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1532970">
                  <a:extLst>
                    <a:ext uri="{9D8B030D-6E8A-4147-A177-3AD203B41FA5}">
                      <a16:colId xmlns:a16="http://schemas.microsoft.com/office/drawing/2014/main" val="3067834399"/>
                    </a:ext>
                  </a:extLst>
                </a:gridCol>
                <a:gridCol w="1198996">
                  <a:extLst>
                    <a:ext uri="{9D8B030D-6E8A-4147-A177-3AD203B41FA5}">
                      <a16:colId xmlns:a16="http://schemas.microsoft.com/office/drawing/2014/main" val="1732261143"/>
                    </a:ext>
                  </a:extLst>
                </a:gridCol>
                <a:gridCol w="3093372">
                  <a:extLst>
                    <a:ext uri="{9D8B030D-6E8A-4147-A177-3AD203B41FA5}">
                      <a16:colId xmlns:a16="http://schemas.microsoft.com/office/drawing/2014/main" val="1159266562"/>
                    </a:ext>
                  </a:extLst>
                </a:gridCol>
                <a:gridCol w="1261806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380990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  <a:gridCol w="1880283">
                  <a:extLst>
                    <a:ext uri="{9D8B030D-6E8A-4147-A177-3AD203B41FA5}">
                      <a16:colId xmlns:a16="http://schemas.microsoft.com/office/drawing/2014/main" val="3577724368"/>
                    </a:ext>
                  </a:extLst>
                </a:gridCol>
              </a:tblGrid>
              <a:tr h="3955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序号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系统</a:t>
                      </a:r>
                      <a:r>
                        <a:rPr lang="en-US" altLang="zh-CN" sz="1400" dirty="0"/>
                        <a:t>/App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频次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操作平台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7912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 rowSpan="4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业务系统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解析</a:t>
                      </a:r>
                      <a:r>
                        <a:rPr lang="en-US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，建立排故方案的标准库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前期准备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每季度更新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</a:t>
                      </a: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工程师</a:t>
                      </a:r>
                      <a:endParaRPr lang="en-US" altLang="zh-CN" sz="12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376858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根据故障描述、</a:t>
                      </a: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自动分析和推荐排故方案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7912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手动编写方案，审核确认发布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en-US" altLang="zh-CN" sz="12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014947"/>
                  </a:ext>
                </a:extLst>
              </a:tr>
              <a:tr h="610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审核归档工作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日常评估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按季度更新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394919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业务系统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步骤化执行排故方案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/PC-Web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606024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排故业务流程管理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AB08220-613F-1A02-55C7-9E85BE015C36}"/>
              </a:ext>
            </a:extLst>
          </p:cNvPr>
          <p:cNvSpPr txBox="1"/>
          <p:nvPr/>
        </p:nvSpPr>
        <p:spPr>
          <a:xfrm>
            <a:off x="721198" y="5148072"/>
            <a:ext cx="10749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本地化部署的</a:t>
            </a:r>
            <a:r>
              <a:rPr lang="en-US" altLang="zh-CN" dirty="0"/>
              <a:t>LLM</a:t>
            </a:r>
            <a:r>
              <a:rPr lang="zh-CN" altLang="en-US" dirty="0"/>
              <a:t>，需要选型、测试性能（翻译准确度、响应速度等）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1" dirty="0"/>
              <a:t>业务系统</a:t>
            </a:r>
            <a:r>
              <a:rPr lang="en-US" altLang="zh-CN" b="1" i="1" dirty="0"/>
              <a:t>/iPad</a:t>
            </a:r>
            <a:r>
              <a:rPr lang="zh-CN" altLang="en-US" b="1" i="1" dirty="0"/>
              <a:t>客户端都部署在</a:t>
            </a:r>
            <a:r>
              <a:rPr lang="en-US" altLang="zh-CN" b="1" i="1" dirty="0" err="1"/>
              <a:t>Ameco</a:t>
            </a:r>
            <a:r>
              <a:rPr lang="zh-CN" altLang="en-US" b="1" i="1" dirty="0"/>
              <a:t>内网（待确认）</a:t>
            </a:r>
          </a:p>
        </p:txBody>
      </p:sp>
    </p:spTree>
    <p:extLst>
      <p:ext uri="{BB962C8B-B14F-4D97-AF65-F5344CB8AC3E}">
        <p14:creationId xmlns:p14="http://schemas.microsoft.com/office/powerpoint/2010/main" val="995148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72" y="1870635"/>
            <a:ext cx="6943846" cy="37412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591072" y="324523"/>
            <a:ext cx="747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功能模块拆解（草稿，还不严谨）</a:t>
            </a:r>
          </a:p>
        </p:txBody>
      </p:sp>
    </p:spTree>
    <p:extLst>
      <p:ext uri="{BB962C8B-B14F-4D97-AF65-F5344CB8AC3E}">
        <p14:creationId xmlns:p14="http://schemas.microsoft.com/office/powerpoint/2010/main" val="2461198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492464" y="369345"/>
            <a:ext cx="763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——TSM</a:t>
            </a:r>
            <a:r>
              <a:rPr lang="zh-CN" altLang="en-US" dirty="0"/>
              <a:t>标准方案库</a:t>
            </a: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A904829A-D043-793D-34C7-32BE32173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66" y="1556192"/>
            <a:ext cx="5989022" cy="43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34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858" y="1094566"/>
            <a:ext cx="7081824" cy="54020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456602" y="361345"/>
            <a:ext cx="5800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排故管理</a:t>
            </a:r>
          </a:p>
        </p:txBody>
      </p:sp>
    </p:spTree>
    <p:extLst>
      <p:ext uri="{BB962C8B-B14F-4D97-AF65-F5344CB8AC3E}">
        <p14:creationId xmlns:p14="http://schemas.microsoft.com/office/powerpoint/2010/main" val="1503850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0013" y="1121934"/>
            <a:ext cx="6679305" cy="52124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313166" y="351416"/>
            <a:ext cx="6132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维修管理</a:t>
            </a:r>
          </a:p>
        </p:txBody>
      </p:sp>
    </p:spTree>
    <p:extLst>
      <p:ext uri="{BB962C8B-B14F-4D97-AF65-F5344CB8AC3E}">
        <p14:creationId xmlns:p14="http://schemas.microsoft.com/office/powerpoint/2010/main" val="3752405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8D3D56-5FBA-F79A-791A-30CF842C4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078" y="2097598"/>
            <a:ext cx="5800370" cy="26628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711483-1B79-7906-EBA4-7E898057C6E4}"/>
              </a:ext>
            </a:extLst>
          </p:cNvPr>
          <p:cNvSpPr txBox="1"/>
          <p:nvPr/>
        </p:nvSpPr>
        <p:spPr>
          <a:xfrm>
            <a:off x="375919" y="396240"/>
            <a:ext cx="702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 b="1"/>
            </a:lvl1pPr>
          </a:lstStyle>
          <a:p>
            <a:r>
              <a:rPr lang="zh-CN" altLang="en-US" dirty="0"/>
              <a:t>功能模块拆解</a:t>
            </a:r>
            <a:r>
              <a:rPr lang="en-US" altLang="zh-CN" dirty="0"/>
              <a:t>——</a:t>
            </a:r>
            <a:r>
              <a:rPr lang="zh-CN" altLang="en-US" dirty="0"/>
              <a:t>结果评估归档</a:t>
            </a:r>
          </a:p>
        </p:txBody>
      </p:sp>
    </p:spTree>
    <p:extLst>
      <p:ext uri="{BB962C8B-B14F-4D97-AF65-F5344CB8AC3E}">
        <p14:creationId xmlns:p14="http://schemas.microsoft.com/office/powerpoint/2010/main" val="109626478"/>
      </p:ext>
    </p:extLst>
  </p:cSld>
  <p:clrMapOvr>
    <a:masterClrMapping/>
  </p:clrMapOvr>
</p:sld>
</file>

<file path=ppt/theme/theme1.xml><?xml version="1.0" encoding="utf-8"?>
<a:theme xmlns:a="http://schemas.openxmlformats.org/drawingml/2006/main" name="Ameco  - 华北航线(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Ameco  - 华北航线(2)</Template>
  <TotalTime>816</TotalTime>
  <Words>1400</Words>
  <Application>Microsoft Office PowerPoint</Application>
  <PresentationFormat>宽屏</PresentationFormat>
  <Paragraphs>273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PingFang SC</vt:lpstr>
      <vt:lpstr>等线</vt:lpstr>
      <vt:lpstr>微软雅黑</vt:lpstr>
      <vt:lpstr>微软雅黑</vt:lpstr>
      <vt:lpstr>微软雅黑 Light</vt:lpstr>
      <vt:lpstr>Arial</vt:lpstr>
      <vt:lpstr>Bebas Neue</vt:lpstr>
      <vt:lpstr>Segoe UI Light</vt:lpstr>
      <vt:lpstr>Ameco  - 华北航线(2)</vt:lpstr>
      <vt:lpstr>Ameco华北航线项目</vt:lpstr>
      <vt:lpstr>当前现状——业务流程梳理和痛点描述</vt:lpstr>
      <vt:lpstr>痛点分析-产品技术方案应对</vt:lpstr>
      <vt:lpstr>痛点分析-产品技术方案应对</vt:lpstr>
      <vt:lpstr>痛点分析-产品技术方案应对</vt:lpstr>
      <vt:lpstr>痛点分析-产品技术方案应对-解析为JSON文件数据保存和转换</vt:lpstr>
      <vt:lpstr>痛点分析-产品技术方案应对-利用LLM翻译</vt:lpstr>
      <vt:lpstr>痛点分析-产品技术方案应对-利用LLM翻译</vt:lpstr>
      <vt:lpstr>PowerPoint 演示文稿</vt:lpstr>
      <vt:lpstr>痛点分析-产品技术方案应对</vt:lpstr>
      <vt:lpstr>痛点分析-产品技术方案应对</vt:lpstr>
      <vt:lpstr>痛点分析-产品技术方案应对</vt:lpstr>
      <vt:lpstr>痛点分析-产品技术方案应对</vt:lpstr>
      <vt:lpstr>痛点分析-技术方案应对</vt:lpstr>
      <vt:lpstr>未来预期——基于飞机故障诊断辅助系统的业务流程</vt:lpstr>
      <vt:lpstr>本次项目的范围</vt:lpstr>
      <vt:lpstr>预期优化效果对比</vt:lpstr>
      <vt:lpstr>不同部署方案效果对比</vt:lpstr>
      <vt:lpstr>软硬件环境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29</cp:revision>
  <dcterms:created xsi:type="dcterms:W3CDTF">2024-07-16T12:02:24Z</dcterms:created>
  <dcterms:modified xsi:type="dcterms:W3CDTF">2024-07-18T10:00:13Z</dcterms:modified>
</cp:coreProperties>
</file>