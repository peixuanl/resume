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82" r:id="rId2"/>
    <p:sldId id="28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 autoAdjust="0"/>
    <p:restoredTop sz="94660"/>
  </p:normalViewPr>
  <p:slideViewPr>
    <p:cSldViewPr snapToGrid="0">
      <p:cViewPr varScale="1">
        <p:scale>
          <a:sx n="71" d="100"/>
          <a:sy n="71" d="100"/>
        </p:scale>
        <p:origin x="5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76101-EED7-4A34-84A2-70206600A9A5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6D17D-1DC6-4DF0-9F78-A519B4D593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6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DD940-6ACC-5EFD-43DD-4FC2FE7F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E8584F-175A-EC63-17EB-F9DE39736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1892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26DFD-4A50-848E-3CAC-603E7FC8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FA4C0-6513-A6D3-1C43-04DC70E5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17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37C6A-E4F0-DC23-0884-72B39327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065E1-053A-CC5B-5680-0FA17D17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6A516-AE67-9012-5287-2B17FD2D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C506E-A93B-9B06-7C54-CF0416EA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C20FE-F887-1494-644C-0FECAFCD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E6523-7EDF-CD13-0E48-AD3BBDB0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A5137-DE93-37A6-0DD5-5BA673E38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EBB9F-50F7-8A19-39D5-5008F145F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F1151-1834-95EA-EC3D-43DF0AAD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C0243-6942-7E91-EBB3-41F0F8FF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F457D0-E561-55BB-BAB0-F6BD23AF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9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30ED6-9687-0BA5-B7A6-1BD196FD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B27E5-BB55-FE32-7402-E0FFC9D0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AE20E2-54D6-C3EA-C702-E51027A1E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AB0D97-2A52-1DB7-1F9C-6009B467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DB788-7D9B-28CE-2A38-DB7663511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570E86-FEB9-33C2-C86A-49243FAB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FF91D6-EACD-1A53-BC8A-C67C373E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7C56D9-CDE9-0915-2FF1-3B602B16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57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3B918-05CB-E30C-30A5-68872D6C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83202A-294B-3AB7-2A0B-FB3D568C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B0FC58-8B68-7FCA-EF97-F6B291CC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8C62B-2342-05FE-6D75-67E152CC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1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763244-6F5D-AA2C-6BE8-D1921A9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CE3833-E10A-559C-103C-55D81BCE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93B01-0767-414F-AA62-0ECD4C3E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56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FA40D-040E-45AE-9333-0FD9B6FE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E93DE-85C4-75BE-9269-4C44BBC00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458DC-B680-71A3-7C67-082DD9C9B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5D202-98C8-20FF-B93B-58945A86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D3CCB-2746-7A8B-E1F6-06FE8EA7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08BC1-46C4-C4F9-6A1D-FD05F5D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33906-579B-2A27-1C0B-4F27C15E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00D636-D380-779E-5DD7-E19E14595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87FA7B-4E8C-DF75-15D9-E4BC53FED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CA4B2-5636-0C37-A98F-1EA9AAD5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5753D-4639-2219-5648-14C3AD60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29923F-00C9-4D14-6CBC-7508617E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9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9648D-D24C-0849-103B-7E84621A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42F3EA-89B9-D153-5F48-2754D4CA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05D46-546C-D0E0-F21E-26B3AFE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D2DFD-2B0C-4BDA-B74C-18FCB716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1057-0B6B-ED78-30F9-F5E22416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8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89BD5E-CDF7-4803-A379-BA8A590A0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195285-E3BB-D407-4177-C93FAA009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AC4F1-D200-1E3B-B612-23F55E83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E10CF-B597-4DB3-3B58-53B17DFA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349E5-6076-1884-B06F-13B02680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60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16BBC9-12F4-D2A3-0314-766DD947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5" y="412831"/>
            <a:ext cx="10515600" cy="97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9501F-C562-3754-8C1C-F58FF110F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532" y="1499627"/>
            <a:ext cx="103545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7B73A878-8A85-530F-D496-E50C6E4F9B26}"/>
              </a:ext>
            </a:extLst>
          </p:cNvPr>
          <p:cNvSpPr/>
          <p:nvPr/>
        </p:nvSpPr>
        <p:spPr>
          <a:xfrm>
            <a:off x="0" y="105968"/>
            <a:ext cx="435935" cy="904550"/>
          </a:xfrm>
          <a:prstGeom prst="rect">
            <a:avLst/>
          </a:prstGeom>
          <a:solidFill>
            <a:srgbClr val="1E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5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D02A99-77F7-0209-E3DC-A260FFBA8E3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0938" y="6237911"/>
            <a:ext cx="1521703" cy="51472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C47C38-DEA7-F4D0-423D-8443B90D8C9A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3826" y="6222671"/>
            <a:ext cx="1521703" cy="514726"/>
          </a:xfrm>
          <a:prstGeom prst="rect">
            <a:avLst/>
          </a:prstGeom>
        </p:spPr>
      </p:pic>
      <p:sp>
        <p:nvSpPr>
          <p:cNvPr id="11" name="TextBox 16">
            <a:extLst>
              <a:ext uri="{FF2B5EF4-FFF2-40B4-BE49-F238E27FC236}">
                <a16:creationId xmlns:a16="http://schemas.microsoft.com/office/drawing/2014/main" id="{8BA5DFFA-9798-C160-4F07-14F67AF4EBAD}"/>
              </a:ext>
            </a:extLst>
          </p:cNvPr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99FB5CA-1654-F537-45BC-2F69C063AA9A}"/>
              </a:ext>
            </a:extLst>
          </p:cNvPr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13" name="Group 20">
            <a:extLst>
              <a:ext uri="{FF2B5EF4-FFF2-40B4-BE49-F238E27FC236}">
                <a16:creationId xmlns:a16="http://schemas.microsoft.com/office/drawing/2014/main" id="{D0851872-4CF6-B6E1-B010-620BEB9C10A4}"/>
              </a:ext>
            </a:extLst>
          </p:cNvPr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4" name="Straight Connector 18">
              <a:extLst>
                <a:ext uri="{FF2B5EF4-FFF2-40B4-BE49-F238E27FC236}">
                  <a16:creationId xmlns:a16="http://schemas.microsoft.com/office/drawing/2014/main" id="{1D96F396-1375-5AE4-149B-5F79A2EAB332}"/>
                </a:ext>
              </a:extLst>
            </p:cNvPr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iangle 19">
              <a:extLst>
                <a:ext uri="{FF2B5EF4-FFF2-40B4-BE49-F238E27FC236}">
                  <a16:creationId xmlns:a16="http://schemas.microsoft.com/office/drawing/2014/main" id="{0DB32C93-797E-8E86-BAE2-4942469DBC11}"/>
                </a:ext>
              </a:extLst>
            </p:cNvPr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94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0FA9F-E002-044D-1AAF-9789E19F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16" y="163487"/>
            <a:ext cx="10515600" cy="974577"/>
          </a:xfrm>
        </p:spPr>
        <p:txBody>
          <a:bodyPr/>
          <a:lstStyle/>
          <a:p>
            <a:r>
              <a:rPr lang="zh-CN" altLang="en-US" dirty="0"/>
              <a:t>预期优化效果对比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AC49DA7-C6E1-1461-99C0-C82D21B79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63574"/>
              </p:ext>
            </p:extLst>
          </p:nvPr>
        </p:nvGraphicFramePr>
        <p:xfrm>
          <a:off x="794815" y="1122257"/>
          <a:ext cx="1060236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026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1290918">
                  <a:extLst>
                    <a:ext uri="{9D8B030D-6E8A-4147-A177-3AD203B41FA5}">
                      <a16:colId xmlns:a16="http://schemas.microsoft.com/office/drawing/2014/main" val="3827209817"/>
                    </a:ext>
                  </a:extLst>
                </a:gridCol>
                <a:gridCol w="3282124">
                  <a:extLst>
                    <a:ext uri="{9D8B030D-6E8A-4147-A177-3AD203B41FA5}">
                      <a16:colId xmlns:a16="http://schemas.microsoft.com/office/drawing/2014/main" val="3873500286"/>
                    </a:ext>
                  </a:extLst>
                </a:gridCol>
                <a:gridCol w="1293613">
                  <a:extLst>
                    <a:ext uri="{9D8B030D-6E8A-4147-A177-3AD203B41FA5}">
                      <a16:colId xmlns:a16="http://schemas.microsoft.com/office/drawing/2014/main" val="3207409823"/>
                    </a:ext>
                  </a:extLst>
                </a:gridCol>
                <a:gridCol w="2040216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658472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</a:tblGrid>
              <a:tr h="3174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准确率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成本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41256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1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依靠人工翻译排故手册，每次编写排故方案时都需先翻译再撰写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分钟</a:t>
                      </a:r>
                      <a:r>
                        <a:rPr lang="en-US" altLang="zh-CN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小时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25101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利用</a:t>
                      </a:r>
                      <a:r>
                        <a:rPr lang="en-US" altLang="zh-CN" sz="1600" b="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进行翻译，并人工进行微调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223224"/>
                  </a:ext>
                </a:extLst>
              </a:tr>
              <a:tr h="326315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2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  <a:tr h="3351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671960"/>
                  </a:ext>
                </a:extLst>
              </a:tr>
              <a:tr h="33136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3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8077"/>
                  </a:ext>
                </a:extLst>
              </a:tr>
              <a:tr h="3313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234962"/>
                  </a:ext>
                </a:extLst>
              </a:tr>
              <a:tr h="33136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4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366243"/>
                  </a:ext>
                </a:extLst>
              </a:tr>
              <a:tr h="3313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210609"/>
                  </a:ext>
                </a:extLst>
              </a:tr>
              <a:tr h="209109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5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283433"/>
                  </a:ext>
                </a:extLst>
              </a:tr>
              <a:tr h="20910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948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0FA9F-E002-044D-1AAF-9789E19F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16" y="163487"/>
            <a:ext cx="10515600" cy="974577"/>
          </a:xfrm>
        </p:spPr>
        <p:txBody>
          <a:bodyPr/>
          <a:lstStyle/>
          <a:p>
            <a:r>
              <a:rPr lang="zh-CN" altLang="en-US" dirty="0"/>
              <a:t>不同部署方案效果对比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AC49DA7-C6E1-1461-99C0-C82D21B79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352465"/>
              </p:ext>
            </p:extLst>
          </p:nvPr>
        </p:nvGraphicFramePr>
        <p:xfrm>
          <a:off x="794815" y="1138064"/>
          <a:ext cx="1060236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026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1290918">
                  <a:extLst>
                    <a:ext uri="{9D8B030D-6E8A-4147-A177-3AD203B41FA5}">
                      <a16:colId xmlns:a16="http://schemas.microsoft.com/office/drawing/2014/main" val="3827209817"/>
                    </a:ext>
                  </a:extLst>
                </a:gridCol>
                <a:gridCol w="3039035">
                  <a:extLst>
                    <a:ext uri="{9D8B030D-6E8A-4147-A177-3AD203B41FA5}">
                      <a16:colId xmlns:a16="http://schemas.microsoft.com/office/drawing/2014/main" val="3873500286"/>
                    </a:ext>
                  </a:extLst>
                </a:gridCol>
                <a:gridCol w="1536702">
                  <a:extLst>
                    <a:ext uri="{9D8B030D-6E8A-4147-A177-3AD203B41FA5}">
                      <a16:colId xmlns:a16="http://schemas.microsoft.com/office/drawing/2014/main" val="3207409823"/>
                    </a:ext>
                  </a:extLst>
                </a:gridCol>
                <a:gridCol w="2040216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658472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</a:tblGrid>
              <a:tr h="3174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优化方案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准确率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41256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利用本地部署的翻译模型进行翻译，并人工调整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25101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利用公开模型</a:t>
                      </a:r>
                      <a:r>
                        <a:rPr lang="en-US" altLang="zh-CN" sz="1600" dirty="0"/>
                        <a:t>(GPT4.0)</a:t>
                      </a:r>
                      <a:r>
                        <a:rPr lang="zh-CN" altLang="en-US" sz="1600" dirty="0"/>
                        <a:t>进行翻译，并人工进行微调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223224"/>
                  </a:ext>
                </a:extLst>
              </a:tr>
              <a:tr h="326315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  <a:tr h="3351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671960"/>
                  </a:ext>
                </a:extLst>
              </a:tr>
              <a:tr h="331362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8077"/>
                  </a:ext>
                </a:extLst>
              </a:tr>
              <a:tr h="3313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234962"/>
                  </a:ext>
                </a:extLst>
              </a:tr>
              <a:tr h="331362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366243"/>
                  </a:ext>
                </a:extLst>
              </a:tr>
              <a:tr h="3313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210609"/>
                  </a:ext>
                </a:extLst>
              </a:tr>
              <a:tr h="20910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283433"/>
                  </a:ext>
                </a:extLst>
              </a:tr>
              <a:tr h="20910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948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870719"/>
      </p:ext>
    </p:extLst>
  </p:cSld>
  <p:clrMapOvr>
    <a:masterClrMapping/>
  </p:clrMapOvr>
</p:sld>
</file>

<file path=ppt/theme/theme1.xml><?xml version="1.0" encoding="utf-8"?>
<a:theme xmlns:a="http://schemas.openxmlformats.org/drawingml/2006/main" name="Ameco  - 华北航线(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Ameco  - 华北航线(2)</Template>
  <TotalTime>562</TotalTime>
  <Words>125</Words>
  <Application>Microsoft Office PowerPoint</Application>
  <PresentationFormat>宽屏</PresentationFormat>
  <Paragraphs>49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微软雅黑</vt:lpstr>
      <vt:lpstr>微软雅黑</vt:lpstr>
      <vt:lpstr>微软雅黑 Light</vt:lpstr>
      <vt:lpstr>Arial</vt:lpstr>
      <vt:lpstr>Bebas Neue</vt:lpstr>
      <vt:lpstr>Segoe UI Light</vt:lpstr>
      <vt:lpstr>Ameco  - 华北航线(2)</vt:lpstr>
      <vt:lpstr>预期优化效果对比</vt:lpstr>
      <vt:lpstr>不同部署方案效果对比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</cp:lastModifiedBy>
  <cp:revision>26</cp:revision>
  <dcterms:created xsi:type="dcterms:W3CDTF">2024-07-16T12:02:24Z</dcterms:created>
  <dcterms:modified xsi:type="dcterms:W3CDTF">2024-07-17T08:38:32Z</dcterms:modified>
</cp:coreProperties>
</file>