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61" r:id="rId2"/>
    <p:sldId id="263" r:id="rId3"/>
    <p:sldId id="265" r:id="rId4"/>
    <p:sldId id="279" r:id="rId5"/>
    <p:sldId id="289" r:id="rId6"/>
    <p:sldId id="292" r:id="rId7"/>
    <p:sldId id="293" r:id="rId8"/>
    <p:sldId id="294" r:id="rId9"/>
    <p:sldId id="290" r:id="rId10"/>
    <p:sldId id="295" r:id="rId11"/>
    <p:sldId id="291" r:id="rId12"/>
    <p:sldId id="282" r:id="rId13"/>
    <p:sldId id="296" r:id="rId14"/>
    <p:sldId id="286" r:id="rId15"/>
    <p:sldId id="280" r:id="rId16"/>
    <p:sldId id="276" r:id="rId17"/>
    <p:sldId id="298" r:id="rId18"/>
    <p:sldId id="273" r:id="rId19"/>
    <p:sldId id="297" r:id="rId20"/>
    <p:sldId id="270" r:id="rId21"/>
    <p:sldId id="277" r:id="rId22"/>
    <p:sldId id="264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000"/>
    <a:srgbClr val="E2DD00"/>
    <a:srgbClr val="F8F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90396" autoAdjust="0"/>
  </p:normalViewPr>
  <p:slideViewPr>
    <p:cSldViewPr snapToGrid="0">
      <p:cViewPr varScale="1">
        <p:scale>
          <a:sx n="114" d="100"/>
          <a:sy n="114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76101-EED7-4A34-84A2-70206600A9A5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36D17D-1DC6-4DF0-9F78-A519B4D593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63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36D17D-1DC6-4DF0-9F78-A519B4D593EA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482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DD940-6ACC-5EFD-43DD-4FC2FE7FF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0E8584F-175A-EC63-17EB-F9DE397361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918928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E26DFD-4A50-848E-3CAC-603E7FC84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BFA4C0-6513-A6D3-1C43-04DC70E51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2170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C37C6A-E4F0-DC23-0884-72B39327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1065E1-053A-CC5B-5680-0FA17D172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F6A516-AE67-9012-5287-2B17FD2D63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AC506E-A93B-9B06-7C54-CF0416EAF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AC20FE-F887-1494-644C-0FECAFCD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482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E6523-7EDF-CD13-0E48-AD3BBDB08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7A5137-DE93-37A6-0DD5-5BA673E38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7EBB9F-50F7-8A19-39D5-5008F145F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F1151-1834-95EA-EC3D-43DF0AADC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1C0243-6942-7E91-EBB3-41F0F8FF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F457D0-E561-55BB-BAB0-F6BD23AF6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896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30ED6-9687-0BA5-B7A6-1BD196FD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4B27E5-BB55-FE32-7402-E0FFC9D07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AE20E2-54D6-C3EA-C702-E51027A1E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AB0D97-2A52-1DB7-1F9C-6009B46772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F6DB788-7D9B-28CE-2A38-DB7663511F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570E86-FEB9-33C2-C86A-49243FAB8B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4FF91D6-EACD-1A53-BC8A-C67C373E2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7C56D9-CDE9-0915-2FF1-3B602B166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572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3B918-05CB-E30C-30A5-68872D6C8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83202A-294B-3AB7-2A0B-FB3D568C94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B0FC58-8B68-7FCA-EF97-F6B291CC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48C62B-2342-05FE-6D75-67E152CC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115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D763244-6F5D-AA2C-6BE8-D1921A9106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0CE3833-E10A-559C-103C-55D81BCE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293B01-0767-414F-AA62-0ECD4C3E9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565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FA40D-040E-45AE-9333-0FD9B6FE1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7E93DE-85C4-75BE-9269-4C44BBC00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F458DC-B680-71A3-7C67-082DD9C9B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B5D202-98C8-20FF-B93B-58945A8639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DD3CCB-2746-7A8B-E1F6-06FE8EA7E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008BC1-46C4-C4F9-6A1D-FD05F5DA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8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33906-579B-2A27-1C0B-4F27C15ED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900D636-D380-779E-5DD7-E19E145956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187FA7B-4E8C-DF75-15D9-E4BC53FED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7CA4B2-5636-0C37-A98F-1EA9AAD56F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B5753D-4639-2219-5648-14C3AD608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29923F-00C9-4D14-6CBC-7508617E1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296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9648D-D24C-0849-103B-7E84621A5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E42F3EA-89B9-D153-5F48-2754D4CA85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F05D46-546C-D0E0-F21E-26B3AFE2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6D2DFD-2B0C-4BDA-B74C-18FCB716D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11057-0B6B-ED78-30F9-F5E224166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81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89BD5E-CDF7-4803-A379-BA8A590A0B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195285-E3BB-D407-4177-C93FAA009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2AC4F1-D200-1E3B-B612-23F55E83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E204D01-A0BE-4DD5-A6E4-9A3194FF2F21}" type="datetimeFigureOut">
              <a:rPr lang="zh-CN" altLang="en-US" smtClean="0"/>
              <a:t>2024/11/18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AE10CF-B597-4DB3-3B58-53B17DFA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9113" y="5874728"/>
            <a:ext cx="310763" cy="29889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1349E5-6076-1884-B06F-13B026806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FE5DAB9-74E8-4359-93D2-191F967484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602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16BBC9-12F4-D2A3-0314-766DD9475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5" y="412831"/>
            <a:ext cx="10515600" cy="9745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F9501F-C562-3754-8C1C-F58FF110F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532" y="1499627"/>
            <a:ext cx="1035455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8" name="Rectangle 17">
            <a:extLst>
              <a:ext uri="{FF2B5EF4-FFF2-40B4-BE49-F238E27FC236}">
                <a16:creationId xmlns:a16="http://schemas.microsoft.com/office/drawing/2014/main" id="{7B73A878-8A85-530F-D496-E50C6E4F9B26}"/>
              </a:ext>
            </a:extLst>
          </p:cNvPr>
          <p:cNvSpPr/>
          <p:nvPr/>
        </p:nvSpPr>
        <p:spPr>
          <a:xfrm>
            <a:off x="0" y="105968"/>
            <a:ext cx="435935" cy="904550"/>
          </a:xfrm>
          <a:prstGeom prst="rect">
            <a:avLst/>
          </a:prstGeom>
          <a:solidFill>
            <a:srgbClr val="1E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05" dirty="0"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7D02A99-77F7-0209-E3DC-A260FFBA8E36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email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39865"/>
          <a:stretch/>
        </p:blipFill>
        <p:spPr>
          <a:xfrm>
            <a:off x="10630938" y="6237911"/>
            <a:ext cx="1521703" cy="51472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CC47C38-DEA7-F4D0-423D-8443B90D8C9A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9865"/>
          <a:stretch/>
        </p:blipFill>
        <p:spPr>
          <a:xfrm>
            <a:off x="10633826" y="6222671"/>
            <a:ext cx="1521703" cy="514726"/>
          </a:xfrm>
          <a:prstGeom prst="rect">
            <a:avLst/>
          </a:prstGeom>
        </p:spPr>
      </p:pic>
      <p:sp>
        <p:nvSpPr>
          <p:cNvPr id="11" name="TextBox 16">
            <a:extLst>
              <a:ext uri="{FF2B5EF4-FFF2-40B4-BE49-F238E27FC236}">
                <a16:creationId xmlns:a16="http://schemas.microsoft.com/office/drawing/2014/main" id="{8BA5DFFA-9798-C160-4F07-14F67AF4EBAD}"/>
              </a:ext>
            </a:extLst>
          </p:cNvPr>
          <p:cNvSpPr txBox="1"/>
          <p:nvPr/>
        </p:nvSpPr>
        <p:spPr>
          <a:xfrm rot="16200000">
            <a:off x="-658313" y="4534942"/>
            <a:ext cx="23214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i="0" spc="600" dirty="0">
                <a:latin typeface="Bebas Neue" charset="0"/>
                <a:ea typeface="Bebas Neue" charset="0"/>
                <a:cs typeface="Bebas Neue" charset="0"/>
              </a:rPr>
              <a:t>www.datamesh.com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399FB5CA-1654-F537-45BC-2F69C063AA9A}"/>
              </a:ext>
            </a:extLst>
          </p:cNvPr>
          <p:cNvSpPr txBox="1">
            <a:spLocks/>
          </p:cNvSpPr>
          <p:nvPr/>
        </p:nvSpPr>
        <p:spPr>
          <a:xfrm>
            <a:off x="171258" y="6071017"/>
            <a:ext cx="629079" cy="489496"/>
          </a:xfrm>
          <a:prstGeom prst="rect">
            <a:avLst/>
          </a:prstGeom>
        </p:spPr>
        <p:txBody>
          <a:bodyPr vert="horz" wrap="none" lIns="121920" tIns="60960" rIns="121920" bIns="6096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400" b="1" i="0" smtClean="0">
                <a:solidFill>
                  <a:schemeClr val="accent1"/>
                </a:solidFill>
                <a:latin typeface="Bebas Neue" charset="0"/>
                <a:ea typeface="Bebas Neue" charset="0"/>
                <a:cs typeface="Bebas Neue" charset="0"/>
              </a:rPr>
              <a:pPr algn="ctr"/>
              <a:t>‹#›</a:t>
            </a:fld>
            <a:endParaRPr lang="en-US" sz="1400" b="1" i="0" dirty="0">
              <a:solidFill>
                <a:schemeClr val="accent1"/>
              </a:solidFill>
              <a:latin typeface="Bebas Neue" charset="0"/>
              <a:ea typeface="Bebas Neue" charset="0"/>
              <a:cs typeface="Bebas Neue" charset="0"/>
            </a:endParaRPr>
          </a:p>
        </p:txBody>
      </p:sp>
      <p:grpSp>
        <p:nvGrpSpPr>
          <p:cNvPr id="13" name="Group 20">
            <a:extLst>
              <a:ext uri="{FF2B5EF4-FFF2-40B4-BE49-F238E27FC236}">
                <a16:creationId xmlns:a16="http://schemas.microsoft.com/office/drawing/2014/main" id="{D0851872-4CF6-B6E1-B010-620BEB9C10A4}"/>
              </a:ext>
            </a:extLst>
          </p:cNvPr>
          <p:cNvGrpSpPr/>
          <p:nvPr/>
        </p:nvGrpSpPr>
        <p:grpSpPr>
          <a:xfrm>
            <a:off x="450499" y="6527216"/>
            <a:ext cx="89313" cy="330784"/>
            <a:chOff x="1569366" y="5427922"/>
            <a:chExt cx="89313" cy="330784"/>
          </a:xfrm>
        </p:grpSpPr>
        <p:cxnSp>
          <p:nvCxnSpPr>
            <p:cNvPr id="14" name="Straight Connector 18">
              <a:extLst>
                <a:ext uri="{FF2B5EF4-FFF2-40B4-BE49-F238E27FC236}">
                  <a16:creationId xmlns:a16="http://schemas.microsoft.com/office/drawing/2014/main" id="{1D96F396-1375-5AE4-149B-5F79A2EAB332}"/>
                </a:ext>
              </a:extLst>
            </p:cNvPr>
            <p:cNvCxnSpPr/>
            <p:nvPr userDrawn="1"/>
          </p:nvCxnSpPr>
          <p:spPr>
            <a:xfrm>
              <a:off x="1614022" y="5435364"/>
              <a:ext cx="0" cy="32334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riangle 19">
              <a:extLst>
                <a:ext uri="{FF2B5EF4-FFF2-40B4-BE49-F238E27FC236}">
                  <a16:creationId xmlns:a16="http://schemas.microsoft.com/office/drawing/2014/main" id="{0DB32C93-797E-8E86-BAE2-4942469DBC11}"/>
                </a:ext>
              </a:extLst>
            </p:cNvPr>
            <p:cNvSpPr/>
            <p:nvPr userDrawn="1"/>
          </p:nvSpPr>
          <p:spPr>
            <a:xfrm>
              <a:off x="1569366" y="5427922"/>
              <a:ext cx="89313" cy="45719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6940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jvftpssxlgs.feishu.cn/docx/ShjsdJOUooecmZxLp4bcFG04nwc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C0B326-42D2-FA27-E76F-C5790D3381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Ameco</a:t>
            </a:r>
            <a:r>
              <a:rPr lang="zh-CN" altLang="en-US" dirty="0"/>
              <a:t>华北航线项目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5570831-E5BB-AE35-2E78-D1673DB66B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/>
          </a:p>
          <a:p>
            <a:r>
              <a:rPr lang="en-US" altLang="zh-CN" dirty="0"/>
              <a:t>240717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604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44E93-B381-694C-9642-281166F05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546" y="32458"/>
            <a:ext cx="10515600" cy="974577"/>
          </a:xfrm>
        </p:spPr>
        <p:txBody>
          <a:bodyPr/>
          <a:lstStyle/>
          <a:p>
            <a:r>
              <a:rPr lang="zh-CN" altLang="en-US" dirty="0"/>
              <a:t>当前现状</a:t>
            </a:r>
            <a:r>
              <a:rPr lang="en-US" altLang="zh-CN" dirty="0"/>
              <a:t>——</a:t>
            </a:r>
            <a:r>
              <a:rPr lang="zh-CN" altLang="en-US" dirty="0"/>
              <a:t>业务流程梳理和痛点描述</a:t>
            </a:r>
          </a:p>
        </p:txBody>
      </p:sp>
      <p:pic>
        <p:nvPicPr>
          <p:cNvPr id="10" name="内容占位符 9" descr="表格&#10;&#10;描述已自动生成">
            <a:extLst>
              <a:ext uri="{FF2B5EF4-FFF2-40B4-BE49-F238E27FC236}">
                <a16:creationId xmlns:a16="http://schemas.microsoft.com/office/drawing/2014/main" id="{99BAAD91-EE3A-3B7B-A342-79137388BB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183" y="779933"/>
            <a:ext cx="11084560" cy="5973891"/>
          </a:xfrm>
        </p:spPr>
      </p:pic>
    </p:spTree>
    <p:extLst>
      <p:ext uri="{BB962C8B-B14F-4D97-AF65-F5344CB8AC3E}">
        <p14:creationId xmlns:p14="http://schemas.microsoft.com/office/powerpoint/2010/main" val="3983468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3CF63-24DF-29C1-F08C-D997C1C8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</a:p>
        </p:txBody>
      </p:sp>
      <p:pic>
        <p:nvPicPr>
          <p:cNvPr id="5" name="内容占位符 4" descr="手机屏幕截图&#10;&#10;描述已自动生成">
            <a:extLst>
              <a:ext uri="{FF2B5EF4-FFF2-40B4-BE49-F238E27FC236}">
                <a16:creationId xmlns:a16="http://schemas.microsoft.com/office/drawing/2014/main" id="{A566EAAE-ECE5-1C01-E98D-081CD4173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835" y="708827"/>
            <a:ext cx="3488655" cy="2197213"/>
          </a:xfrm>
        </p:spPr>
      </p:pic>
      <p:pic>
        <p:nvPicPr>
          <p:cNvPr id="18" name="图片 17" descr="手机屏幕截图&#10;&#10;描述已自动生成">
            <a:extLst>
              <a:ext uri="{FF2B5EF4-FFF2-40B4-BE49-F238E27FC236}">
                <a16:creationId xmlns:a16="http://schemas.microsoft.com/office/drawing/2014/main" id="{1B9E9B54-A004-CE5F-E844-F9809DF85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4835" y="3429000"/>
            <a:ext cx="3488655" cy="2209220"/>
          </a:xfrm>
          <a:prstGeom prst="rect">
            <a:avLst/>
          </a:prstGeom>
        </p:spPr>
      </p:pic>
      <p:pic>
        <p:nvPicPr>
          <p:cNvPr id="21" name="图片 20" descr="图示&#10;&#10;描述已自动生成">
            <a:extLst>
              <a:ext uri="{FF2B5EF4-FFF2-40B4-BE49-F238E27FC236}">
                <a16:creationId xmlns:a16="http://schemas.microsoft.com/office/drawing/2014/main" id="{08DA2968-2673-E4CC-FE93-10FAF05AC7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194" y="1638155"/>
            <a:ext cx="6525944" cy="4406332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ED4532AD-97D0-7994-886E-9E2FC359570E}"/>
              </a:ext>
            </a:extLst>
          </p:cNvPr>
          <p:cNvSpPr txBox="1"/>
          <p:nvPr/>
        </p:nvSpPr>
        <p:spPr>
          <a:xfrm>
            <a:off x="980907" y="1069908"/>
            <a:ext cx="651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业务现状：产生业务痛点①和②</a:t>
            </a:r>
          </a:p>
        </p:txBody>
      </p:sp>
    </p:spTree>
    <p:extLst>
      <p:ext uri="{BB962C8B-B14F-4D97-AF65-F5344CB8AC3E}">
        <p14:creationId xmlns:p14="http://schemas.microsoft.com/office/powerpoint/2010/main" val="1116128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3CF63-24DF-29C1-F08C-D997C1C8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-TSM</a:t>
            </a:r>
            <a:r>
              <a:rPr lang="zh-CN" altLang="en-US" dirty="0"/>
              <a:t>解析</a:t>
            </a:r>
            <a:r>
              <a:rPr lang="en-US" altLang="zh-CN" dirty="0"/>
              <a:t>/</a:t>
            </a:r>
            <a:r>
              <a:rPr lang="zh-CN" altLang="en-US" dirty="0"/>
              <a:t>润色和翻译</a:t>
            </a:r>
          </a:p>
        </p:txBody>
      </p:sp>
      <p:pic>
        <p:nvPicPr>
          <p:cNvPr id="5" name="内容占位符 4" descr="手机屏幕截图&#10;&#10;描述已自动生成">
            <a:extLst>
              <a:ext uri="{FF2B5EF4-FFF2-40B4-BE49-F238E27FC236}">
                <a16:creationId xmlns:a16="http://schemas.microsoft.com/office/drawing/2014/main" id="{A566EAAE-ECE5-1C01-E98D-081CD4173C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814" y="1069908"/>
            <a:ext cx="3488655" cy="2197213"/>
          </a:xfrm>
        </p:spPr>
      </p:pic>
      <p:pic>
        <p:nvPicPr>
          <p:cNvPr id="18" name="图片 17" descr="手机屏幕截图&#10;&#10;描述已自动生成">
            <a:extLst>
              <a:ext uri="{FF2B5EF4-FFF2-40B4-BE49-F238E27FC236}">
                <a16:creationId xmlns:a16="http://schemas.microsoft.com/office/drawing/2014/main" id="{1B9E9B54-A004-CE5F-E844-F9809DF85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815" y="3951961"/>
            <a:ext cx="3488655" cy="2209220"/>
          </a:xfrm>
          <a:prstGeom prst="rect">
            <a:avLst/>
          </a:prstGeom>
        </p:spPr>
      </p:pic>
      <p:pic>
        <p:nvPicPr>
          <p:cNvPr id="22" name="图片 21" descr="图示&#10;&#10;描述已自动生成">
            <a:extLst>
              <a:ext uri="{FF2B5EF4-FFF2-40B4-BE49-F238E27FC236}">
                <a16:creationId xmlns:a16="http://schemas.microsoft.com/office/drawing/2014/main" id="{22864689-FD0A-8096-672F-E7B63562BE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66" y="1261488"/>
            <a:ext cx="7290721" cy="550118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88095C4-C9CA-726C-C425-774A72F534C9}"/>
              </a:ext>
            </a:extLst>
          </p:cNvPr>
          <p:cNvSpPr txBox="1"/>
          <p:nvPr/>
        </p:nvSpPr>
        <p:spPr>
          <a:xfrm>
            <a:off x="905256" y="886968"/>
            <a:ext cx="651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预期流程：通过建立标准库的方式解决业务痛点①和②</a:t>
            </a:r>
          </a:p>
        </p:txBody>
      </p:sp>
    </p:spTree>
    <p:extLst>
      <p:ext uri="{BB962C8B-B14F-4D97-AF65-F5344CB8AC3E}">
        <p14:creationId xmlns:p14="http://schemas.microsoft.com/office/powerpoint/2010/main" val="3993146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DA0B8-798F-DFA8-572F-E783001C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99" y="16065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-TSM</a:t>
            </a:r>
            <a:r>
              <a:rPr lang="zh-CN" altLang="en-US" dirty="0"/>
              <a:t>解析</a:t>
            </a:r>
            <a:r>
              <a:rPr lang="en-US" altLang="zh-CN" dirty="0"/>
              <a:t>/</a:t>
            </a:r>
            <a:r>
              <a:rPr lang="zh-CN" altLang="en-US" dirty="0"/>
              <a:t>润色和翻译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88B6B0-19CC-7523-D0C7-AE3CE409BE60}"/>
              </a:ext>
            </a:extLst>
          </p:cNvPr>
          <p:cNvSpPr txBox="1"/>
          <p:nvPr/>
        </p:nvSpPr>
        <p:spPr>
          <a:xfrm>
            <a:off x="1357900" y="1599099"/>
            <a:ext cx="989417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后台工程师</a:t>
            </a:r>
            <a:r>
              <a:rPr lang="en-US" altLang="zh-CN" dirty="0"/>
              <a:t>【</a:t>
            </a:r>
            <a:r>
              <a:rPr lang="zh-CN" altLang="en-US" dirty="0"/>
              <a:t>上传</a:t>
            </a:r>
            <a:r>
              <a:rPr lang="en-US" altLang="zh-CN" dirty="0"/>
              <a:t>TSM】</a:t>
            </a:r>
          </a:p>
          <a:p>
            <a:endParaRPr lang="en-US" altLang="zh-CN" dirty="0"/>
          </a:p>
          <a:p>
            <a:r>
              <a:rPr lang="zh-CN" altLang="en-US" b="1" dirty="0"/>
              <a:t>系统</a:t>
            </a:r>
            <a:r>
              <a:rPr lang="en-US" altLang="zh-CN" dirty="0"/>
              <a:t>【</a:t>
            </a:r>
            <a:r>
              <a:rPr lang="zh-CN" altLang="en-US" dirty="0"/>
              <a:t>生成方案底稿</a:t>
            </a:r>
            <a:r>
              <a:rPr lang="en-US" altLang="zh-CN" dirty="0"/>
              <a:t>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逐故障的，中英对照的</a:t>
            </a:r>
            <a:r>
              <a:rPr lang="zh-CN" altLang="zh-CN" dirty="0"/>
              <a:t>维修流程图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逐故障的，中英对照文字描述步骤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zh-CN" altLang="en-US" b="1" dirty="0"/>
              <a:t>后台工程师</a:t>
            </a:r>
            <a:r>
              <a:rPr lang="en-US" altLang="zh-CN" dirty="0"/>
              <a:t>【</a:t>
            </a:r>
            <a:r>
              <a:rPr lang="zh-CN" altLang="en-US" dirty="0"/>
              <a:t>修改润色方案底稿</a:t>
            </a:r>
            <a:r>
              <a:rPr lang="en-US" altLang="zh-CN" dirty="0"/>
              <a:t>】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基于流程图编辑器进行如下操作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已有流程图的增减步骤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多流程图合并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特定权限的人能够进行翻译校验，修改过程留痕。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划线批注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中英文单词的实时高亮对照</a:t>
            </a:r>
            <a:endParaRPr lang="en-US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zh-CN" altLang="en-US" b="1" dirty="0"/>
              <a:t>后台工程师</a:t>
            </a:r>
            <a:r>
              <a:rPr lang="en-US" altLang="zh-CN" dirty="0"/>
              <a:t>【</a:t>
            </a:r>
            <a:r>
              <a:rPr lang="zh-CN" altLang="en-US" dirty="0"/>
              <a:t>提交审核</a:t>
            </a:r>
            <a:r>
              <a:rPr lang="en-US" altLang="zh-CN" dirty="0"/>
              <a:t>】</a:t>
            </a:r>
            <a:r>
              <a:rPr lang="zh-CN" altLang="en-US" dirty="0"/>
              <a:t>、</a:t>
            </a:r>
            <a:r>
              <a:rPr lang="zh-CN" altLang="en-US" b="1" dirty="0"/>
              <a:t>审核工程师</a:t>
            </a:r>
            <a:r>
              <a:rPr lang="en-US" altLang="zh-CN" dirty="0"/>
              <a:t>【</a:t>
            </a:r>
            <a:r>
              <a:rPr lang="zh-CN" altLang="en-US" dirty="0"/>
              <a:t>执行审核</a:t>
            </a:r>
            <a:r>
              <a:rPr lang="en-US" altLang="zh-CN" dirty="0"/>
              <a:t>】</a:t>
            </a:r>
          </a:p>
          <a:p>
            <a:endParaRPr lang="en-US" altLang="zh-CN" dirty="0"/>
          </a:p>
          <a:p>
            <a:r>
              <a:rPr lang="zh-CN" altLang="en-US" b="1" dirty="0"/>
              <a:t>后台工程师</a:t>
            </a:r>
            <a:r>
              <a:rPr lang="en-US" altLang="zh-CN" dirty="0"/>
              <a:t>【</a:t>
            </a:r>
            <a:r>
              <a:rPr lang="zh-CN" altLang="en-US" dirty="0"/>
              <a:t>定稿发布、入库</a:t>
            </a:r>
            <a:r>
              <a:rPr lang="en-US" altLang="zh-CN" dirty="0"/>
              <a:t>】</a:t>
            </a:r>
          </a:p>
          <a:p>
            <a:r>
              <a:rPr lang="zh-CN" altLang="en-US" dirty="0"/>
              <a:t>审核通过后，定稿标准排故流程，发布到</a:t>
            </a:r>
            <a:r>
              <a:rPr lang="en-US" altLang="zh-CN" dirty="0"/>
              <a:t>【</a:t>
            </a:r>
            <a:r>
              <a:rPr lang="zh-CN" altLang="en-US" dirty="0"/>
              <a:t>排故方案库</a:t>
            </a:r>
            <a:r>
              <a:rPr lang="en-US" altLang="zh-CN" dirty="0"/>
              <a:t>】</a:t>
            </a:r>
          </a:p>
        </p:txBody>
      </p:sp>
      <p:pic>
        <p:nvPicPr>
          <p:cNvPr id="22" name="图片 21" descr="图示&#10;&#10;描述已自动生成">
            <a:extLst>
              <a:ext uri="{FF2B5EF4-FFF2-40B4-BE49-F238E27FC236}">
                <a16:creationId xmlns:a16="http://schemas.microsoft.com/office/drawing/2014/main" id="{CC015221-A49E-EBFC-841E-6436B3E16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162" y="1064038"/>
            <a:ext cx="5409314" cy="261937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F9F3684-51D0-9D59-8AA2-4767D6C56A24}"/>
              </a:ext>
            </a:extLst>
          </p:cNvPr>
          <p:cNvSpPr txBox="1"/>
          <p:nvPr/>
        </p:nvSpPr>
        <p:spPr>
          <a:xfrm>
            <a:off x="639374" y="1064038"/>
            <a:ext cx="5000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预期的用户使用流程：</a:t>
            </a:r>
          </a:p>
        </p:txBody>
      </p:sp>
    </p:spTree>
    <p:extLst>
      <p:ext uri="{BB962C8B-B14F-4D97-AF65-F5344CB8AC3E}">
        <p14:creationId xmlns:p14="http://schemas.microsoft.com/office/powerpoint/2010/main" val="3565070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E7563-213A-4EB2-2E4F-BD7AE56A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8F945A-B916-C90D-2A1D-7FD6F9C8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C242D8-6D35-3E1E-C059-14CADC717E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内容占位符 4" descr="图形用户界面, 应用程序&#10;&#10;描述已自动生成">
            <a:extLst>
              <a:ext uri="{FF2B5EF4-FFF2-40B4-BE49-F238E27FC236}">
                <a16:creationId xmlns:a16="http://schemas.microsoft.com/office/drawing/2014/main" id="{565FAE9B-3273-BE99-94C3-5CB2BA344C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31" y="320387"/>
            <a:ext cx="10932863" cy="6124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4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E7563-213A-4EB2-2E4F-BD7AE56A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8F945A-B916-C90D-2A1D-7FD6F9C8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C242D8-6D35-3E1E-C059-14CADC717E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图表&#10;&#10;描述已自动生成">
            <a:extLst>
              <a:ext uri="{FF2B5EF4-FFF2-40B4-BE49-F238E27FC236}">
                <a16:creationId xmlns:a16="http://schemas.microsoft.com/office/drawing/2014/main" id="{5993C356-5A95-3EA5-EE71-B078D26FD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856" y="412831"/>
            <a:ext cx="10400256" cy="5917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504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AE7563-213A-4EB2-2E4F-BD7AE56A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C242D8-6D35-3E1E-C059-14CADC717E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内容占位符 6" descr="图表&#10;&#10;描述已自动生成">
            <a:extLst>
              <a:ext uri="{FF2B5EF4-FFF2-40B4-BE49-F238E27FC236}">
                <a16:creationId xmlns:a16="http://schemas.microsoft.com/office/drawing/2014/main" id="{2EE34EEF-E927-4363-EF98-2E21CEDE67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110" y="406548"/>
            <a:ext cx="10478666" cy="6032338"/>
          </a:xfrm>
        </p:spPr>
      </p:pic>
    </p:spTree>
    <p:extLst>
      <p:ext uri="{BB962C8B-B14F-4D97-AF65-F5344CB8AC3E}">
        <p14:creationId xmlns:p14="http://schemas.microsoft.com/office/powerpoint/2010/main" val="3092266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DA0B8-798F-DFA8-572F-E783001C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99" y="16065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-TSM</a:t>
            </a:r>
            <a:r>
              <a:rPr lang="zh-CN" altLang="en-US" dirty="0"/>
              <a:t>解析</a:t>
            </a:r>
            <a:r>
              <a:rPr lang="en-US" altLang="zh-CN" dirty="0"/>
              <a:t>/</a:t>
            </a:r>
            <a:r>
              <a:rPr lang="zh-CN" altLang="en-US" dirty="0"/>
              <a:t>润色</a:t>
            </a:r>
            <a:r>
              <a:rPr lang="en-US" altLang="zh-CN" dirty="0"/>
              <a:t>/</a:t>
            </a:r>
            <a:r>
              <a:rPr lang="zh-CN" altLang="en-US" dirty="0"/>
              <a:t>翻译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88B6B0-19CC-7523-D0C7-AE3CE409BE60}"/>
              </a:ext>
            </a:extLst>
          </p:cNvPr>
          <p:cNvSpPr txBox="1"/>
          <p:nvPr/>
        </p:nvSpPr>
        <p:spPr>
          <a:xfrm>
            <a:off x="1003622" y="1770655"/>
            <a:ext cx="989417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1.TSM</a:t>
            </a:r>
            <a:r>
              <a:rPr lang="zh-CN" altLang="en-US" dirty="0"/>
              <a:t>解析：传统的软件工程方法：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形成英文的</a:t>
            </a:r>
            <a:r>
              <a:rPr lang="en-US" altLang="zh-CN" b="1" dirty="0"/>
              <a:t>【</a:t>
            </a:r>
            <a:r>
              <a:rPr lang="zh-CN" altLang="en-US" b="1" dirty="0"/>
              <a:t>故障</a:t>
            </a:r>
            <a:r>
              <a:rPr lang="en-US" altLang="zh-CN" b="1" dirty="0"/>
              <a:t>-</a:t>
            </a:r>
            <a:r>
              <a:rPr lang="zh-CN" altLang="en-US" b="1" dirty="0"/>
              <a:t>排故方案</a:t>
            </a:r>
            <a:r>
              <a:rPr lang="en-US" altLang="zh-CN" b="1" dirty="0"/>
              <a:t>】</a:t>
            </a:r>
            <a:r>
              <a:rPr lang="zh-CN" altLang="en-US" b="1" dirty="0"/>
              <a:t>的文字步骤描述</a:t>
            </a:r>
            <a:endParaRPr lang="en-US" altLang="zh-CN" b="1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将文字步骤描述生成流程图：</a:t>
            </a:r>
            <a:endParaRPr lang="en-US" altLang="zh-CN" dirty="0"/>
          </a:p>
          <a:p>
            <a:endParaRPr lang="en-US" altLang="zh-CN" b="1" dirty="0"/>
          </a:p>
          <a:p>
            <a:r>
              <a:rPr lang="zh-CN" altLang="en-US" b="1" dirty="0"/>
              <a:t>通过工程化方法处理文字步骤描述：提取</a:t>
            </a:r>
            <a:r>
              <a:rPr lang="en-US" altLang="zh-CN" b="1" dirty="0"/>
              <a:t>if-else</a:t>
            </a:r>
            <a:r>
              <a:rPr lang="zh-CN" altLang="en-US" b="1" dirty="0"/>
              <a:t>等条件判断节点、通过标题和标号解析步骤层级关系，生成英文的流程图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通过</a:t>
            </a:r>
            <a:r>
              <a:rPr lang="en-US" altLang="zh-CN" dirty="0"/>
              <a:t>RAG</a:t>
            </a:r>
            <a:r>
              <a:rPr lang="zh-CN" altLang="en-US" dirty="0"/>
              <a:t>的方法，即为大语言模型外挂知识库，为解析生成的英文内容，翻译成中文：</a:t>
            </a:r>
            <a:endParaRPr lang="en-US" altLang="zh-CN" dirty="0"/>
          </a:p>
          <a:p>
            <a:endParaRPr lang="en-US" altLang="zh-CN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Helvetica Neue"/>
              </a:rPr>
              <a:t>“当模型需要生成文本或者回答问题时，它会先从一个庞大的文档集合中（知识库）检索出相关的信息，然后利用这些检索到的信息来指导文本的生成，从而提高答复的质量和准确性。”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/>
              <a:t>这里的知识库，指的是航空业的术语表，需要帮用户整理形成标准的术语表。</a:t>
            </a:r>
            <a:endParaRPr lang="en-US" altLang="zh-CN" b="1" dirty="0"/>
          </a:p>
        </p:txBody>
      </p:sp>
      <p:pic>
        <p:nvPicPr>
          <p:cNvPr id="22" name="图片 21" descr="图示&#10;&#10;描述已自动生成">
            <a:extLst>
              <a:ext uri="{FF2B5EF4-FFF2-40B4-BE49-F238E27FC236}">
                <a16:creationId xmlns:a16="http://schemas.microsoft.com/office/drawing/2014/main" id="{CC015221-A49E-EBFC-841E-6436B3E16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2350" y="726453"/>
            <a:ext cx="4715672" cy="228349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F9F3684-51D0-9D59-8AA2-4767D6C56A24}"/>
              </a:ext>
            </a:extLst>
          </p:cNvPr>
          <p:cNvSpPr txBox="1"/>
          <p:nvPr/>
        </p:nvSpPr>
        <p:spPr>
          <a:xfrm>
            <a:off x="639374" y="1064038"/>
            <a:ext cx="5000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关键技术要点：</a:t>
            </a:r>
          </a:p>
        </p:txBody>
      </p:sp>
    </p:spTree>
    <p:extLst>
      <p:ext uri="{BB962C8B-B14F-4D97-AF65-F5344CB8AC3E}">
        <p14:creationId xmlns:p14="http://schemas.microsoft.com/office/powerpoint/2010/main" val="4002942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6F558F-C83A-B3B8-0CF5-3CE75241D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解析</a:t>
            </a:r>
            <a:r>
              <a:rPr lang="en-US" altLang="zh-CN" dirty="0"/>
              <a:t>TSM</a:t>
            </a:r>
            <a:r>
              <a:rPr lang="zh-CN" altLang="en-US" dirty="0"/>
              <a:t>生成的流程图结构</a:t>
            </a:r>
            <a:r>
              <a:rPr lang="en-US" altLang="zh-CN" dirty="0"/>
              <a:t>—</a:t>
            </a:r>
            <a:r>
              <a:rPr lang="zh-CN" altLang="en-US" dirty="0"/>
              <a:t>不含文本内容</a:t>
            </a:r>
          </a:p>
        </p:txBody>
      </p:sp>
      <p:pic>
        <p:nvPicPr>
          <p:cNvPr id="5" name="内容占位符 4" descr="图示, 箱线图&#10;&#10;描述已自动生成">
            <a:extLst>
              <a:ext uri="{FF2B5EF4-FFF2-40B4-BE49-F238E27FC236}">
                <a16:creationId xmlns:a16="http://schemas.microsoft.com/office/drawing/2014/main" id="{73EABA3E-8D2C-DEBD-6A3C-E9700C560B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8049" y="900119"/>
            <a:ext cx="2426556" cy="5131781"/>
          </a:xfrm>
        </p:spPr>
      </p:pic>
      <p:pic>
        <p:nvPicPr>
          <p:cNvPr id="9" name="图片 8" descr="图表, 散点图&#10;&#10;描述已自动生成">
            <a:extLst>
              <a:ext uri="{FF2B5EF4-FFF2-40B4-BE49-F238E27FC236}">
                <a16:creationId xmlns:a16="http://schemas.microsoft.com/office/drawing/2014/main" id="{4641959D-96CF-A070-F5F0-8687DB8528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14" y="2250444"/>
            <a:ext cx="7029686" cy="2918420"/>
          </a:xfrm>
          <a:prstGeom prst="rect">
            <a:avLst/>
          </a:prstGeom>
        </p:spPr>
      </p:pic>
      <p:pic>
        <p:nvPicPr>
          <p:cNvPr id="7" name="图片 6" descr="图表, 散点图&#10;&#10;描述已自动生成">
            <a:extLst>
              <a:ext uri="{FF2B5EF4-FFF2-40B4-BE49-F238E27FC236}">
                <a16:creationId xmlns:a16="http://schemas.microsoft.com/office/drawing/2014/main" id="{75C9389A-1D6E-6A70-B999-25BD3DFAD0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1743" y="47625"/>
            <a:ext cx="1782970" cy="67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830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DA0B8-798F-DFA8-572F-E783001C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99" y="16065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-TSM</a:t>
            </a:r>
            <a:r>
              <a:rPr lang="zh-CN" altLang="en-US" dirty="0"/>
              <a:t>解析</a:t>
            </a:r>
            <a:r>
              <a:rPr lang="en-US" altLang="zh-CN" dirty="0"/>
              <a:t>/</a:t>
            </a:r>
            <a:r>
              <a:rPr lang="zh-CN" altLang="en-US" dirty="0"/>
              <a:t>润色</a:t>
            </a:r>
            <a:r>
              <a:rPr lang="en-US" altLang="zh-CN" dirty="0"/>
              <a:t>/</a:t>
            </a:r>
            <a:r>
              <a:rPr lang="zh-CN" altLang="en-US" dirty="0"/>
              <a:t>翻译</a:t>
            </a:r>
          </a:p>
        </p:txBody>
      </p:sp>
      <p:pic>
        <p:nvPicPr>
          <p:cNvPr id="22" name="图片 21" descr="图示&#10;&#10;描述已自动生成">
            <a:extLst>
              <a:ext uri="{FF2B5EF4-FFF2-40B4-BE49-F238E27FC236}">
                <a16:creationId xmlns:a16="http://schemas.microsoft.com/office/drawing/2014/main" id="{CC015221-A49E-EBFC-841E-6436B3E16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2350" y="726453"/>
            <a:ext cx="4715672" cy="228349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F9F3684-51D0-9D59-8AA2-4767D6C56A24}"/>
              </a:ext>
            </a:extLst>
          </p:cNvPr>
          <p:cNvSpPr txBox="1"/>
          <p:nvPr/>
        </p:nvSpPr>
        <p:spPr>
          <a:xfrm>
            <a:off x="639374" y="1064038"/>
            <a:ext cx="5000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大语言模型的技术选型：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835658-4A24-081F-2F60-26C60EFD69FD}"/>
              </a:ext>
            </a:extLst>
          </p:cNvPr>
          <p:cNvSpPr txBox="1"/>
          <p:nvPr/>
        </p:nvSpPr>
        <p:spPr>
          <a:xfrm>
            <a:off x="1377032" y="4261243"/>
            <a:ext cx="56440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1.</a:t>
            </a:r>
            <a:r>
              <a:rPr lang="zh-CN" altLang="en-US" b="1" dirty="0"/>
              <a:t>具备航空专业词汇的理解和匹配能力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2.</a:t>
            </a:r>
            <a:r>
              <a:rPr lang="zh-CN" altLang="en-US" b="1" dirty="0"/>
              <a:t>行文风格整体易理解，段落层次明确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3.</a:t>
            </a:r>
            <a:r>
              <a:rPr lang="zh-CN" altLang="en-US" b="1" dirty="0"/>
              <a:t>具备语义解析能力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4.</a:t>
            </a:r>
            <a:r>
              <a:rPr lang="zh-CN" altLang="en-US" b="1" dirty="0"/>
              <a:t>具备关键词提取的能力</a:t>
            </a:r>
            <a:endParaRPr lang="en-US" altLang="zh-CN" b="1" dirty="0"/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97CB04-6B4F-B7B3-B1A3-A2A87EE5F921}"/>
              </a:ext>
            </a:extLst>
          </p:cNvPr>
          <p:cNvSpPr txBox="1"/>
          <p:nvPr/>
        </p:nvSpPr>
        <p:spPr>
          <a:xfrm>
            <a:off x="867974" y="3349868"/>
            <a:ext cx="6296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因此，对大语言模型的翻译能力有以下技术指标的要求：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7A5EE2-3EF2-6033-6F5A-CB1845711190}"/>
              </a:ext>
            </a:extLst>
          </p:cNvPr>
          <p:cNvSpPr txBox="1"/>
          <p:nvPr/>
        </p:nvSpPr>
        <p:spPr>
          <a:xfrm>
            <a:off x="867974" y="2089549"/>
            <a:ext cx="6296025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大语言模型在工作流程中，承担了将解析后的英文文本翻译成各工程师可读、可理解、可修改的中文文本的工作</a:t>
            </a:r>
          </a:p>
        </p:txBody>
      </p:sp>
    </p:spTree>
    <p:extLst>
      <p:ext uri="{BB962C8B-B14F-4D97-AF65-F5344CB8AC3E}">
        <p14:creationId xmlns:p14="http://schemas.microsoft.com/office/powerpoint/2010/main" val="8590883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DA0B8-798F-DFA8-572F-E783001C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99" y="16065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 TSM</a:t>
            </a:r>
            <a:r>
              <a:rPr lang="zh-CN" altLang="en-US" dirty="0"/>
              <a:t>解析</a:t>
            </a:r>
            <a:r>
              <a:rPr lang="en-US" altLang="zh-CN" dirty="0"/>
              <a:t>/</a:t>
            </a:r>
            <a:r>
              <a:rPr lang="zh-CN" altLang="en-US" dirty="0"/>
              <a:t>润色</a:t>
            </a:r>
            <a:r>
              <a:rPr lang="en-US" altLang="zh-CN" dirty="0"/>
              <a:t>/</a:t>
            </a:r>
            <a:r>
              <a:rPr lang="zh-CN" altLang="en-US" dirty="0"/>
              <a:t>翻译</a:t>
            </a:r>
          </a:p>
        </p:txBody>
      </p:sp>
      <p:pic>
        <p:nvPicPr>
          <p:cNvPr id="19" name="图片 18" descr="日程表&#10;&#10;中度可信度描述已自动生成">
            <a:extLst>
              <a:ext uri="{FF2B5EF4-FFF2-40B4-BE49-F238E27FC236}">
                <a16:creationId xmlns:a16="http://schemas.microsoft.com/office/drawing/2014/main" id="{25F70E12-E37D-E709-F6DD-33717AEA5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888" y="1944439"/>
            <a:ext cx="3264451" cy="4920150"/>
          </a:xfrm>
          <a:prstGeom prst="rect">
            <a:avLst/>
          </a:prstGeom>
        </p:spPr>
      </p:pic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11DC4292-2AA0-AE1F-B8B1-D32A969A0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220377"/>
              </p:ext>
            </p:extLst>
          </p:nvPr>
        </p:nvGraphicFramePr>
        <p:xfrm>
          <a:off x="838200" y="1545782"/>
          <a:ext cx="10515600" cy="3986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9038">
                  <a:extLst>
                    <a:ext uri="{9D8B030D-6E8A-4147-A177-3AD203B41FA5}">
                      <a16:colId xmlns:a16="http://schemas.microsoft.com/office/drawing/2014/main" val="1395368705"/>
                    </a:ext>
                  </a:extLst>
                </a:gridCol>
                <a:gridCol w="5466562">
                  <a:extLst>
                    <a:ext uri="{9D8B030D-6E8A-4147-A177-3AD203B41FA5}">
                      <a16:colId xmlns:a16="http://schemas.microsoft.com/office/drawing/2014/main" val="3195468126"/>
                    </a:ext>
                  </a:extLst>
                </a:gridCol>
              </a:tblGrid>
              <a:tr h="39865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solidFill>
                            <a:schemeClr val="tx1"/>
                          </a:solidFill>
                        </a:rPr>
                        <a:t>TSM</a:t>
                      </a:r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原文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1" dirty="0">
                          <a:solidFill>
                            <a:schemeClr val="tx1"/>
                          </a:solidFill>
                        </a:rPr>
                        <a:t>翻译结果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820259"/>
                  </a:ext>
                </a:extLst>
              </a:tr>
            </a:tbl>
          </a:graphicData>
        </a:graphic>
      </p:graphicFrame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9D1265FD-CA45-6E95-E4D6-FD9134282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717844"/>
              </p:ext>
            </p:extLst>
          </p:nvPr>
        </p:nvGraphicFramePr>
        <p:xfrm>
          <a:off x="6221690" y="1995320"/>
          <a:ext cx="5132110" cy="44274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0776">
                  <a:extLst>
                    <a:ext uri="{9D8B030D-6E8A-4147-A177-3AD203B41FA5}">
                      <a16:colId xmlns:a16="http://schemas.microsoft.com/office/drawing/2014/main" val="3035766192"/>
                    </a:ext>
                  </a:extLst>
                </a:gridCol>
                <a:gridCol w="3631334">
                  <a:extLst>
                    <a:ext uri="{9D8B030D-6E8A-4147-A177-3AD203B41FA5}">
                      <a16:colId xmlns:a16="http://schemas.microsoft.com/office/drawing/2014/main" val="2107784489"/>
                    </a:ext>
                  </a:extLst>
                </a:gridCol>
              </a:tblGrid>
              <a:tr h="110686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本地部署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5710197"/>
                  </a:ext>
                </a:extLst>
              </a:tr>
              <a:tr h="11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ChatGPT4.0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469055616"/>
                  </a:ext>
                </a:extLst>
              </a:tr>
              <a:tr h="110686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通义千文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236330943"/>
                  </a:ext>
                </a:extLst>
              </a:tr>
              <a:tr h="1106869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KIMI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751971"/>
                  </a:ext>
                </a:extLst>
              </a:tr>
            </a:tbl>
          </a:graphicData>
        </a:graphic>
      </p:graphicFrame>
      <p:pic>
        <p:nvPicPr>
          <p:cNvPr id="26" name="图片 25" descr="文本&#10;&#10;描述已自动生成">
            <a:extLst>
              <a:ext uri="{FF2B5EF4-FFF2-40B4-BE49-F238E27FC236}">
                <a16:creationId xmlns:a16="http://schemas.microsoft.com/office/drawing/2014/main" id="{1E2A87E8-1CCF-6AF3-143A-42B2C96D0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454" y="3070100"/>
            <a:ext cx="1921725" cy="1138958"/>
          </a:xfrm>
          <a:prstGeom prst="rect">
            <a:avLst/>
          </a:prstGeom>
        </p:spPr>
      </p:pic>
      <p:pic>
        <p:nvPicPr>
          <p:cNvPr id="28" name="图片 27" descr="文本, 信件&#10;&#10;描述已自动生成">
            <a:extLst>
              <a:ext uri="{FF2B5EF4-FFF2-40B4-BE49-F238E27FC236}">
                <a16:creationId xmlns:a16="http://schemas.microsoft.com/office/drawing/2014/main" id="{856B26E1-C642-9E0A-ABEF-40B98E151F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4395" y="5395341"/>
            <a:ext cx="995841" cy="965404"/>
          </a:xfrm>
          <a:prstGeom prst="rect">
            <a:avLst/>
          </a:prstGeom>
        </p:spPr>
      </p:pic>
      <p:pic>
        <p:nvPicPr>
          <p:cNvPr id="30" name="图片 29" descr="文本&#10;&#10;描述已自动生成">
            <a:extLst>
              <a:ext uri="{FF2B5EF4-FFF2-40B4-BE49-F238E27FC236}">
                <a16:creationId xmlns:a16="http://schemas.microsoft.com/office/drawing/2014/main" id="{A8C36064-A076-4FF4-B784-D6F4B74A0A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3041" y="1944439"/>
            <a:ext cx="1498552" cy="1141266"/>
          </a:xfrm>
          <a:prstGeom prst="rect">
            <a:avLst/>
          </a:prstGeom>
        </p:spPr>
      </p:pic>
      <p:pic>
        <p:nvPicPr>
          <p:cNvPr id="32" name="图片 31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08FCAA23-7432-236C-5392-D4164413F9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4947" y="4209058"/>
            <a:ext cx="1808232" cy="113540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9B76DAB-4DA7-0A97-98AD-BDAB4FB09269}"/>
              </a:ext>
            </a:extLst>
          </p:cNvPr>
          <p:cNvSpPr txBox="1"/>
          <p:nvPr/>
        </p:nvSpPr>
        <p:spPr>
          <a:xfrm>
            <a:off x="639374" y="1064038"/>
            <a:ext cx="7062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大语言模型的技术选型：</a:t>
            </a:r>
            <a:r>
              <a:rPr lang="en-US" altLang="zh-CN" sz="2400" b="1" dirty="0"/>
              <a:t>TSM</a:t>
            </a:r>
            <a:r>
              <a:rPr lang="zh-CN" altLang="en-US" sz="2400" b="1" dirty="0"/>
              <a:t>原文的翻译测试</a:t>
            </a:r>
          </a:p>
        </p:txBody>
      </p:sp>
    </p:spTree>
    <p:extLst>
      <p:ext uri="{BB962C8B-B14F-4D97-AF65-F5344CB8AC3E}">
        <p14:creationId xmlns:p14="http://schemas.microsoft.com/office/powerpoint/2010/main" val="452548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8DA0B8-798F-DFA8-572F-E783001C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99" y="16065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 TSM</a:t>
            </a:r>
            <a:r>
              <a:rPr lang="zh-CN" altLang="en-US" dirty="0"/>
              <a:t>解析</a:t>
            </a:r>
            <a:r>
              <a:rPr lang="en-US" altLang="zh-CN" dirty="0"/>
              <a:t>/</a:t>
            </a:r>
            <a:r>
              <a:rPr lang="zh-CN" altLang="en-US" dirty="0"/>
              <a:t>润色</a:t>
            </a:r>
            <a:r>
              <a:rPr lang="en-US" altLang="zh-CN" dirty="0"/>
              <a:t>/</a:t>
            </a:r>
            <a:r>
              <a:rPr lang="zh-CN" altLang="en-US" dirty="0"/>
              <a:t>翻译</a:t>
            </a:r>
          </a:p>
        </p:txBody>
      </p: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9D1265FD-CA45-6E95-E4D6-FD9134282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787759"/>
              </p:ext>
            </p:extLst>
          </p:nvPr>
        </p:nvGraphicFramePr>
        <p:xfrm>
          <a:off x="1050834" y="1793849"/>
          <a:ext cx="5132110" cy="11068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0776">
                  <a:extLst>
                    <a:ext uri="{9D8B030D-6E8A-4147-A177-3AD203B41FA5}">
                      <a16:colId xmlns:a16="http://schemas.microsoft.com/office/drawing/2014/main" val="3035766192"/>
                    </a:ext>
                  </a:extLst>
                </a:gridCol>
                <a:gridCol w="3631334">
                  <a:extLst>
                    <a:ext uri="{9D8B030D-6E8A-4147-A177-3AD203B41FA5}">
                      <a16:colId xmlns:a16="http://schemas.microsoft.com/office/drawing/2014/main" val="2107784489"/>
                    </a:ext>
                  </a:extLst>
                </a:gridCol>
              </a:tblGrid>
              <a:tr h="1106869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本地部署</a:t>
                      </a:r>
                      <a:r>
                        <a:rPr lang="en-US" altLang="zh-CN" dirty="0"/>
                        <a:t>Qwen2-72B</a:t>
                      </a: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开源</a:t>
                      </a:r>
                      <a:r>
                        <a:rPr lang="en-US" altLang="zh-CN" dirty="0"/>
                        <a:t>-</a:t>
                      </a:r>
                      <a:r>
                        <a:rPr lang="zh-CN" altLang="en-US" dirty="0"/>
                        <a:t>通义千问</a:t>
                      </a:r>
                      <a:endParaRPr lang="en-US" altLang="zh-CN" dirty="0"/>
                    </a:p>
                    <a:p>
                      <a:pPr algn="ctr"/>
                      <a:r>
                        <a:rPr lang="en-US" altLang="zh-CN" dirty="0"/>
                        <a:t>720</a:t>
                      </a:r>
                      <a:r>
                        <a:rPr lang="zh-CN" altLang="en-US" dirty="0"/>
                        <a:t>亿参数构建的大语言模型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355710197"/>
                  </a:ext>
                </a:extLst>
              </a:tr>
            </a:tbl>
          </a:graphicData>
        </a:graphic>
      </p:graphicFrame>
      <p:pic>
        <p:nvPicPr>
          <p:cNvPr id="30" name="图片 29" descr="文本&#10;&#10;描述已自动生成">
            <a:extLst>
              <a:ext uri="{FF2B5EF4-FFF2-40B4-BE49-F238E27FC236}">
                <a16:creationId xmlns:a16="http://schemas.microsoft.com/office/drawing/2014/main" id="{A8C36064-A076-4FF4-B784-D6F4B74A0A7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21486" b="-200"/>
          <a:stretch/>
        </p:blipFill>
        <p:spPr>
          <a:xfrm>
            <a:off x="6096000" y="690726"/>
            <a:ext cx="5770486" cy="568289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9B76DAB-4DA7-0A97-98AD-BDAB4FB09269}"/>
              </a:ext>
            </a:extLst>
          </p:cNvPr>
          <p:cNvSpPr txBox="1"/>
          <p:nvPr/>
        </p:nvSpPr>
        <p:spPr>
          <a:xfrm>
            <a:off x="639374" y="1064038"/>
            <a:ext cx="7062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大语言模型的技术选型：</a:t>
            </a:r>
            <a:r>
              <a:rPr lang="zh-CN" altLang="en-US" sz="2400" b="1" i="1" dirty="0"/>
              <a:t>阶段结论</a:t>
            </a:r>
          </a:p>
        </p:txBody>
      </p:sp>
      <p:pic>
        <p:nvPicPr>
          <p:cNvPr id="5" name="图片 4" descr="图形用户界面, 文本, 应用程序, 电子邮件&#10;&#10;描述已自动生成">
            <a:extLst>
              <a:ext uri="{FF2B5EF4-FFF2-40B4-BE49-F238E27FC236}">
                <a16:creationId xmlns:a16="http://schemas.microsoft.com/office/drawing/2014/main" id="{6138B306-BD69-4DC4-75F2-862F742925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802" y="2959169"/>
            <a:ext cx="5770486" cy="313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2680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手机屏幕截图&#10;&#10;描述已自动生成">
            <a:extLst>
              <a:ext uri="{FF2B5EF4-FFF2-40B4-BE49-F238E27FC236}">
                <a16:creationId xmlns:a16="http://schemas.microsoft.com/office/drawing/2014/main" id="{F62D38C4-E539-3A8B-40E5-7683A269A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58" y="2189405"/>
            <a:ext cx="4033744" cy="2559876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D9004D89-8934-A256-64D4-5CB376DF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</a:t>
            </a:r>
            <a:r>
              <a:rPr lang="zh-CN" altLang="en-US" dirty="0"/>
              <a:t>排故方案辅助生成</a:t>
            </a:r>
          </a:p>
        </p:txBody>
      </p:sp>
      <p:pic>
        <p:nvPicPr>
          <p:cNvPr id="22" name="图片 21" descr="图示&#10;&#10;描述已自动生成">
            <a:extLst>
              <a:ext uri="{FF2B5EF4-FFF2-40B4-BE49-F238E27FC236}">
                <a16:creationId xmlns:a16="http://schemas.microsoft.com/office/drawing/2014/main" id="{ED72CE55-1C23-4560-AA79-0EE6FD0B1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973" y="2189405"/>
            <a:ext cx="6046169" cy="414428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95F1BA1B-6A5A-6AD8-2E66-0834B39A6187}"/>
              </a:ext>
            </a:extLst>
          </p:cNvPr>
          <p:cNvSpPr txBox="1"/>
          <p:nvPr/>
        </p:nvSpPr>
        <p:spPr>
          <a:xfrm>
            <a:off x="980906" y="1069909"/>
            <a:ext cx="8364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业务现状：人工查询</a:t>
            </a:r>
            <a:r>
              <a:rPr lang="en-US" altLang="zh-CN" b="1" dirty="0"/>
              <a:t>TSM</a:t>
            </a:r>
            <a:r>
              <a:rPr lang="zh-CN" altLang="en-US" b="1" dirty="0"/>
              <a:t>、人脑归纳总结排故方案，产生业务痛点③</a:t>
            </a:r>
          </a:p>
        </p:txBody>
      </p:sp>
    </p:spTree>
    <p:extLst>
      <p:ext uri="{BB962C8B-B14F-4D97-AF65-F5344CB8AC3E}">
        <p14:creationId xmlns:p14="http://schemas.microsoft.com/office/powerpoint/2010/main" val="2130159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手机屏幕截图&#10;&#10;描述已自动生成">
            <a:extLst>
              <a:ext uri="{FF2B5EF4-FFF2-40B4-BE49-F238E27FC236}">
                <a16:creationId xmlns:a16="http://schemas.microsoft.com/office/drawing/2014/main" id="{F62D38C4-E539-3A8B-40E5-7683A269A5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58" y="2189405"/>
            <a:ext cx="4033744" cy="2559876"/>
          </a:xfrm>
          <a:prstGeom prst="rect">
            <a:avLst/>
          </a:prstGeom>
        </p:spPr>
      </p:pic>
      <p:sp>
        <p:nvSpPr>
          <p:cNvPr id="11" name="标题 1">
            <a:extLst>
              <a:ext uri="{FF2B5EF4-FFF2-40B4-BE49-F238E27FC236}">
                <a16:creationId xmlns:a16="http://schemas.microsoft.com/office/drawing/2014/main" id="{D9004D89-8934-A256-64D4-5CB376DF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</a:t>
            </a:r>
            <a:r>
              <a:rPr lang="zh-CN" altLang="en-US" dirty="0"/>
              <a:t>排故方案辅助生成</a:t>
            </a:r>
          </a:p>
        </p:txBody>
      </p:sp>
      <p:pic>
        <p:nvPicPr>
          <p:cNvPr id="20" name="图片 19" descr="图示&#10;&#10;描述已自动生成">
            <a:extLst>
              <a:ext uri="{FF2B5EF4-FFF2-40B4-BE49-F238E27FC236}">
                <a16:creationId xmlns:a16="http://schemas.microsoft.com/office/drawing/2014/main" id="{68B22F75-5F9A-6D01-77D1-136A985FA4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207" y="1298508"/>
            <a:ext cx="7074623" cy="479887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D8469CC-D9BA-FEDE-C4EC-1DD11DE8FEDB}"/>
              </a:ext>
            </a:extLst>
          </p:cNvPr>
          <p:cNvSpPr txBox="1"/>
          <p:nvPr/>
        </p:nvSpPr>
        <p:spPr>
          <a:xfrm>
            <a:off x="464490" y="929176"/>
            <a:ext cx="7744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预期流程：通过标准库中检索、推荐排故方案的方式解决业务痛点③</a:t>
            </a:r>
          </a:p>
        </p:txBody>
      </p:sp>
    </p:spTree>
    <p:extLst>
      <p:ext uri="{BB962C8B-B14F-4D97-AF65-F5344CB8AC3E}">
        <p14:creationId xmlns:p14="http://schemas.microsoft.com/office/powerpoint/2010/main" val="392548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0FC5A30-72F5-D5D3-D993-76760E6F695E}"/>
              </a:ext>
            </a:extLst>
          </p:cNvPr>
          <p:cNvSpPr txBox="1"/>
          <p:nvPr/>
        </p:nvSpPr>
        <p:spPr>
          <a:xfrm>
            <a:off x="1183692" y="2334447"/>
            <a:ext cx="40337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6700"/>
            <a:r>
              <a:rPr lang="zh-CN" altLang="en-US" dirty="0"/>
              <a:t>排故工程师输入</a:t>
            </a:r>
            <a:r>
              <a:rPr lang="zh-CN" altLang="en-US" b="1" dirty="0"/>
              <a:t>结构化</a:t>
            </a:r>
            <a:r>
              <a:rPr lang="zh-CN" altLang="en-US" dirty="0"/>
              <a:t>故障描述。</a:t>
            </a:r>
            <a:endParaRPr lang="en-US" altLang="zh-CN" dirty="0"/>
          </a:p>
          <a:p>
            <a:pPr indent="266700"/>
            <a:endParaRPr lang="en-US" altLang="zh-CN" dirty="0"/>
          </a:p>
          <a:p>
            <a:pPr indent="266700"/>
            <a:r>
              <a:rPr lang="zh-CN" altLang="en-US" dirty="0"/>
              <a:t>系统通过</a:t>
            </a:r>
            <a:r>
              <a:rPr lang="zh-CN" altLang="en-US" b="1" dirty="0"/>
              <a:t>检索匹配</a:t>
            </a:r>
            <a:r>
              <a:rPr lang="en-US" altLang="zh-CN" dirty="0"/>
              <a:t>【</a:t>
            </a:r>
            <a:r>
              <a:rPr lang="zh-CN" altLang="en-US" dirty="0"/>
              <a:t>排故方案库</a:t>
            </a:r>
            <a:r>
              <a:rPr lang="en-US" altLang="zh-CN" dirty="0"/>
              <a:t>】</a:t>
            </a:r>
            <a:r>
              <a:rPr lang="zh-CN" altLang="en-US" dirty="0"/>
              <a:t>，提供排故方案建议（</a:t>
            </a:r>
            <a:r>
              <a:rPr lang="en-US" altLang="zh-CN" dirty="0"/>
              <a:t>Top5</a:t>
            </a:r>
            <a:r>
              <a:rPr lang="zh-CN" altLang="en-US" dirty="0"/>
              <a:t>）供排故工程师参考。</a:t>
            </a:r>
            <a:endParaRPr lang="en-US" altLang="zh-CN" dirty="0"/>
          </a:p>
          <a:p>
            <a:pPr indent="266700"/>
            <a:endParaRPr lang="en-US" altLang="zh-CN" dirty="0"/>
          </a:p>
          <a:p>
            <a:pPr indent="266700"/>
            <a:r>
              <a:rPr lang="zh-CN" altLang="en-US" dirty="0"/>
              <a:t>排故人员对系统建议进行梳理整合，绘制流程图、编写文字步骤，形成确定的排故方案。</a:t>
            </a:r>
            <a:endParaRPr lang="en-US" altLang="zh-CN" dirty="0"/>
          </a:p>
          <a:p>
            <a:pPr indent="266700"/>
            <a:endParaRPr lang="en-US" altLang="zh-CN" dirty="0"/>
          </a:p>
          <a:p>
            <a:pPr indent="266700"/>
            <a:r>
              <a:rPr lang="zh-CN" altLang="en-US" dirty="0"/>
              <a:t>进行后续审批步骤。</a:t>
            </a:r>
            <a:endParaRPr lang="en-US" altLang="zh-CN" dirty="0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D9004D89-8934-A256-64D4-5CB376DF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</a:t>
            </a:r>
            <a:r>
              <a:rPr lang="zh-CN" altLang="en-US" dirty="0"/>
              <a:t>排故方案辅助生成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668939-D928-D95F-639B-AC7CA256CABB}"/>
              </a:ext>
            </a:extLst>
          </p:cNvPr>
          <p:cNvSpPr txBox="1"/>
          <p:nvPr/>
        </p:nvSpPr>
        <p:spPr>
          <a:xfrm>
            <a:off x="721665" y="1419687"/>
            <a:ext cx="5000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预期的用户使用流程：</a:t>
            </a:r>
          </a:p>
        </p:txBody>
      </p:sp>
      <p:pic>
        <p:nvPicPr>
          <p:cNvPr id="15" name="图片 14" descr="图示&#10;&#10;描述已自动生成">
            <a:extLst>
              <a:ext uri="{FF2B5EF4-FFF2-40B4-BE49-F238E27FC236}">
                <a16:creationId xmlns:a16="http://schemas.microsoft.com/office/drawing/2014/main" id="{3D7F7191-2F3D-EDE0-FA04-CA355AB26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264" y="1666874"/>
            <a:ext cx="6531566" cy="443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085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D9004D89-8934-A256-64D4-5CB376DF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</a:t>
            </a:r>
            <a:r>
              <a:rPr lang="zh-CN" altLang="en-US" dirty="0"/>
              <a:t>排故方案辅助生成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668939-D928-D95F-639B-AC7CA256CABB}"/>
              </a:ext>
            </a:extLst>
          </p:cNvPr>
          <p:cNvSpPr txBox="1"/>
          <p:nvPr/>
        </p:nvSpPr>
        <p:spPr>
          <a:xfrm>
            <a:off x="721665" y="1419687"/>
            <a:ext cx="5000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技术方案：</a:t>
            </a:r>
          </a:p>
        </p:txBody>
      </p:sp>
      <p:pic>
        <p:nvPicPr>
          <p:cNvPr id="5" name="图片 4">
            <a:hlinkClick r:id="rId2"/>
            <a:extLst>
              <a:ext uri="{FF2B5EF4-FFF2-40B4-BE49-F238E27FC236}">
                <a16:creationId xmlns:a16="http://schemas.microsoft.com/office/drawing/2014/main" id="{DC0208A6-EBFC-8F2F-5B4B-D86E34D1E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831" y="1368546"/>
            <a:ext cx="7685762" cy="512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93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F3CF63-24DF-29C1-F08C-D997C1C8D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>
            <a:norm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痛点分析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技术方案应对</a:t>
            </a:r>
          </a:p>
        </p:txBody>
      </p:sp>
      <p:pic>
        <p:nvPicPr>
          <p:cNvPr id="8" name="内容占位符 7" descr="文本, 信件&#10;&#10;描述已自动生成">
            <a:extLst>
              <a:ext uri="{FF2B5EF4-FFF2-40B4-BE49-F238E27FC236}">
                <a16:creationId xmlns:a16="http://schemas.microsoft.com/office/drawing/2014/main" id="{795613F9-4090-116D-57D8-6821ACDE0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90" y="1422464"/>
            <a:ext cx="3631716" cy="1784327"/>
          </a:xfrm>
        </p:spPr>
      </p:pic>
      <p:pic>
        <p:nvPicPr>
          <p:cNvPr id="11" name="图片 10" descr="手机屏幕截图&#10;&#10;描述已自动生成">
            <a:extLst>
              <a:ext uri="{FF2B5EF4-FFF2-40B4-BE49-F238E27FC236}">
                <a16:creationId xmlns:a16="http://schemas.microsoft.com/office/drawing/2014/main" id="{FA4CE1DE-D36D-75AD-B470-78AA6E2AB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5454" y="1447576"/>
            <a:ext cx="3467068" cy="1784327"/>
          </a:xfrm>
          <a:prstGeom prst="rect">
            <a:avLst/>
          </a:prstGeom>
        </p:spPr>
      </p:pic>
      <p:pic>
        <p:nvPicPr>
          <p:cNvPr id="4" name="图片 3" descr="文本, 信件&#10;&#10;描述已自动生成">
            <a:extLst>
              <a:ext uri="{FF2B5EF4-FFF2-40B4-BE49-F238E27FC236}">
                <a16:creationId xmlns:a16="http://schemas.microsoft.com/office/drawing/2014/main" id="{3DEDE0EF-3036-3593-AE7A-FA6D9990C0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1770" y="1447576"/>
            <a:ext cx="4098150" cy="1784327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3C3C93D8-6BE0-887F-2559-A87AA376F6E0}"/>
              </a:ext>
            </a:extLst>
          </p:cNvPr>
          <p:cNvGrpSpPr/>
          <p:nvPr/>
        </p:nvGrpSpPr>
        <p:grpSpPr>
          <a:xfrm>
            <a:off x="691194" y="3651209"/>
            <a:ext cx="6308986" cy="3057618"/>
            <a:chOff x="671858" y="3423930"/>
            <a:chExt cx="6025276" cy="3416320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2D9ED33-02F7-24B3-D647-8F3137845EA3}"/>
                </a:ext>
              </a:extLst>
            </p:cNvPr>
            <p:cNvSpPr txBox="1"/>
            <p:nvPr/>
          </p:nvSpPr>
          <p:spPr>
            <a:xfrm>
              <a:off x="715790" y="3481081"/>
              <a:ext cx="5932144" cy="3198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系统协助方案审核和修改的留痕工作：</a:t>
              </a:r>
              <a:endParaRPr lang="en-US" altLang="zh-CN" dirty="0"/>
            </a:p>
            <a:p>
              <a:r>
                <a:rPr lang="zh-CN" altLang="en-US" dirty="0"/>
                <a:t>在每阶段方案流转过程中，通过存档和签署，保存审核和修改中的人、时间、内容信息。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按照</a:t>
              </a:r>
              <a:r>
                <a:rPr lang="en-US" altLang="zh-CN" b="1" dirty="0"/>
                <a:t>Checklist</a:t>
              </a:r>
              <a:r>
                <a:rPr lang="zh-CN" altLang="en-US" dirty="0"/>
                <a:t>的产品逻辑，维修工程师步骤化的执行维修方案。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智能判定完工：完成所有维修条目，系统提醒完工。</a:t>
              </a:r>
              <a:endParaRPr lang="en-US" altLang="zh-CN" dirty="0"/>
            </a:p>
            <a:p>
              <a:endParaRPr lang="en-US" altLang="zh-CN" dirty="0"/>
            </a:p>
            <a:p>
              <a:r>
                <a:rPr lang="zh-CN" altLang="en-US" dirty="0"/>
                <a:t>系统自动存档在维修中的操作内容，并自动生成维修日志。</a:t>
              </a:r>
              <a:endParaRPr lang="en-US" altLang="zh-CN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A1CFF3C-2A2A-02A5-74DD-962C32425B10}"/>
                </a:ext>
              </a:extLst>
            </p:cNvPr>
            <p:cNvSpPr/>
            <p:nvPr/>
          </p:nvSpPr>
          <p:spPr>
            <a:xfrm>
              <a:off x="671858" y="3423930"/>
              <a:ext cx="6025276" cy="3416320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0216860A-0B44-9C9C-0E56-F632A1F58E9F}"/>
              </a:ext>
            </a:extLst>
          </p:cNvPr>
          <p:cNvSpPr txBox="1"/>
          <p:nvPr/>
        </p:nvSpPr>
        <p:spPr>
          <a:xfrm>
            <a:off x="7448598" y="4453083"/>
            <a:ext cx="464371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维修工程师</a:t>
            </a:r>
            <a:r>
              <a:rPr lang="zh-CN" altLang="en-US" b="1" dirty="0"/>
              <a:t>不能</a:t>
            </a:r>
            <a:r>
              <a:rPr lang="zh-CN" altLang="en-US" dirty="0"/>
              <a:t>看到完整的维修方案，仅能看到当前维修步骤。避免总览所有步骤后，选择第一步和结尾步操作，中间跳步。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按要求提交现场照片、视频、文字描述等过程性资料。</a:t>
            </a:r>
            <a:r>
              <a:rPr lang="en-US" altLang="zh-CN" dirty="0"/>
              <a:t> </a:t>
            </a:r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</p:txBody>
      </p:sp>
      <p:sp>
        <p:nvSpPr>
          <p:cNvPr id="10" name="星形: 五角 9">
            <a:extLst>
              <a:ext uri="{FF2B5EF4-FFF2-40B4-BE49-F238E27FC236}">
                <a16:creationId xmlns:a16="http://schemas.microsoft.com/office/drawing/2014/main" id="{E7896CE3-785F-9DB0-81D8-893BA32A2AA8}"/>
              </a:ext>
            </a:extLst>
          </p:cNvPr>
          <p:cNvSpPr/>
          <p:nvPr/>
        </p:nvSpPr>
        <p:spPr>
          <a:xfrm>
            <a:off x="1237129" y="5180018"/>
            <a:ext cx="242047" cy="25551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星形: 五角 11">
            <a:extLst>
              <a:ext uri="{FF2B5EF4-FFF2-40B4-BE49-F238E27FC236}">
                <a16:creationId xmlns:a16="http://schemas.microsoft.com/office/drawing/2014/main" id="{AA4647E8-35B3-5AC7-7E75-EACCFDB82DD3}"/>
              </a:ext>
            </a:extLst>
          </p:cNvPr>
          <p:cNvSpPr/>
          <p:nvPr/>
        </p:nvSpPr>
        <p:spPr>
          <a:xfrm>
            <a:off x="7224661" y="4494396"/>
            <a:ext cx="242047" cy="255517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453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">
            <a:extLst>
              <a:ext uri="{FF2B5EF4-FFF2-40B4-BE49-F238E27FC236}">
                <a16:creationId xmlns:a16="http://schemas.microsoft.com/office/drawing/2014/main" id="{D9004D89-8934-A256-64D4-5CB376DF9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痛点分析</a:t>
            </a:r>
            <a:r>
              <a:rPr lang="en-US" altLang="zh-CN" dirty="0"/>
              <a:t>-</a:t>
            </a:r>
            <a:r>
              <a:rPr lang="zh-CN" altLang="en-US" dirty="0"/>
              <a:t>产品技术方案应对</a:t>
            </a:r>
            <a:r>
              <a:rPr lang="en-US" altLang="zh-CN" dirty="0"/>
              <a:t>-</a:t>
            </a:r>
            <a:r>
              <a:rPr lang="zh-CN" altLang="en-US" dirty="0"/>
              <a:t>排故方案辅助生成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22F02AC-E3DC-D632-867B-FBB0B0090D02}"/>
              </a:ext>
            </a:extLst>
          </p:cNvPr>
          <p:cNvSpPr txBox="1"/>
          <p:nvPr/>
        </p:nvSpPr>
        <p:spPr>
          <a:xfrm>
            <a:off x="6566545" y="1419687"/>
            <a:ext cx="434768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2.</a:t>
            </a:r>
            <a:r>
              <a:rPr lang="zh-CN" altLang="en-US" b="1" dirty="0"/>
              <a:t>如果能提供结构化的故障描述，对于匹配排故方案的准确性是有帮助的。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本期能提供什么形式的输入？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通过下拉框选项等方式。手动选择故障描述中的关键词，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机型、机号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目标设备、故障类型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警告数值、超限范围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异常类型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………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6F33FD6-70DE-EF90-56B0-1EAADAD65630}"/>
              </a:ext>
            </a:extLst>
          </p:cNvPr>
          <p:cNvSpPr txBox="1"/>
          <p:nvPr/>
        </p:nvSpPr>
        <p:spPr>
          <a:xfrm>
            <a:off x="1388711" y="1419687"/>
            <a:ext cx="434768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b="1" dirty="0"/>
              <a:t>1.</a:t>
            </a:r>
            <a:r>
              <a:rPr lang="zh-CN" altLang="en-US" b="1" dirty="0"/>
              <a:t>是否考虑 管理</a:t>
            </a:r>
            <a:r>
              <a:rPr lang="en-US" altLang="zh-CN" b="1" dirty="0"/>
              <a:t>-</a:t>
            </a:r>
            <a:r>
              <a:rPr lang="zh-CN" altLang="en-US" b="1" dirty="0"/>
              <a:t>执行分离：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前台排故工程师，是否能再次修改、润色标准库中的流程？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zh-CN" altLang="en-US" b="1" dirty="0"/>
              <a:t>或是只能选择标准库中的流程，不能修改。</a:t>
            </a:r>
            <a:endParaRPr lang="en-US" altLang="zh-CN" b="1" dirty="0"/>
          </a:p>
          <a:p>
            <a:r>
              <a:rPr lang="zh-CN" altLang="en-US" b="1" dirty="0"/>
              <a:t>如果流程不满足，走修改发布到标准库的环节，后台工程师去调整标准库。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4668939-D928-D95F-639B-AC7CA256CABB}"/>
              </a:ext>
            </a:extLst>
          </p:cNvPr>
          <p:cNvSpPr txBox="1"/>
          <p:nvPr/>
        </p:nvSpPr>
        <p:spPr>
          <a:xfrm>
            <a:off x="721665" y="1419687"/>
            <a:ext cx="5000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需要探讨的业务问题：</a:t>
            </a:r>
          </a:p>
        </p:txBody>
      </p:sp>
    </p:spTree>
    <p:extLst>
      <p:ext uri="{BB962C8B-B14F-4D97-AF65-F5344CB8AC3E}">
        <p14:creationId xmlns:p14="http://schemas.microsoft.com/office/powerpoint/2010/main" val="2270295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4BE53C-FC4C-856D-BECC-76DC054E8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32458"/>
            <a:ext cx="10515600" cy="974577"/>
          </a:xfrm>
        </p:spPr>
        <p:txBody>
          <a:bodyPr/>
          <a:lstStyle/>
          <a:p>
            <a:r>
              <a:rPr lang="zh-CN" altLang="en-US" dirty="0"/>
              <a:t>本次项目的范围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232245A-99C4-C589-44B2-FD6B05941C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2660519"/>
              </p:ext>
            </p:extLst>
          </p:nvPr>
        </p:nvGraphicFramePr>
        <p:xfrm>
          <a:off x="562686" y="809777"/>
          <a:ext cx="11522900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5740">
                  <a:extLst>
                    <a:ext uri="{9D8B030D-6E8A-4147-A177-3AD203B41FA5}">
                      <a16:colId xmlns:a16="http://schemas.microsoft.com/office/drawing/2014/main" val="1439326576"/>
                    </a:ext>
                  </a:extLst>
                </a:gridCol>
                <a:gridCol w="3205449">
                  <a:extLst>
                    <a:ext uri="{9D8B030D-6E8A-4147-A177-3AD203B41FA5}">
                      <a16:colId xmlns:a16="http://schemas.microsoft.com/office/drawing/2014/main" val="1159266562"/>
                    </a:ext>
                  </a:extLst>
                </a:gridCol>
                <a:gridCol w="1508125">
                  <a:extLst>
                    <a:ext uri="{9D8B030D-6E8A-4147-A177-3AD203B41FA5}">
                      <a16:colId xmlns:a16="http://schemas.microsoft.com/office/drawing/2014/main" val="902739644"/>
                    </a:ext>
                  </a:extLst>
                </a:gridCol>
                <a:gridCol w="1253067">
                  <a:extLst>
                    <a:ext uri="{9D8B030D-6E8A-4147-A177-3AD203B41FA5}">
                      <a16:colId xmlns:a16="http://schemas.microsoft.com/office/drawing/2014/main" val="4053062921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3797671460"/>
                    </a:ext>
                  </a:extLst>
                </a:gridCol>
                <a:gridCol w="2653719">
                  <a:extLst>
                    <a:ext uri="{9D8B030D-6E8A-4147-A177-3AD203B41FA5}">
                      <a16:colId xmlns:a16="http://schemas.microsoft.com/office/drawing/2014/main" val="35777243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频次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角色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核心动作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目标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613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解析</a:t>
                      </a:r>
                      <a:r>
                        <a:rPr lang="en-US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TSM</a:t>
                      </a:r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，建立排故方案的标准库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前期准备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每季度更新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后台</a:t>
                      </a: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工程师</a:t>
                      </a:r>
                      <a:endParaRPr lang="en-US" altLang="zh-CN" sz="1600" b="1" kern="100" dirty="0"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审核工程师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修改、润色排故方案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调整、校对翻译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消除</a:t>
                      </a: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对</a:t>
                      </a:r>
                      <a:r>
                        <a:rPr lang="en-US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TSM</a:t>
                      </a: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理解</a:t>
                      </a:r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的</a:t>
                      </a: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差异</a:t>
                      </a:r>
                      <a:endParaRPr lang="en-US" altLang="zh-CN" sz="1600" b="1" kern="100" dirty="0"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复用标准流程减少重复工作</a:t>
                      </a:r>
                      <a:endParaRPr lang="zh-CN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376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根据故障描述、</a:t>
                      </a: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自动分析和推荐排故方案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排故工程师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输入故障，获得推荐方案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提高信息检索处理效率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节省方案编写的时间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506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手动修改方案，审核确认发布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排故工程师</a:t>
                      </a:r>
                      <a:endParaRPr lang="en-US" altLang="zh-CN" sz="1600" b="1" kern="100" dirty="0"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审核工程师</a:t>
                      </a:r>
                      <a:endParaRPr lang="zh-CN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结合推荐内容，人工编写方案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提交审核、发布到现场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流程线上化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过程留痕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014947"/>
                  </a:ext>
                </a:extLst>
              </a:tr>
              <a:tr h="3687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以</a:t>
                      </a:r>
                      <a:r>
                        <a:rPr lang="en-US" altLang="zh-CN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Checklist</a:t>
                      </a: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步骤化执行排故方案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现场工程师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按步骤执行任务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上传每步骤的记录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避免跳步、过程留痕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606024"/>
                  </a:ext>
                </a:extLst>
              </a:tr>
              <a:tr h="3687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排故业务流程管理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现场工程师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申请技术支援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判定排故流程审结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流程线上化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过程留痕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903538"/>
                  </a:ext>
                </a:extLst>
              </a:tr>
              <a:tr h="3687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审核归档工作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日常评估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按季度更新</a:t>
                      </a:r>
                      <a:endParaRPr lang="en-US" altLang="zh-CN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后台工程师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评估排故方案</a:t>
                      </a:r>
                      <a:r>
                        <a:rPr lang="en-US" altLang="zh-CN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现场执行的完整性，归档优秀案例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标准业务数据的积累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9671960"/>
                  </a:ext>
                </a:extLst>
              </a:tr>
            </a:tbl>
          </a:graphicData>
        </a:graphic>
      </p:graphicFrame>
      <p:sp>
        <p:nvSpPr>
          <p:cNvPr id="9" name="标题 1">
            <a:extLst>
              <a:ext uri="{FF2B5EF4-FFF2-40B4-BE49-F238E27FC236}">
                <a16:creationId xmlns:a16="http://schemas.microsoft.com/office/drawing/2014/main" id="{5D42BD39-A4B6-F661-A32B-35DCBA65E0F9}"/>
              </a:ext>
            </a:extLst>
          </p:cNvPr>
          <p:cNvSpPr txBox="1">
            <a:spLocks/>
          </p:cNvSpPr>
          <p:nvPr/>
        </p:nvSpPr>
        <p:spPr>
          <a:xfrm>
            <a:off x="636526" y="5412257"/>
            <a:ext cx="10515600" cy="9010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000" dirty="0"/>
              <a:t>非本次项目的范围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7D2D92-5225-9361-E419-7DA0A7C6A9CB}"/>
              </a:ext>
            </a:extLst>
          </p:cNvPr>
          <p:cNvSpPr txBox="1"/>
          <p:nvPr/>
        </p:nvSpPr>
        <p:spPr>
          <a:xfrm>
            <a:off x="804672" y="5902212"/>
            <a:ext cx="85953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结构化、标准化的故障描述输入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优秀案例导入标准库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3413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0FA9F-E002-044D-1AAF-9789E19F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011" y="136592"/>
            <a:ext cx="10515600" cy="974577"/>
          </a:xfrm>
        </p:spPr>
        <p:txBody>
          <a:bodyPr/>
          <a:lstStyle/>
          <a:p>
            <a:r>
              <a:rPr lang="zh-CN" altLang="en-US" dirty="0"/>
              <a:t>软硬件环境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B59F8E7-3071-5A24-B62C-3E015FB829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796886"/>
              </p:ext>
            </p:extLst>
          </p:nvPr>
        </p:nvGraphicFramePr>
        <p:xfrm>
          <a:off x="721198" y="866363"/>
          <a:ext cx="10749603" cy="40273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186">
                  <a:extLst>
                    <a:ext uri="{9D8B030D-6E8A-4147-A177-3AD203B41FA5}">
                      <a16:colId xmlns:a16="http://schemas.microsoft.com/office/drawing/2014/main" val="1439326576"/>
                    </a:ext>
                  </a:extLst>
                </a:gridCol>
                <a:gridCol w="1532970">
                  <a:extLst>
                    <a:ext uri="{9D8B030D-6E8A-4147-A177-3AD203B41FA5}">
                      <a16:colId xmlns:a16="http://schemas.microsoft.com/office/drawing/2014/main" val="3067834399"/>
                    </a:ext>
                  </a:extLst>
                </a:gridCol>
                <a:gridCol w="1198996">
                  <a:extLst>
                    <a:ext uri="{9D8B030D-6E8A-4147-A177-3AD203B41FA5}">
                      <a16:colId xmlns:a16="http://schemas.microsoft.com/office/drawing/2014/main" val="1732261143"/>
                    </a:ext>
                  </a:extLst>
                </a:gridCol>
                <a:gridCol w="3093372">
                  <a:extLst>
                    <a:ext uri="{9D8B030D-6E8A-4147-A177-3AD203B41FA5}">
                      <a16:colId xmlns:a16="http://schemas.microsoft.com/office/drawing/2014/main" val="1159266562"/>
                    </a:ext>
                  </a:extLst>
                </a:gridCol>
                <a:gridCol w="1261806">
                  <a:extLst>
                    <a:ext uri="{9D8B030D-6E8A-4147-A177-3AD203B41FA5}">
                      <a16:colId xmlns:a16="http://schemas.microsoft.com/office/drawing/2014/main" val="902739644"/>
                    </a:ext>
                  </a:extLst>
                </a:gridCol>
                <a:gridCol w="1380990">
                  <a:extLst>
                    <a:ext uri="{9D8B030D-6E8A-4147-A177-3AD203B41FA5}">
                      <a16:colId xmlns:a16="http://schemas.microsoft.com/office/drawing/2014/main" val="4053062921"/>
                    </a:ext>
                  </a:extLst>
                </a:gridCol>
                <a:gridCol w="1880283">
                  <a:extLst>
                    <a:ext uri="{9D8B030D-6E8A-4147-A177-3AD203B41FA5}">
                      <a16:colId xmlns:a16="http://schemas.microsoft.com/office/drawing/2014/main" val="3577724368"/>
                    </a:ext>
                  </a:extLst>
                </a:gridCol>
              </a:tblGrid>
              <a:tr h="39551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序号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系统</a:t>
                      </a:r>
                      <a:r>
                        <a:rPr lang="en-US" altLang="zh-CN" sz="1400" dirty="0"/>
                        <a:t>/App</a:t>
                      </a:r>
                      <a:endParaRPr lang="zh-CN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内容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频次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角色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操作平台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613977"/>
                  </a:ext>
                </a:extLst>
              </a:tr>
              <a:tr h="7912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 rowSpan="4"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业务系统</a:t>
                      </a:r>
                      <a:endParaRPr lang="en-US" altLang="zh-CN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4"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解析</a:t>
                      </a:r>
                      <a:r>
                        <a:rPr lang="en-US" altLang="zh-CN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TSM</a:t>
                      </a:r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，建立排故方案的标准库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前期准备</a:t>
                      </a:r>
                      <a:endParaRPr lang="en-US" altLang="zh-CN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每季度更新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后台</a:t>
                      </a:r>
                      <a:r>
                        <a:rPr lang="zh-CN" altLang="zh-CN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工程师</a:t>
                      </a:r>
                      <a:endParaRPr lang="en-US" altLang="zh-CN" sz="1200" b="1" kern="100" dirty="0"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审核工程师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376858"/>
                  </a:ext>
                </a:extLst>
              </a:tr>
              <a:tr h="4295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 gridSpan="2" vMerge="1"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根据故障描述、</a:t>
                      </a:r>
                      <a:r>
                        <a:rPr lang="zh-CN" altLang="zh-CN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自动分析和推荐排故方案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排故工程师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506994"/>
                  </a:ext>
                </a:extLst>
              </a:tr>
              <a:tr h="79126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 anchor="ctr"/>
                </a:tc>
                <a:tc gridSpan="2"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手动编写方案，审核确认发布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排故工程师</a:t>
                      </a:r>
                      <a:endParaRPr lang="en-US" altLang="zh-CN" sz="1200" b="1" kern="100" dirty="0"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审核工程师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2014947"/>
                  </a:ext>
                </a:extLst>
              </a:tr>
              <a:tr h="6104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</a:t>
                      </a:r>
                      <a:endParaRPr lang="zh-CN" altLang="en-US" sz="1400" dirty="0"/>
                    </a:p>
                  </a:txBody>
                  <a:tcPr anchor="ctr"/>
                </a:tc>
                <a:tc gridSpan="2" v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6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审核归档工作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日常评估</a:t>
                      </a:r>
                      <a:endParaRPr lang="en-US" altLang="zh-CN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按季度更新</a:t>
                      </a:r>
                      <a:endParaRPr lang="en-US" altLang="zh-CN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后台工程师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394919"/>
                  </a:ext>
                </a:extLst>
              </a:tr>
              <a:tr h="4295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iPad</a:t>
                      </a: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客户端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业务系统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以</a:t>
                      </a: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Checklist</a:t>
                      </a: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步骤化执行排故方案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现场工程师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iPad</a:t>
                      </a: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客户端</a:t>
                      </a: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/PC-Web</a:t>
                      </a:r>
                      <a:endParaRPr lang="zh-CN" altLang="en-US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3606024"/>
                  </a:ext>
                </a:extLst>
              </a:tr>
              <a:tr h="42954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iPad</a:t>
                      </a: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客户端</a:t>
                      </a:r>
                      <a:endParaRPr lang="en-US" altLang="zh-CN" sz="1200" b="1" kern="100" dirty="0">
                        <a:solidFill>
                          <a:schemeClr val="dk1"/>
                        </a:solidFill>
                        <a:effectLst/>
                        <a:latin typeface="Segoe UI Light" panose="020B0502040204020203" pitchFamily="34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排故业务流程管理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日常使用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现场工程师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iPad</a:t>
                      </a:r>
                      <a:r>
                        <a:rPr lang="zh-CN" altLang="en-US" sz="1200" b="1" kern="100" dirty="0">
                          <a:solidFill>
                            <a:schemeClr val="dk1"/>
                          </a:solidFill>
                          <a:effectLst/>
                          <a:latin typeface="Segoe UI Light" panose="020B0502040204020203" pitchFamily="34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客户端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90353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0AB08220-613F-1A02-55C7-9E85BE015C36}"/>
              </a:ext>
            </a:extLst>
          </p:cNvPr>
          <p:cNvSpPr txBox="1"/>
          <p:nvPr/>
        </p:nvSpPr>
        <p:spPr>
          <a:xfrm>
            <a:off x="721198" y="5148072"/>
            <a:ext cx="107496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本地化部署的</a:t>
            </a:r>
            <a:r>
              <a:rPr lang="en-US" altLang="zh-CN" dirty="0"/>
              <a:t>LLM</a:t>
            </a:r>
            <a:r>
              <a:rPr lang="zh-CN" altLang="en-US" dirty="0"/>
              <a:t>，需要选型、测试性能（翻译准确度、响应速度等）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i="1" dirty="0"/>
              <a:t>业务系统</a:t>
            </a:r>
            <a:r>
              <a:rPr lang="en-US" altLang="zh-CN" b="1" i="1" dirty="0"/>
              <a:t>/iPad</a:t>
            </a:r>
            <a:r>
              <a:rPr lang="zh-CN" altLang="en-US" b="1" i="1" dirty="0"/>
              <a:t>客户端都部署在</a:t>
            </a:r>
            <a:r>
              <a:rPr lang="en-US" altLang="zh-CN" b="1" i="1" dirty="0" err="1"/>
              <a:t>Ameco</a:t>
            </a:r>
            <a:r>
              <a:rPr lang="zh-CN" altLang="en-US" b="1" i="1" dirty="0"/>
              <a:t>内网（待确认）</a:t>
            </a:r>
          </a:p>
        </p:txBody>
      </p:sp>
    </p:spTree>
    <p:extLst>
      <p:ext uri="{BB962C8B-B14F-4D97-AF65-F5344CB8AC3E}">
        <p14:creationId xmlns:p14="http://schemas.microsoft.com/office/powerpoint/2010/main" val="9951484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6CFC45-00F7-FB8E-768E-56992C49F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90" y="95331"/>
            <a:ext cx="10515600" cy="974577"/>
          </a:xfrm>
        </p:spPr>
        <p:txBody>
          <a:bodyPr/>
          <a:lstStyle/>
          <a:p>
            <a:r>
              <a:rPr lang="zh-CN" altLang="en-US" dirty="0"/>
              <a:t>未来预期</a:t>
            </a:r>
            <a:r>
              <a:rPr lang="en-US" altLang="zh-CN" dirty="0"/>
              <a:t>——</a:t>
            </a:r>
            <a:r>
              <a:rPr lang="zh-CN" altLang="en-US" dirty="0"/>
              <a:t>基于飞机故障诊断辅助系统的业务流程</a:t>
            </a:r>
          </a:p>
        </p:txBody>
      </p:sp>
      <p:pic>
        <p:nvPicPr>
          <p:cNvPr id="4" name="内容占位符 3" descr="表格&#10;&#10;描述已自动生成">
            <a:extLst>
              <a:ext uri="{FF2B5EF4-FFF2-40B4-BE49-F238E27FC236}">
                <a16:creationId xmlns:a16="http://schemas.microsoft.com/office/drawing/2014/main" id="{8BDBE2A0-9401-7F4A-E249-C814D8D83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60" y="760024"/>
            <a:ext cx="10634479" cy="5649801"/>
          </a:xfrm>
        </p:spPr>
      </p:pic>
    </p:spTree>
    <p:extLst>
      <p:ext uri="{BB962C8B-B14F-4D97-AF65-F5344CB8AC3E}">
        <p14:creationId xmlns:p14="http://schemas.microsoft.com/office/powerpoint/2010/main" val="2112663285"/>
      </p:ext>
    </p:extLst>
  </p:cSld>
  <p:clrMapOvr>
    <a:masterClrMapping/>
  </p:clrMapOvr>
</p:sld>
</file>

<file path=ppt/theme/theme1.xml><?xml version="1.0" encoding="utf-8"?>
<a:theme xmlns:a="http://schemas.openxmlformats.org/drawingml/2006/main" name="Ameco  - 华北航线(2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Ameco  - 华北航线(2)</Template>
  <TotalTime>9740</TotalTime>
  <Words>1388</Words>
  <Application>Microsoft Office PowerPoint</Application>
  <PresentationFormat>宽屏</PresentationFormat>
  <Paragraphs>232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1" baseType="lpstr">
      <vt:lpstr>Helvetica Neue</vt:lpstr>
      <vt:lpstr>等线</vt:lpstr>
      <vt:lpstr>Microsoft YaHei</vt:lpstr>
      <vt:lpstr>Microsoft YaHei</vt:lpstr>
      <vt:lpstr>微软雅黑 Light</vt:lpstr>
      <vt:lpstr>Arial</vt:lpstr>
      <vt:lpstr>Bebas Neue</vt:lpstr>
      <vt:lpstr>Segoe UI Light</vt:lpstr>
      <vt:lpstr>Ameco  - 华北航线(2)</vt:lpstr>
      <vt:lpstr>Ameco华北航线项目</vt:lpstr>
      <vt:lpstr>当前现状——业务流程梳理和痛点描述</vt:lpstr>
      <vt:lpstr>痛点分析-产品技术方案应对</vt:lpstr>
      <vt:lpstr>痛点分析-产品技术方案应对-TSM解析/润色和翻译</vt:lpstr>
      <vt:lpstr>痛点分析-产品技术方案应对-TSM解析/润色和翻译</vt:lpstr>
      <vt:lpstr>PowerPoint 演示文稿</vt:lpstr>
      <vt:lpstr>PowerPoint 演示文稿</vt:lpstr>
      <vt:lpstr>PowerPoint 演示文稿</vt:lpstr>
      <vt:lpstr>痛点分析-产品技术方案应对-TSM解析/润色/翻译</vt:lpstr>
      <vt:lpstr>解析TSM生成的流程图结构—不含文本内容</vt:lpstr>
      <vt:lpstr>痛点分析-产品技术方案应对-TSM解析/润色/翻译</vt:lpstr>
      <vt:lpstr>痛点分析-产品技术方案应对- TSM解析/润色/翻译</vt:lpstr>
      <vt:lpstr>痛点分析-产品技术方案应对- TSM解析/润色/翻译</vt:lpstr>
      <vt:lpstr>痛点分析-产品技术方案应对-排故方案辅助生成</vt:lpstr>
      <vt:lpstr>痛点分析-产品技术方案应对-排故方案辅助生成</vt:lpstr>
      <vt:lpstr>痛点分析-产品技术方案应对-排故方案辅助生成</vt:lpstr>
      <vt:lpstr>痛点分析-产品技术方案应对-排故方案辅助生成</vt:lpstr>
      <vt:lpstr>痛点分析-技术方案应对</vt:lpstr>
      <vt:lpstr>痛点分析-产品技术方案应对-排故方案辅助生成</vt:lpstr>
      <vt:lpstr>本次项目的范围</vt:lpstr>
      <vt:lpstr>软硬件环境</vt:lpstr>
      <vt:lpstr>未来预期——基于飞机故障诊断辅助系统的业务流程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qianxiao zhang</dc:creator>
  <cp:lastModifiedBy>qianxiao zhang</cp:lastModifiedBy>
  <cp:revision>41</cp:revision>
  <dcterms:created xsi:type="dcterms:W3CDTF">2024-07-16T12:02:24Z</dcterms:created>
  <dcterms:modified xsi:type="dcterms:W3CDTF">2024-11-18T07:53:45Z</dcterms:modified>
</cp:coreProperties>
</file>