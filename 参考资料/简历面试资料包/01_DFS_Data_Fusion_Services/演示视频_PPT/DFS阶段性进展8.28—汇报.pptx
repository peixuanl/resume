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0"/>
  </p:notesMasterIdLst>
  <p:handoutMasterIdLst>
    <p:handoutMasterId r:id="rId11"/>
  </p:handoutMasterIdLst>
  <p:sldIdLst>
    <p:sldId id="256" r:id="rId2"/>
    <p:sldId id="269" r:id="rId3"/>
    <p:sldId id="265" r:id="rId4"/>
    <p:sldId id="268" r:id="rId5"/>
    <p:sldId id="267" r:id="rId6"/>
    <p:sldId id="258" r:id="rId7"/>
    <p:sldId id="257" r:id="rId8"/>
    <p:sldId id="266" r:id="rId9"/>
  </p:sldIdLst>
  <p:sldSz cx="12192000" cy="6858000"/>
  <p:notesSz cx="6858000" cy="9144000"/>
  <p:defaultTextStyle>
    <a:defPPr>
      <a:defRPr lang="zh-CN"/>
    </a:defPPr>
    <a:lvl1pPr algn="l" rtl="0" fontAlgn="base">
      <a:spcBef>
        <a:spcPct val="0"/>
      </a:spcBef>
      <a:spcAft>
        <a:spcPct val="0"/>
      </a:spcAft>
      <a:defRPr sz="1100" b="1" kern="1200">
        <a:solidFill>
          <a:schemeClr val="tx1"/>
        </a:solidFill>
        <a:latin typeface="Arial" panose="020B0604020202020204" pitchFamily="34" charset="0"/>
        <a:ea typeface="宋体" panose="02010600030101010101" pitchFamily="2" charset="-122"/>
        <a:cs typeface="+mn-cs"/>
      </a:defRPr>
    </a:lvl1pPr>
    <a:lvl2pPr marL="342900" algn="l" rtl="0" fontAlgn="base">
      <a:spcBef>
        <a:spcPct val="0"/>
      </a:spcBef>
      <a:spcAft>
        <a:spcPct val="0"/>
      </a:spcAft>
      <a:defRPr sz="1100" b="1" kern="1200">
        <a:solidFill>
          <a:schemeClr val="tx1"/>
        </a:solidFill>
        <a:latin typeface="Arial" panose="020B0604020202020204" pitchFamily="34" charset="0"/>
        <a:ea typeface="宋体" panose="02010600030101010101" pitchFamily="2" charset="-122"/>
        <a:cs typeface="+mn-cs"/>
      </a:defRPr>
    </a:lvl2pPr>
    <a:lvl3pPr marL="685800" algn="l" rtl="0" fontAlgn="base">
      <a:spcBef>
        <a:spcPct val="0"/>
      </a:spcBef>
      <a:spcAft>
        <a:spcPct val="0"/>
      </a:spcAft>
      <a:defRPr sz="1100" b="1" kern="1200">
        <a:solidFill>
          <a:schemeClr val="tx1"/>
        </a:solidFill>
        <a:latin typeface="Arial" panose="020B0604020202020204" pitchFamily="34" charset="0"/>
        <a:ea typeface="宋体" panose="02010600030101010101" pitchFamily="2" charset="-122"/>
        <a:cs typeface="+mn-cs"/>
      </a:defRPr>
    </a:lvl3pPr>
    <a:lvl4pPr marL="1028700" algn="l" rtl="0" fontAlgn="base">
      <a:spcBef>
        <a:spcPct val="0"/>
      </a:spcBef>
      <a:spcAft>
        <a:spcPct val="0"/>
      </a:spcAft>
      <a:defRPr sz="1100" b="1" kern="1200">
        <a:solidFill>
          <a:schemeClr val="tx1"/>
        </a:solidFill>
        <a:latin typeface="Arial" panose="020B0604020202020204" pitchFamily="34" charset="0"/>
        <a:ea typeface="宋体" panose="02010600030101010101" pitchFamily="2" charset="-122"/>
        <a:cs typeface="+mn-cs"/>
      </a:defRPr>
    </a:lvl4pPr>
    <a:lvl5pPr marL="1371600" algn="l" rtl="0" fontAlgn="base">
      <a:spcBef>
        <a:spcPct val="0"/>
      </a:spcBef>
      <a:spcAft>
        <a:spcPct val="0"/>
      </a:spcAft>
      <a:defRPr sz="1100" b="1" kern="1200">
        <a:solidFill>
          <a:schemeClr val="tx1"/>
        </a:solidFill>
        <a:latin typeface="Arial" panose="020B0604020202020204" pitchFamily="34" charset="0"/>
        <a:ea typeface="宋体" panose="02010600030101010101" pitchFamily="2" charset="-122"/>
        <a:cs typeface="+mn-cs"/>
      </a:defRPr>
    </a:lvl5pPr>
    <a:lvl6pPr marL="1714500" algn="l" defTabSz="685800" rtl="0" eaLnBrk="1" latinLnBrk="0" hangingPunct="1">
      <a:defRPr sz="1100" b="1" kern="1200">
        <a:solidFill>
          <a:schemeClr val="tx1"/>
        </a:solidFill>
        <a:latin typeface="Arial" panose="020B0604020202020204" pitchFamily="34" charset="0"/>
        <a:ea typeface="宋体" panose="02010600030101010101" pitchFamily="2" charset="-122"/>
        <a:cs typeface="+mn-cs"/>
      </a:defRPr>
    </a:lvl6pPr>
    <a:lvl7pPr marL="2057400" algn="l" defTabSz="685800" rtl="0" eaLnBrk="1" latinLnBrk="0" hangingPunct="1">
      <a:defRPr sz="1100" b="1" kern="1200">
        <a:solidFill>
          <a:schemeClr val="tx1"/>
        </a:solidFill>
        <a:latin typeface="Arial" panose="020B0604020202020204" pitchFamily="34" charset="0"/>
        <a:ea typeface="宋体" panose="02010600030101010101" pitchFamily="2" charset="-122"/>
        <a:cs typeface="+mn-cs"/>
      </a:defRPr>
    </a:lvl7pPr>
    <a:lvl8pPr marL="2400300" algn="l" defTabSz="685800" rtl="0" eaLnBrk="1" latinLnBrk="0" hangingPunct="1">
      <a:defRPr sz="1100" b="1" kern="1200">
        <a:solidFill>
          <a:schemeClr val="tx1"/>
        </a:solidFill>
        <a:latin typeface="Arial" panose="020B0604020202020204" pitchFamily="34" charset="0"/>
        <a:ea typeface="宋体" panose="02010600030101010101" pitchFamily="2" charset="-122"/>
        <a:cs typeface="+mn-cs"/>
      </a:defRPr>
    </a:lvl8pPr>
    <a:lvl9pPr marL="2743200" algn="l" defTabSz="685800" rtl="0" eaLnBrk="1" latinLnBrk="0" hangingPunct="1">
      <a:defRPr sz="11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84110" autoAdjust="0"/>
  </p:normalViewPr>
  <p:slideViewPr>
    <p:cSldViewPr snapToGrid="0">
      <p:cViewPr varScale="1">
        <p:scale>
          <a:sx n="106" d="100"/>
          <a:sy n="106" d="100"/>
        </p:scale>
        <p:origin x="618" y="108"/>
      </p:cViewPr>
      <p:guideLst/>
    </p:cSldViewPr>
  </p:slideViewPr>
  <p:notesTextViewPr>
    <p:cViewPr>
      <p:scale>
        <a:sx n="1" d="1"/>
        <a:sy n="1" d="1"/>
      </p:scale>
      <p:origin x="0" y="0"/>
    </p:cViewPr>
  </p:notesTextViewPr>
  <p:notesViewPr>
    <p:cSldViewPr snapToGrid="0">
      <p:cViewPr varScale="1">
        <p:scale>
          <a:sx n="57" d="100"/>
          <a:sy n="57" d="100"/>
        </p:scale>
        <p:origin x="2560"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7D282FE-9420-54D0-96F8-06E3E06617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7CA75769-4DD8-6141-8502-BE78E8FFBEB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B81B76-4AB4-4305-B308-5D3DDAF80020}" type="datetimeFigureOut">
              <a:rPr lang="zh-CN" altLang="en-US" smtClean="0"/>
              <a:t>2024/11/25</a:t>
            </a:fld>
            <a:endParaRPr lang="zh-CN" altLang="en-US"/>
          </a:p>
        </p:txBody>
      </p:sp>
      <p:sp>
        <p:nvSpPr>
          <p:cNvPr id="4" name="页脚占位符 3">
            <a:extLst>
              <a:ext uri="{FF2B5EF4-FFF2-40B4-BE49-F238E27FC236}">
                <a16:creationId xmlns:a16="http://schemas.microsoft.com/office/drawing/2014/main" id="{0F464331-4931-57B3-2E26-E7396635A7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2C9E3A73-F0CF-9887-0069-C521F3897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B1FDD-F090-4199-9CF9-C7F344F6DD84}" type="slidenum">
              <a:rPr lang="zh-CN" altLang="en-US" smtClean="0"/>
              <a:t>‹#›</a:t>
            </a:fld>
            <a:endParaRPr lang="zh-CN" altLang="en-US"/>
          </a:p>
        </p:txBody>
      </p:sp>
    </p:spTree>
    <p:extLst>
      <p:ext uri="{BB962C8B-B14F-4D97-AF65-F5344CB8AC3E}">
        <p14:creationId xmlns:p14="http://schemas.microsoft.com/office/powerpoint/2010/main" val="19143688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BF28F-FF21-4539-B16A-44D504342FC9}" type="datetimeFigureOut">
              <a:rPr lang="zh-CN" altLang="en-US" smtClean="0"/>
              <a:t>2024/11/25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29DFB0-8233-44DD-B90D-81EF490FD23D}" type="slidenum">
              <a:rPr lang="zh-CN" altLang="en-US" smtClean="0"/>
              <a:t>‹#›</a:t>
            </a:fld>
            <a:endParaRPr lang="zh-CN" altLang="en-US"/>
          </a:p>
        </p:txBody>
      </p:sp>
    </p:spTree>
    <p:extLst>
      <p:ext uri="{BB962C8B-B14F-4D97-AF65-F5344CB8AC3E}">
        <p14:creationId xmlns:p14="http://schemas.microsoft.com/office/powerpoint/2010/main" val="742647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ts val="2200"/>
              </a:lnSpc>
              <a:spcBef>
                <a:spcPts val="0"/>
              </a:spcBef>
              <a:spcAft>
                <a:spcPts val="0"/>
              </a:spcAft>
              <a:buClrTx/>
              <a:buSzTx/>
              <a:buFontTx/>
              <a:buNone/>
              <a:tabLst/>
              <a:defRPr/>
            </a:pPr>
            <a:r>
              <a:rPr lang="zh-CN" altLang="en-US" sz="1200" dirty="0"/>
              <a:t>数据工程师甘工</a:t>
            </a:r>
            <a:r>
              <a:rPr lang="zh-CN" altLang="en-US" dirty="0">
                <a:effectLst/>
              </a:rPr>
              <a:t>分析发动机的振动问题</a:t>
            </a:r>
            <a:r>
              <a:rPr lang="zh-CN" altLang="en-US" sz="1200" dirty="0">
                <a:effectLst/>
              </a:rPr>
              <a:t>，不只是震动频率，</a:t>
            </a:r>
            <a:r>
              <a:rPr lang="zh-CN" altLang="en-US" sz="1200" dirty="0"/>
              <a:t>飞行中的</a:t>
            </a:r>
            <a:r>
              <a:rPr lang="zh-CN" altLang="en-US" sz="1200" dirty="0">
                <a:solidFill>
                  <a:srgbClr val="FF0000"/>
                </a:solidFill>
                <a:effectLst/>
              </a:rPr>
              <a:t>纵向加速度</a:t>
            </a:r>
            <a:r>
              <a:rPr lang="zh-CN" altLang="en-US" sz="1200" dirty="0">
                <a:effectLst/>
              </a:rPr>
              <a:t>和</a:t>
            </a:r>
            <a:r>
              <a:rPr lang="zh-CN" altLang="en-US" sz="1200" dirty="0">
                <a:solidFill>
                  <a:srgbClr val="FF0000"/>
                </a:solidFill>
                <a:effectLst/>
              </a:rPr>
              <a:t>左右发的转速与发动机相关性较高，</a:t>
            </a:r>
            <a:r>
              <a:rPr lang="zh-CN" altLang="en-US" sz="1200" dirty="0">
                <a:effectLst/>
              </a:rPr>
              <a:t>还需要综合</a:t>
            </a:r>
            <a:r>
              <a:rPr lang="zh-CN" altLang="en-US" sz="1200" dirty="0"/>
              <a:t>分析</a:t>
            </a:r>
            <a:r>
              <a:rPr lang="zh-CN" altLang="en-US" sz="1200" dirty="0">
                <a:effectLst/>
              </a:rPr>
              <a:t>。</a:t>
            </a:r>
            <a:endParaRPr lang="en-US" altLang="zh-CN" sz="1200" dirty="0">
              <a:effectLst/>
            </a:endParaRPr>
          </a:p>
          <a:p>
            <a:pPr marL="0" indent="0">
              <a:lnSpc>
                <a:spcPts val="2200"/>
              </a:lnSpc>
              <a:buNone/>
            </a:pPr>
            <a:r>
              <a:rPr lang="zh-CN" altLang="en-US" sz="1200" dirty="0">
                <a:effectLst/>
              </a:rPr>
              <a:t>但在数据采样过程中变化幅度快的数据需使用高频采样，变化幅度慢的数据需使用低频采样，因此，二者采集到的</a:t>
            </a:r>
            <a:r>
              <a:rPr lang="zh-CN" altLang="en-US" sz="1200" dirty="0">
                <a:solidFill>
                  <a:srgbClr val="FF0000"/>
                </a:solidFill>
                <a:effectLst/>
              </a:rPr>
              <a:t>数据频率不同</a:t>
            </a:r>
            <a:r>
              <a:rPr lang="zh-CN" altLang="en-US" sz="1200" dirty="0">
                <a:effectLst/>
              </a:rPr>
              <a:t>。</a:t>
            </a:r>
            <a:endParaRPr lang="en-US" altLang="zh-CN" sz="1200" dirty="0">
              <a:effectLst/>
            </a:endParaRPr>
          </a:p>
          <a:p>
            <a:pPr marL="0" indent="0">
              <a:lnSpc>
                <a:spcPts val="2200"/>
              </a:lnSpc>
              <a:buNone/>
            </a:pPr>
            <a:r>
              <a:rPr lang="zh-CN" altLang="en-US" sz="1200" dirty="0"/>
              <a:t>在进一步数据挖掘之前，需要对数据频率进行统一。</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因此采用了</a:t>
            </a:r>
            <a:r>
              <a:rPr lang="zh-CN" altLang="en-US" sz="1200" dirty="0">
                <a:solidFill>
                  <a:srgbClr val="FF0000"/>
                </a:solidFill>
              </a:rPr>
              <a:t>插补</a:t>
            </a:r>
            <a:r>
              <a:rPr lang="zh-CN" altLang="en-US" sz="1200" dirty="0"/>
              <a:t>的</a:t>
            </a:r>
            <a:r>
              <a:rPr lang="zh-CN" altLang="en-US" sz="1600" b="1" dirty="0">
                <a:solidFill>
                  <a:srgbClr val="FF0000"/>
                </a:solidFill>
              </a:rPr>
              <a:t>数据预处理</a:t>
            </a:r>
            <a:r>
              <a:rPr lang="zh-CN" altLang="en-US" sz="1200" dirty="0"/>
              <a:t>方法。</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同时后续还要对加速度的提取变化率（斜率）和左右发转速最大值。</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这也就是他们的特征提取过程</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完成之后他们要对告警的规则进行制定，去监控</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阈值预警、规则预警（趋势、突变）、模型预警。</a:t>
            </a:r>
          </a:p>
          <a:p>
            <a:endParaRPr lang="zh-CN" altLang="en-US" dirty="0"/>
          </a:p>
        </p:txBody>
      </p:sp>
      <p:sp>
        <p:nvSpPr>
          <p:cNvPr id="4" name="灯片编号占位符 3"/>
          <p:cNvSpPr>
            <a:spLocks noGrp="1"/>
          </p:cNvSpPr>
          <p:nvPr>
            <p:ph type="sldNum" sz="quarter" idx="5"/>
          </p:nvPr>
        </p:nvSpPr>
        <p:spPr/>
        <p:txBody>
          <a:bodyPr/>
          <a:lstStyle/>
          <a:p>
            <a:fld id="{1329DFB0-8233-44DD-B90D-81EF490FD23D}" type="slidenum">
              <a:rPr lang="zh-CN" altLang="en-US" smtClean="0"/>
              <a:t>3</a:t>
            </a:fld>
            <a:endParaRPr lang="zh-CN" altLang="en-US"/>
          </a:p>
        </p:txBody>
      </p:sp>
    </p:spTree>
    <p:extLst>
      <p:ext uri="{BB962C8B-B14F-4D97-AF65-F5344CB8AC3E}">
        <p14:creationId xmlns:p14="http://schemas.microsoft.com/office/powerpoint/2010/main" val="1802970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CC0000"/>
                </a:solidFill>
                <a:effectLst/>
                <a:highlight>
                  <a:srgbClr val="FFFFFF"/>
                </a:highlight>
                <a:latin typeface="Arial" panose="020B0604020202020204" pitchFamily="34" charset="0"/>
              </a:rPr>
              <a:t>快速傅里叶变换</a:t>
            </a:r>
            <a:r>
              <a:rPr lang="en-US" altLang="zh-CN" b="0" i="0" dirty="0">
                <a:solidFill>
                  <a:srgbClr val="CC0000"/>
                </a:solidFill>
                <a:effectLst/>
                <a:highlight>
                  <a:srgbClr val="FFFFFF"/>
                </a:highlight>
                <a:latin typeface="Arial" panose="020B0604020202020204" pitchFamily="34" charset="0"/>
              </a:rPr>
              <a:t>(FFT)</a:t>
            </a:r>
            <a:r>
              <a:rPr lang="zh-CN" altLang="en-US" b="0" i="0" dirty="0">
                <a:solidFill>
                  <a:srgbClr val="CC0000"/>
                </a:solidFill>
                <a:effectLst/>
                <a:highlight>
                  <a:srgbClr val="FFFFFF"/>
                </a:highlight>
                <a:latin typeface="Arial" panose="020B0604020202020204" pitchFamily="34" charset="0"/>
              </a:rPr>
              <a:t>是一种高效计算离散傅里叶变换</a:t>
            </a:r>
            <a:r>
              <a:rPr lang="en-US" altLang="zh-CN" b="0" i="0" dirty="0">
                <a:solidFill>
                  <a:srgbClr val="CC0000"/>
                </a:solidFill>
                <a:effectLst/>
                <a:highlight>
                  <a:srgbClr val="FFFFFF"/>
                </a:highlight>
                <a:latin typeface="Arial" panose="020B0604020202020204" pitchFamily="34" charset="0"/>
              </a:rPr>
              <a:t>(DFT)</a:t>
            </a:r>
            <a:r>
              <a:rPr lang="zh-CN" altLang="en-US" b="0" i="0" dirty="0">
                <a:solidFill>
                  <a:srgbClr val="CC0000"/>
                </a:solidFill>
                <a:effectLst/>
                <a:highlight>
                  <a:srgbClr val="FFFFFF"/>
                </a:highlight>
                <a:latin typeface="Arial" panose="020B0604020202020204" pitchFamily="34" charset="0"/>
              </a:rPr>
              <a:t>的方法，可以在</a:t>
            </a:r>
            <a:r>
              <a:rPr lang="en-US" altLang="zh-CN" b="0" i="0" dirty="0">
                <a:solidFill>
                  <a:srgbClr val="CC0000"/>
                </a:solidFill>
                <a:effectLst/>
                <a:highlight>
                  <a:srgbClr val="FFFFFF"/>
                </a:highlight>
                <a:latin typeface="Arial" panose="020B0604020202020204" pitchFamily="34" charset="0"/>
              </a:rPr>
              <a:t>S0(</a:t>
            </a:r>
            <a:r>
              <a:rPr lang="en-US" altLang="zh-CN" b="0" i="0" dirty="0" err="1">
                <a:solidFill>
                  <a:srgbClr val="CC0000"/>
                </a:solidFill>
                <a:effectLst/>
                <a:highlight>
                  <a:srgbClr val="FFFFFF"/>
                </a:highlight>
                <a:latin typeface="Arial" panose="020B0604020202020204" pitchFamily="34" charset="0"/>
              </a:rPr>
              <a:t>nlog</a:t>
            </a:r>
            <a:r>
              <a:rPr lang="en-US" altLang="zh-CN" b="0" i="0" dirty="0">
                <a:solidFill>
                  <a:srgbClr val="CC0000"/>
                </a:solidFill>
                <a:effectLst/>
                <a:highlight>
                  <a:srgbClr val="FFFFFF"/>
                </a:highlight>
                <a:latin typeface="Arial" panose="020B0604020202020204" pitchFamily="34" charset="0"/>
              </a:rPr>
              <a:t> n)$</a:t>
            </a:r>
            <a:r>
              <a:rPr lang="zh-CN" altLang="en-US" b="0" i="0" dirty="0">
                <a:solidFill>
                  <a:srgbClr val="CC0000"/>
                </a:solidFill>
                <a:effectLst/>
                <a:highlight>
                  <a:srgbClr val="FFFFFF"/>
                </a:highlight>
                <a:latin typeface="Arial" panose="020B0604020202020204" pitchFamily="34" charset="0"/>
              </a:rPr>
              <a:t>时间复杂度内完成信号的频域分析。</a:t>
            </a:r>
            <a:endParaRPr lang="en-US" altLang="zh-CN" b="0" i="0" dirty="0">
              <a:solidFill>
                <a:srgbClr val="CC0000"/>
              </a:solidFill>
              <a:effectLst/>
              <a:highlight>
                <a:srgbClr val="FFFFFF"/>
              </a:highlight>
              <a:latin typeface="Arial" panose="020B0604020202020204" pitchFamily="34" charset="0"/>
            </a:endParaRPr>
          </a:p>
          <a:p>
            <a:endParaRPr lang="en-US" altLang="zh-CN" b="0" i="0" dirty="0">
              <a:solidFill>
                <a:srgbClr val="CC0000"/>
              </a:solidFill>
              <a:effectLst/>
              <a:highlight>
                <a:srgbClr val="FFFFFF"/>
              </a:highlight>
              <a:latin typeface="Arial" panose="020B0604020202020204" pitchFamily="34" charset="0"/>
            </a:endParaRPr>
          </a:p>
          <a:p>
            <a:r>
              <a:rPr lang="zh-CN" altLang="en-US" b="0" i="0" dirty="0">
                <a:solidFill>
                  <a:srgbClr val="CC0000"/>
                </a:solidFill>
                <a:effectLst/>
                <a:highlight>
                  <a:srgbClr val="FFFFFF"/>
                </a:highlight>
                <a:latin typeface="Arial" panose="020B0604020202020204" pitchFamily="34" charset="0"/>
              </a:rPr>
              <a:t>移动平均能够去除时间序列的短期波动</a:t>
            </a:r>
            <a:r>
              <a:rPr lang="zh-CN" altLang="en-US" b="0" i="0" dirty="0">
                <a:solidFill>
                  <a:srgbClr val="71777D"/>
                </a:solidFill>
                <a:effectLst/>
                <a:highlight>
                  <a:srgbClr val="FFFFFF"/>
                </a:highlight>
                <a:latin typeface="Arial" panose="020B0604020202020204" pitchFamily="34" charset="0"/>
              </a:rPr>
              <a:t>，</a:t>
            </a:r>
            <a:r>
              <a:rPr lang="zh-CN" altLang="en-US" b="0" i="0" dirty="0">
                <a:solidFill>
                  <a:srgbClr val="CC0000"/>
                </a:solidFill>
                <a:effectLst/>
                <a:highlight>
                  <a:srgbClr val="FFFFFF"/>
                </a:highlight>
                <a:latin typeface="Arial" panose="020B0604020202020204" pitchFamily="34" charset="0"/>
              </a:rPr>
              <a:t>使得数据变得平滑</a:t>
            </a:r>
            <a:r>
              <a:rPr lang="zh-CN" altLang="en-US" b="0" i="0" dirty="0">
                <a:solidFill>
                  <a:srgbClr val="71777D"/>
                </a:solidFill>
                <a:effectLst/>
                <a:highlight>
                  <a:srgbClr val="FFFFFF"/>
                </a:highlight>
                <a:latin typeface="Arial" panose="020B0604020202020204" pitchFamily="34" charset="0"/>
              </a:rPr>
              <a:t>，</a:t>
            </a:r>
            <a:r>
              <a:rPr lang="zh-CN" altLang="en-US" b="0" i="0" dirty="0">
                <a:solidFill>
                  <a:srgbClr val="CC0000"/>
                </a:solidFill>
                <a:effectLst/>
                <a:highlight>
                  <a:srgbClr val="FFFFFF"/>
                </a:highlight>
                <a:latin typeface="Arial" panose="020B0604020202020204" pitchFamily="34" charset="0"/>
              </a:rPr>
              <a:t>从而可以方便的看出序列的趋势特征</a:t>
            </a:r>
            <a:r>
              <a:rPr lang="zh-CN" altLang="en-US" b="0" i="0" dirty="0">
                <a:solidFill>
                  <a:srgbClr val="71777D"/>
                </a:solidFill>
                <a:effectLst/>
                <a:highlight>
                  <a:srgbClr val="FFFFFF"/>
                </a:highlight>
                <a:latin typeface="Arial" panose="020B0604020202020204" pitchFamily="34" charset="0"/>
              </a:rPr>
              <a:t>。 原序列波动较大，经过移动平均后，随机波动会明显减少</a:t>
            </a:r>
            <a:endParaRPr lang="zh-CN" altLang="en-US" dirty="0"/>
          </a:p>
        </p:txBody>
      </p:sp>
      <p:sp>
        <p:nvSpPr>
          <p:cNvPr id="4" name="灯片编号占位符 3"/>
          <p:cNvSpPr>
            <a:spLocks noGrp="1"/>
          </p:cNvSpPr>
          <p:nvPr>
            <p:ph type="sldNum" sz="quarter" idx="5"/>
          </p:nvPr>
        </p:nvSpPr>
        <p:spPr/>
        <p:txBody>
          <a:bodyPr/>
          <a:lstStyle/>
          <a:p>
            <a:fld id="{1329DFB0-8233-44DD-B90D-81EF490FD23D}" type="slidenum">
              <a:rPr lang="zh-CN" altLang="en-US" smtClean="0"/>
              <a:t>4</a:t>
            </a:fld>
            <a:endParaRPr lang="zh-CN" altLang="en-US"/>
          </a:p>
        </p:txBody>
      </p:sp>
    </p:spTree>
    <p:extLst>
      <p:ext uri="{BB962C8B-B14F-4D97-AF65-F5344CB8AC3E}">
        <p14:creationId xmlns:p14="http://schemas.microsoft.com/office/powerpoint/2010/main" val="2298866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en-US" altLang="zh-CN" sz="1200" dirty="0"/>
              <a:t>1</a:t>
            </a:r>
            <a:r>
              <a:rPr lang="zh-CN" altLang="en-US" sz="1200" dirty="0"/>
              <a:t>、数据平台数据查找困难（数据归档不规范）</a:t>
            </a:r>
            <a:endParaRPr lang="en-US" altLang="zh-CN" sz="1200" dirty="0"/>
          </a:p>
          <a:p>
            <a:pPr>
              <a:lnSpc>
                <a:spcPct val="150000"/>
              </a:lnSpc>
            </a:pPr>
            <a:r>
              <a:rPr lang="en-US" altLang="zh-CN" sz="1200" dirty="0"/>
              <a:t>2</a:t>
            </a:r>
            <a:r>
              <a:rPr lang="zh-CN" altLang="en-US" sz="1200" dirty="0"/>
              <a:t>、数据平台“难上手”，门槛较高，操作复杂且理解成本高。</a:t>
            </a:r>
            <a:endParaRPr lang="en-US" altLang="zh-CN" sz="1200" dirty="0"/>
          </a:p>
          <a:p>
            <a:pPr>
              <a:lnSpc>
                <a:spcPct val="150000"/>
              </a:lnSpc>
            </a:pPr>
            <a:r>
              <a:rPr lang="en-US" altLang="zh-CN" sz="1200" dirty="0"/>
              <a:t>3</a:t>
            </a:r>
            <a:r>
              <a:rPr lang="zh-CN" altLang="en-US" sz="1200" dirty="0"/>
              <a:t>、数据处理和分析方法仅能用固定的几种，不可扩展。</a:t>
            </a:r>
            <a:endParaRPr lang="en-US" altLang="zh-CN" sz="1200" dirty="0"/>
          </a:p>
          <a:p>
            <a:pPr>
              <a:lnSpc>
                <a:spcPct val="150000"/>
              </a:lnSpc>
            </a:pPr>
            <a:endParaRPr lang="en-US" altLang="zh-CN" sz="1200" dirty="0"/>
          </a:p>
          <a:p>
            <a:pPr>
              <a:lnSpc>
                <a:spcPct val="150000"/>
              </a:lnSpc>
            </a:pPr>
            <a:r>
              <a:rPr lang="en-US" altLang="zh-CN" sz="1200" dirty="0"/>
              <a:t>1</a:t>
            </a:r>
            <a:r>
              <a:rPr lang="zh-CN" altLang="en-US" sz="1200" dirty="0"/>
              <a:t>、数据孤岛问题。</a:t>
            </a:r>
            <a:endParaRPr lang="en-US" altLang="zh-CN" sz="1200" dirty="0"/>
          </a:p>
          <a:p>
            <a:pPr>
              <a:lnSpc>
                <a:spcPct val="150000"/>
              </a:lnSpc>
            </a:pPr>
            <a:r>
              <a:rPr lang="en-US" altLang="zh-CN" sz="1200" dirty="0"/>
              <a:t>2</a:t>
            </a:r>
            <a:r>
              <a:rPr lang="zh-CN" altLang="en-US" sz="1200" dirty="0"/>
              <a:t>、</a:t>
            </a:r>
            <a:r>
              <a:rPr lang="zh-CN" altLang="en-US" sz="1200" dirty="0">
                <a:solidFill>
                  <a:srgbClr val="060607"/>
                </a:solidFill>
                <a:highlight>
                  <a:srgbClr val="FFFFFF"/>
                </a:highlight>
                <a:latin typeface="-apple-system"/>
              </a:rPr>
              <a:t>无法快速</a:t>
            </a:r>
            <a:r>
              <a:rPr lang="zh-CN" altLang="en-US" sz="1200" i="0" dirty="0">
                <a:solidFill>
                  <a:srgbClr val="060607"/>
                </a:solidFill>
                <a:effectLst/>
                <a:highlight>
                  <a:srgbClr val="FFFFFF"/>
                </a:highlight>
                <a:latin typeface="-apple-system"/>
              </a:rPr>
              <a:t>支撑业务应用：没有串联从数据采集到数据处理、数据归档的数据管理全周期能力</a:t>
            </a:r>
            <a:r>
              <a:rPr lang="zh-CN" altLang="en-US" sz="1200" dirty="0"/>
              <a:t>。</a:t>
            </a:r>
            <a:endParaRPr lang="en-US" altLang="zh-CN" sz="1200" dirty="0"/>
          </a:p>
          <a:p>
            <a:pPr>
              <a:lnSpc>
                <a:spcPct val="150000"/>
              </a:lnSpc>
            </a:pPr>
            <a:r>
              <a:rPr lang="en-US" altLang="zh-CN" sz="1200" dirty="0"/>
              <a:t>3</a:t>
            </a:r>
            <a:r>
              <a:rPr lang="zh-CN" altLang="en-US" sz="1200" dirty="0"/>
              <a:t>、数据治理和数据应用存在</a:t>
            </a:r>
            <a:r>
              <a:rPr lang="en-US" altLang="zh-CN" sz="1200" dirty="0"/>
              <a:t>gap</a:t>
            </a:r>
            <a:r>
              <a:rPr lang="zh-CN" altLang="en-US" sz="1200" dirty="0"/>
              <a:t>，跨部门协作困难。</a:t>
            </a:r>
          </a:p>
          <a:p>
            <a:endParaRPr lang="zh-CN" altLang="en-US" dirty="0"/>
          </a:p>
        </p:txBody>
      </p:sp>
      <p:sp>
        <p:nvSpPr>
          <p:cNvPr id="4" name="灯片编号占位符 3"/>
          <p:cNvSpPr>
            <a:spLocks noGrp="1"/>
          </p:cNvSpPr>
          <p:nvPr>
            <p:ph type="sldNum" sz="quarter" idx="5"/>
          </p:nvPr>
        </p:nvSpPr>
        <p:spPr/>
        <p:txBody>
          <a:bodyPr/>
          <a:lstStyle/>
          <a:p>
            <a:fld id="{1329DFB0-8233-44DD-B90D-81EF490FD23D}" type="slidenum">
              <a:rPr lang="zh-CN" altLang="en-US" smtClean="0"/>
              <a:t>5</a:t>
            </a:fld>
            <a:endParaRPr lang="zh-CN" altLang="en-US"/>
          </a:p>
        </p:txBody>
      </p:sp>
    </p:spTree>
    <p:extLst>
      <p:ext uri="{BB962C8B-B14F-4D97-AF65-F5344CB8AC3E}">
        <p14:creationId xmlns:p14="http://schemas.microsoft.com/office/powerpoint/2010/main" val="3894464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en-US" altLang="zh-CN" sz="1200" dirty="0"/>
              <a:t>1</a:t>
            </a:r>
            <a:r>
              <a:rPr lang="zh-CN" altLang="en-US" sz="1200" dirty="0"/>
              <a:t>、数据平台数据查找困难（数据归档不规范）</a:t>
            </a:r>
            <a:endParaRPr lang="en-US" altLang="zh-CN" sz="1200" dirty="0"/>
          </a:p>
          <a:p>
            <a:pPr>
              <a:lnSpc>
                <a:spcPct val="150000"/>
              </a:lnSpc>
            </a:pPr>
            <a:r>
              <a:rPr lang="en-US" altLang="zh-CN" sz="1200" dirty="0"/>
              <a:t>2</a:t>
            </a:r>
            <a:r>
              <a:rPr lang="zh-CN" altLang="en-US" sz="1200" dirty="0"/>
              <a:t>、数据平台“难上手”，门槛较高，操作复杂且理解成本高。</a:t>
            </a:r>
            <a:endParaRPr lang="en-US" altLang="zh-CN" sz="1200" dirty="0"/>
          </a:p>
          <a:p>
            <a:pPr>
              <a:lnSpc>
                <a:spcPct val="150000"/>
              </a:lnSpc>
            </a:pPr>
            <a:r>
              <a:rPr lang="en-US" altLang="zh-CN" sz="1200" dirty="0"/>
              <a:t>3</a:t>
            </a:r>
            <a:r>
              <a:rPr lang="zh-CN" altLang="en-US" sz="1200" dirty="0"/>
              <a:t>、数据处理和分析方法仅能用固定的几种，不可扩展。</a:t>
            </a:r>
            <a:endParaRPr lang="en-US" altLang="zh-CN" sz="1200" dirty="0"/>
          </a:p>
          <a:p>
            <a:pPr>
              <a:lnSpc>
                <a:spcPct val="150000"/>
              </a:lnSpc>
            </a:pPr>
            <a:endParaRPr lang="en-US" altLang="zh-CN" sz="1200" dirty="0"/>
          </a:p>
          <a:p>
            <a:pPr>
              <a:lnSpc>
                <a:spcPct val="150000"/>
              </a:lnSpc>
            </a:pPr>
            <a:r>
              <a:rPr lang="en-US" altLang="zh-CN" sz="1200" dirty="0"/>
              <a:t>1</a:t>
            </a:r>
            <a:r>
              <a:rPr lang="zh-CN" altLang="en-US" sz="1200" dirty="0"/>
              <a:t>、数据孤岛问题。</a:t>
            </a:r>
            <a:endParaRPr lang="en-US" altLang="zh-CN" sz="1200" dirty="0"/>
          </a:p>
          <a:p>
            <a:pPr>
              <a:lnSpc>
                <a:spcPct val="150000"/>
              </a:lnSpc>
            </a:pPr>
            <a:r>
              <a:rPr lang="en-US" altLang="zh-CN" sz="1200" dirty="0"/>
              <a:t>2</a:t>
            </a:r>
            <a:r>
              <a:rPr lang="zh-CN" altLang="en-US" sz="1200" dirty="0"/>
              <a:t>、</a:t>
            </a:r>
            <a:r>
              <a:rPr lang="zh-CN" altLang="en-US" sz="1200" dirty="0">
                <a:solidFill>
                  <a:srgbClr val="060607"/>
                </a:solidFill>
                <a:highlight>
                  <a:srgbClr val="FFFFFF"/>
                </a:highlight>
                <a:latin typeface="-apple-system"/>
              </a:rPr>
              <a:t>无法快速</a:t>
            </a:r>
            <a:r>
              <a:rPr lang="zh-CN" altLang="en-US" sz="1200" i="0" dirty="0">
                <a:solidFill>
                  <a:srgbClr val="060607"/>
                </a:solidFill>
                <a:effectLst/>
                <a:highlight>
                  <a:srgbClr val="FFFFFF"/>
                </a:highlight>
                <a:latin typeface="-apple-system"/>
              </a:rPr>
              <a:t>支撑业务应用：没有串联从数据采集到数据处理、数据归档的数据管理全周期能力</a:t>
            </a:r>
            <a:r>
              <a:rPr lang="zh-CN" altLang="en-US" sz="1200" dirty="0"/>
              <a:t>。</a:t>
            </a:r>
            <a:endParaRPr lang="en-US" altLang="zh-CN" sz="1200" dirty="0"/>
          </a:p>
          <a:p>
            <a:pPr>
              <a:lnSpc>
                <a:spcPct val="150000"/>
              </a:lnSpc>
            </a:pPr>
            <a:r>
              <a:rPr lang="en-US" altLang="zh-CN" sz="1200" dirty="0"/>
              <a:t>3</a:t>
            </a:r>
            <a:r>
              <a:rPr lang="zh-CN" altLang="en-US" sz="1200" dirty="0"/>
              <a:t>、数据治理和数据应用存在</a:t>
            </a:r>
            <a:r>
              <a:rPr lang="en-US" altLang="zh-CN" sz="1200" dirty="0"/>
              <a:t>gap</a:t>
            </a:r>
            <a:r>
              <a:rPr lang="zh-CN" altLang="en-US" sz="1200" dirty="0"/>
              <a:t>，跨部门协作困难。</a:t>
            </a:r>
          </a:p>
          <a:p>
            <a:pPr>
              <a:lnSpc>
                <a:spcPct val="150000"/>
              </a:lnSpc>
            </a:pPr>
            <a:endParaRPr lang="zh-CN" altLang="en-US" sz="1200" dirty="0"/>
          </a:p>
        </p:txBody>
      </p:sp>
      <p:sp>
        <p:nvSpPr>
          <p:cNvPr id="4" name="灯片编号占位符 3"/>
          <p:cNvSpPr>
            <a:spLocks noGrp="1"/>
          </p:cNvSpPr>
          <p:nvPr>
            <p:ph type="sldNum" sz="quarter" idx="5"/>
          </p:nvPr>
        </p:nvSpPr>
        <p:spPr/>
        <p:txBody>
          <a:bodyPr/>
          <a:lstStyle/>
          <a:p>
            <a:fld id="{1329DFB0-8233-44DD-B90D-81EF490FD23D}" type="slidenum">
              <a:rPr lang="zh-CN" altLang="en-US" smtClean="0"/>
              <a:t>6</a:t>
            </a:fld>
            <a:endParaRPr lang="zh-CN" altLang="en-US"/>
          </a:p>
        </p:txBody>
      </p:sp>
    </p:spTree>
    <p:extLst>
      <p:ext uri="{BB962C8B-B14F-4D97-AF65-F5344CB8AC3E}">
        <p14:creationId xmlns:p14="http://schemas.microsoft.com/office/powerpoint/2010/main" val="2813559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29DFB0-8233-44DD-B90D-81EF490FD23D}" type="slidenum">
              <a:rPr lang="zh-CN" altLang="en-US" smtClean="0"/>
              <a:t>7</a:t>
            </a:fld>
            <a:endParaRPr lang="zh-CN" altLang="en-US"/>
          </a:p>
        </p:txBody>
      </p:sp>
    </p:spTree>
    <p:extLst>
      <p:ext uri="{BB962C8B-B14F-4D97-AF65-F5344CB8AC3E}">
        <p14:creationId xmlns:p14="http://schemas.microsoft.com/office/powerpoint/2010/main" val="149869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9DD940-6ACC-5EFD-43DD-4FC2FE7FF4A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0E8584F-175A-EC63-17EB-F9DE397361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392058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E26DFD-4A50-848E-3CAC-603E7FC84468}"/>
              </a:ext>
            </a:extLst>
          </p:cNvPr>
          <p:cNvSpPr>
            <a:spLocks noGrp="1"/>
          </p:cNvSpPr>
          <p:nvPr>
            <p:ph type="title"/>
          </p:nvPr>
        </p:nvSpPr>
        <p:spPr/>
        <p:txBody>
          <a:bodyPr/>
          <a:lstStyle>
            <a:lvl1pPr>
              <a:defRPr b="1"/>
            </a:lvl1p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55BFA4C0-6513-A6D3-1C43-04DC70E519F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10950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C37C6A-E4F0-DC23-0884-72B3932774C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21065E1-053A-CC5B-5680-0FA17D172A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AF6A516-AE67-9012-5287-2B17FD2D6387}"/>
              </a:ext>
            </a:extLst>
          </p:cNvPr>
          <p:cNvSpPr>
            <a:spLocks noGrp="1"/>
          </p:cNvSpPr>
          <p:nvPr>
            <p:ph type="dt" sz="half" idx="10"/>
          </p:nvPr>
        </p:nvSpPr>
        <p:spPr>
          <a:xfrm>
            <a:off x="838200" y="6356350"/>
            <a:ext cx="2743200" cy="365125"/>
          </a:xfrm>
          <a:prstGeom prst="rect">
            <a:avLst/>
          </a:prstGeom>
        </p:spPr>
        <p:txBody>
          <a:bodyPr/>
          <a:lstStyle/>
          <a:p>
            <a:fld id="{878C8641-DF6E-427A-B2AF-3B228A44BBF8}" type="datetimeFigureOut">
              <a:rPr lang="zh-CN" altLang="en-US" smtClean="0"/>
              <a:t>2024/11/25</a:t>
            </a:fld>
            <a:endParaRPr lang="zh-CN" altLang="en-US"/>
          </a:p>
        </p:txBody>
      </p:sp>
      <p:sp>
        <p:nvSpPr>
          <p:cNvPr id="5" name="页脚占位符 4">
            <a:extLst>
              <a:ext uri="{FF2B5EF4-FFF2-40B4-BE49-F238E27FC236}">
                <a16:creationId xmlns:a16="http://schemas.microsoft.com/office/drawing/2014/main" id="{D9AC506E-A93B-9B06-7C54-CF0416EAFE96}"/>
              </a:ext>
            </a:extLst>
          </p:cNvPr>
          <p:cNvSpPr>
            <a:spLocks noGrp="1"/>
          </p:cNvSpPr>
          <p:nvPr>
            <p:ph type="ftr" sz="quarter" idx="11"/>
          </p:nvPr>
        </p:nvSpPr>
        <p:spPr>
          <a:xfrm>
            <a:off x="309113" y="5874728"/>
            <a:ext cx="310763" cy="298892"/>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3BAC20FE-F887-1494-644C-0FECAFCDEA49}"/>
              </a:ext>
            </a:extLst>
          </p:cNvPr>
          <p:cNvSpPr>
            <a:spLocks noGrp="1"/>
          </p:cNvSpPr>
          <p:nvPr>
            <p:ph type="sldNum" sz="quarter" idx="12"/>
          </p:nvPr>
        </p:nvSpPr>
        <p:spPr>
          <a:xfrm>
            <a:off x="8610600" y="6356350"/>
            <a:ext cx="2743200" cy="365125"/>
          </a:xfrm>
          <a:prstGeom prst="rect">
            <a:avLst/>
          </a:prstGeom>
        </p:spPr>
        <p:txBody>
          <a:bodyPr/>
          <a:lstStyle/>
          <a:p>
            <a:fld id="{01EB0E21-7F8C-4585-BC85-C568FCF8703F}" type="slidenum">
              <a:rPr lang="zh-CN" altLang="en-US" smtClean="0"/>
              <a:t>‹#›</a:t>
            </a:fld>
            <a:endParaRPr lang="zh-CN" altLang="en-US"/>
          </a:p>
        </p:txBody>
      </p:sp>
    </p:spTree>
    <p:extLst>
      <p:ext uri="{BB962C8B-B14F-4D97-AF65-F5344CB8AC3E}">
        <p14:creationId xmlns:p14="http://schemas.microsoft.com/office/powerpoint/2010/main" val="1701407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DE6523-7EDF-CD13-0E48-AD3BBDB0873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57A5137-DE93-37A6-0DD5-5BA673E38C6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87EBB9F-50F7-8A19-39D5-5008F145F31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72F1151-1834-95EA-EC3D-43DF0AADCBDA}"/>
              </a:ext>
            </a:extLst>
          </p:cNvPr>
          <p:cNvSpPr>
            <a:spLocks noGrp="1"/>
          </p:cNvSpPr>
          <p:nvPr>
            <p:ph type="dt" sz="half" idx="10"/>
          </p:nvPr>
        </p:nvSpPr>
        <p:spPr>
          <a:xfrm>
            <a:off x="838200" y="6356350"/>
            <a:ext cx="2743200" cy="365125"/>
          </a:xfrm>
          <a:prstGeom prst="rect">
            <a:avLst/>
          </a:prstGeom>
        </p:spPr>
        <p:txBody>
          <a:bodyPr/>
          <a:lstStyle/>
          <a:p>
            <a:fld id="{878C8641-DF6E-427A-B2AF-3B228A44BBF8}" type="datetimeFigureOut">
              <a:rPr lang="zh-CN" altLang="en-US" smtClean="0"/>
              <a:t>2024/11/25</a:t>
            </a:fld>
            <a:endParaRPr lang="zh-CN" altLang="en-US"/>
          </a:p>
        </p:txBody>
      </p:sp>
      <p:sp>
        <p:nvSpPr>
          <p:cNvPr id="6" name="页脚占位符 5">
            <a:extLst>
              <a:ext uri="{FF2B5EF4-FFF2-40B4-BE49-F238E27FC236}">
                <a16:creationId xmlns:a16="http://schemas.microsoft.com/office/drawing/2014/main" id="{A81C0243-6942-7E91-EBB3-41F0F8FF6775}"/>
              </a:ext>
            </a:extLst>
          </p:cNvPr>
          <p:cNvSpPr>
            <a:spLocks noGrp="1"/>
          </p:cNvSpPr>
          <p:nvPr>
            <p:ph type="ftr" sz="quarter" idx="11"/>
          </p:nvPr>
        </p:nvSpPr>
        <p:spPr>
          <a:xfrm>
            <a:off x="309113" y="5874728"/>
            <a:ext cx="310763" cy="298892"/>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CF457D0-E561-55BB-BAB0-F6BD23AF6621}"/>
              </a:ext>
            </a:extLst>
          </p:cNvPr>
          <p:cNvSpPr>
            <a:spLocks noGrp="1"/>
          </p:cNvSpPr>
          <p:nvPr>
            <p:ph type="sldNum" sz="quarter" idx="12"/>
          </p:nvPr>
        </p:nvSpPr>
        <p:spPr>
          <a:xfrm>
            <a:off x="8610600" y="6356350"/>
            <a:ext cx="2743200" cy="365125"/>
          </a:xfrm>
          <a:prstGeom prst="rect">
            <a:avLst/>
          </a:prstGeom>
        </p:spPr>
        <p:txBody>
          <a:bodyPr/>
          <a:lstStyle/>
          <a:p>
            <a:fld id="{01EB0E21-7F8C-4585-BC85-C568FCF8703F}" type="slidenum">
              <a:rPr lang="zh-CN" altLang="en-US" smtClean="0"/>
              <a:t>‹#›</a:t>
            </a:fld>
            <a:endParaRPr lang="zh-CN" altLang="en-US"/>
          </a:p>
        </p:txBody>
      </p:sp>
    </p:spTree>
    <p:extLst>
      <p:ext uri="{BB962C8B-B14F-4D97-AF65-F5344CB8AC3E}">
        <p14:creationId xmlns:p14="http://schemas.microsoft.com/office/powerpoint/2010/main" val="948245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530ED6-9687-0BA5-B7A6-1BD196FDF1C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E4B27E5-BB55-FE32-7402-E0FFC9D079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9AE20E2-54D6-C3EA-C702-E51027A1E41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DAB0D97-2A52-1DB7-1F9C-6009B46772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F6DB788-7D9B-28CE-2A38-DB7663511F2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9570E86-FEB9-33C2-C86A-49243FAB8BD8}"/>
              </a:ext>
            </a:extLst>
          </p:cNvPr>
          <p:cNvSpPr>
            <a:spLocks noGrp="1"/>
          </p:cNvSpPr>
          <p:nvPr>
            <p:ph type="dt" sz="half" idx="10"/>
          </p:nvPr>
        </p:nvSpPr>
        <p:spPr>
          <a:xfrm>
            <a:off x="838200" y="6356350"/>
            <a:ext cx="2743200" cy="365125"/>
          </a:xfrm>
          <a:prstGeom prst="rect">
            <a:avLst/>
          </a:prstGeom>
        </p:spPr>
        <p:txBody>
          <a:bodyPr/>
          <a:lstStyle/>
          <a:p>
            <a:fld id="{878C8641-DF6E-427A-B2AF-3B228A44BBF8}" type="datetimeFigureOut">
              <a:rPr lang="zh-CN" altLang="en-US" smtClean="0"/>
              <a:t>2024/11/25</a:t>
            </a:fld>
            <a:endParaRPr lang="zh-CN" altLang="en-US"/>
          </a:p>
        </p:txBody>
      </p:sp>
      <p:sp>
        <p:nvSpPr>
          <p:cNvPr id="8" name="页脚占位符 7">
            <a:extLst>
              <a:ext uri="{FF2B5EF4-FFF2-40B4-BE49-F238E27FC236}">
                <a16:creationId xmlns:a16="http://schemas.microsoft.com/office/drawing/2014/main" id="{34FF91D6-EACD-1A53-BC8A-C67C373E26E4}"/>
              </a:ext>
            </a:extLst>
          </p:cNvPr>
          <p:cNvSpPr>
            <a:spLocks noGrp="1"/>
          </p:cNvSpPr>
          <p:nvPr>
            <p:ph type="ftr" sz="quarter" idx="11"/>
          </p:nvPr>
        </p:nvSpPr>
        <p:spPr>
          <a:xfrm>
            <a:off x="309113" y="5874728"/>
            <a:ext cx="310763" cy="298892"/>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6A7C56D9-CDE9-0915-2FF1-3B602B166565}"/>
              </a:ext>
            </a:extLst>
          </p:cNvPr>
          <p:cNvSpPr>
            <a:spLocks noGrp="1"/>
          </p:cNvSpPr>
          <p:nvPr>
            <p:ph type="sldNum" sz="quarter" idx="12"/>
          </p:nvPr>
        </p:nvSpPr>
        <p:spPr>
          <a:xfrm>
            <a:off x="8610600" y="6356350"/>
            <a:ext cx="2743200" cy="365125"/>
          </a:xfrm>
          <a:prstGeom prst="rect">
            <a:avLst/>
          </a:prstGeom>
        </p:spPr>
        <p:txBody>
          <a:bodyPr/>
          <a:lstStyle/>
          <a:p>
            <a:fld id="{01EB0E21-7F8C-4585-BC85-C568FCF8703F}" type="slidenum">
              <a:rPr lang="zh-CN" altLang="en-US" smtClean="0"/>
              <a:t>‹#›</a:t>
            </a:fld>
            <a:endParaRPr lang="zh-CN" altLang="en-US"/>
          </a:p>
        </p:txBody>
      </p:sp>
    </p:spTree>
    <p:extLst>
      <p:ext uri="{BB962C8B-B14F-4D97-AF65-F5344CB8AC3E}">
        <p14:creationId xmlns:p14="http://schemas.microsoft.com/office/powerpoint/2010/main" val="1159433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03B918-05CB-E30C-30A5-68872D6C873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A83202A-294B-3AB7-2A0B-FB3D568C940E}"/>
              </a:ext>
            </a:extLst>
          </p:cNvPr>
          <p:cNvSpPr>
            <a:spLocks noGrp="1"/>
          </p:cNvSpPr>
          <p:nvPr>
            <p:ph type="dt" sz="half" idx="10"/>
          </p:nvPr>
        </p:nvSpPr>
        <p:spPr>
          <a:xfrm>
            <a:off x="838200" y="6356350"/>
            <a:ext cx="2743200" cy="365125"/>
          </a:xfrm>
          <a:prstGeom prst="rect">
            <a:avLst/>
          </a:prstGeom>
        </p:spPr>
        <p:txBody>
          <a:bodyPr/>
          <a:lstStyle/>
          <a:p>
            <a:fld id="{878C8641-DF6E-427A-B2AF-3B228A44BBF8}" type="datetimeFigureOut">
              <a:rPr lang="zh-CN" altLang="en-US" smtClean="0"/>
              <a:t>2024/11/25</a:t>
            </a:fld>
            <a:endParaRPr lang="zh-CN" altLang="en-US"/>
          </a:p>
        </p:txBody>
      </p:sp>
      <p:sp>
        <p:nvSpPr>
          <p:cNvPr id="4" name="页脚占位符 3">
            <a:extLst>
              <a:ext uri="{FF2B5EF4-FFF2-40B4-BE49-F238E27FC236}">
                <a16:creationId xmlns:a16="http://schemas.microsoft.com/office/drawing/2014/main" id="{4CB0FC58-8B68-7FCA-EF97-F6B291CCF658}"/>
              </a:ext>
            </a:extLst>
          </p:cNvPr>
          <p:cNvSpPr>
            <a:spLocks noGrp="1"/>
          </p:cNvSpPr>
          <p:nvPr>
            <p:ph type="ftr" sz="quarter" idx="11"/>
          </p:nvPr>
        </p:nvSpPr>
        <p:spPr>
          <a:xfrm>
            <a:off x="309113" y="5874728"/>
            <a:ext cx="310763" cy="298892"/>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D448C62B-2342-05FE-6D75-67E152CCD4FD}"/>
              </a:ext>
            </a:extLst>
          </p:cNvPr>
          <p:cNvSpPr>
            <a:spLocks noGrp="1"/>
          </p:cNvSpPr>
          <p:nvPr>
            <p:ph type="sldNum" sz="quarter" idx="12"/>
          </p:nvPr>
        </p:nvSpPr>
        <p:spPr>
          <a:xfrm>
            <a:off x="8610600" y="6356350"/>
            <a:ext cx="2743200" cy="365125"/>
          </a:xfrm>
          <a:prstGeom prst="rect">
            <a:avLst/>
          </a:prstGeom>
        </p:spPr>
        <p:txBody>
          <a:bodyPr/>
          <a:lstStyle/>
          <a:p>
            <a:fld id="{6FE5DAB9-74E8-4359-93D2-191F967484B0}" type="slidenum">
              <a:rPr lang="zh-CN" altLang="en-US" smtClean="0"/>
              <a:t>‹#›</a:t>
            </a:fld>
            <a:endParaRPr lang="zh-CN" altLang="en-US"/>
          </a:p>
        </p:txBody>
      </p:sp>
    </p:spTree>
    <p:extLst>
      <p:ext uri="{BB962C8B-B14F-4D97-AF65-F5344CB8AC3E}">
        <p14:creationId xmlns:p14="http://schemas.microsoft.com/office/powerpoint/2010/main" val="976509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D763244-6F5D-AA2C-6BE8-D1921A910611}"/>
              </a:ext>
            </a:extLst>
          </p:cNvPr>
          <p:cNvSpPr>
            <a:spLocks noGrp="1"/>
          </p:cNvSpPr>
          <p:nvPr>
            <p:ph type="dt" sz="half" idx="10"/>
          </p:nvPr>
        </p:nvSpPr>
        <p:spPr>
          <a:xfrm>
            <a:off x="838200" y="6356350"/>
            <a:ext cx="2743200" cy="365125"/>
          </a:xfrm>
          <a:prstGeom prst="rect">
            <a:avLst/>
          </a:prstGeom>
        </p:spPr>
        <p:txBody>
          <a:bodyPr/>
          <a:lstStyle/>
          <a:p>
            <a:fld id="{6E204D01-A0BE-4DD5-A6E4-9A3194FF2F21}" type="datetimeFigureOut">
              <a:rPr lang="zh-CN" altLang="en-US" smtClean="0"/>
              <a:t>2024/11/25</a:t>
            </a:fld>
            <a:endParaRPr lang="zh-CN" altLang="en-US"/>
          </a:p>
        </p:txBody>
      </p:sp>
      <p:sp>
        <p:nvSpPr>
          <p:cNvPr id="3" name="页脚占位符 2">
            <a:extLst>
              <a:ext uri="{FF2B5EF4-FFF2-40B4-BE49-F238E27FC236}">
                <a16:creationId xmlns:a16="http://schemas.microsoft.com/office/drawing/2014/main" id="{F0CE3833-E10A-559C-103C-55D81BCEF263}"/>
              </a:ext>
            </a:extLst>
          </p:cNvPr>
          <p:cNvSpPr>
            <a:spLocks noGrp="1"/>
          </p:cNvSpPr>
          <p:nvPr>
            <p:ph type="ftr" sz="quarter" idx="11"/>
          </p:nvPr>
        </p:nvSpPr>
        <p:spPr>
          <a:xfrm>
            <a:off x="309113" y="5874728"/>
            <a:ext cx="310763" cy="298892"/>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AB293B01-0767-414F-AA62-0ECD4C3E970B}"/>
              </a:ext>
            </a:extLst>
          </p:cNvPr>
          <p:cNvSpPr>
            <a:spLocks noGrp="1"/>
          </p:cNvSpPr>
          <p:nvPr>
            <p:ph type="sldNum" sz="quarter" idx="12"/>
          </p:nvPr>
        </p:nvSpPr>
        <p:spPr>
          <a:xfrm>
            <a:off x="8610600" y="6356350"/>
            <a:ext cx="2743200" cy="365125"/>
          </a:xfrm>
          <a:prstGeom prst="rect">
            <a:avLst/>
          </a:prstGeom>
        </p:spPr>
        <p:txBody>
          <a:bodyPr/>
          <a:lstStyle/>
          <a:p>
            <a:fld id="{6FE5DAB9-74E8-4359-93D2-191F967484B0}" type="slidenum">
              <a:rPr lang="zh-CN" altLang="en-US" smtClean="0"/>
              <a:t>‹#›</a:t>
            </a:fld>
            <a:endParaRPr lang="zh-CN" altLang="en-US"/>
          </a:p>
        </p:txBody>
      </p:sp>
    </p:spTree>
    <p:extLst>
      <p:ext uri="{BB962C8B-B14F-4D97-AF65-F5344CB8AC3E}">
        <p14:creationId xmlns:p14="http://schemas.microsoft.com/office/powerpoint/2010/main" val="4090584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FFA40D-040E-45AE-9333-0FD9B6FE144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87E93DE-85C4-75BE-9269-4C44BBC00C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9F458DC-B680-71A3-7C67-082DD9C9B6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B5D202-98C8-20FF-B93B-58945A863952}"/>
              </a:ext>
            </a:extLst>
          </p:cNvPr>
          <p:cNvSpPr>
            <a:spLocks noGrp="1"/>
          </p:cNvSpPr>
          <p:nvPr>
            <p:ph type="dt" sz="half" idx="10"/>
          </p:nvPr>
        </p:nvSpPr>
        <p:spPr>
          <a:xfrm>
            <a:off x="838200" y="6356350"/>
            <a:ext cx="2743200" cy="365125"/>
          </a:xfrm>
          <a:prstGeom prst="rect">
            <a:avLst/>
          </a:prstGeom>
        </p:spPr>
        <p:txBody>
          <a:bodyPr/>
          <a:lstStyle/>
          <a:p>
            <a:fld id="{878C8641-DF6E-427A-B2AF-3B228A44BBF8}" type="datetimeFigureOut">
              <a:rPr lang="zh-CN" altLang="en-US" smtClean="0"/>
              <a:t>2024/11/25</a:t>
            </a:fld>
            <a:endParaRPr lang="zh-CN" altLang="en-US"/>
          </a:p>
        </p:txBody>
      </p:sp>
      <p:sp>
        <p:nvSpPr>
          <p:cNvPr id="6" name="页脚占位符 5">
            <a:extLst>
              <a:ext uri="{FF2B5EF4-FFF2-40B4-BE49-F238E27FC236}">
                <a16:creationId xmlns:a16="http://schemas.microsoft.com/office/drawing/2014/main" id="{F4DD3CCB-2746-7A8B-E1F6-06FE8EA7E271}"/>
              </a:ext>
            </a:extLst>
          </p:cNvPr>
          <p:cNvSpPr>
            <a:spLocks noGrp="1"/>
          </p:cNvSpPr>
          <p:nvPr>
            <p:ph type="ftr" sz="quarter" idx="11"/>
          </p:nvPr>
        </p:nvSpPr>
        <p:spPr>
          <a:xfrm>
            <a:off x="309113" y="5874728"/>
            <a:ext cx="310763" cy="298892"/>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FE008BC1-46C4-C4F9-6A1D-FD05F5DA4F3E}"/>
              </a:ext>
            </a:extLst>
          </p:cNvPr>
          <p:cNvSpPr>
            <a:spLocks noGrp="1"/>
          </p:cNvSpPr>
          <p:nvPr>
            <p:ph type="sldNum" sz="quarter" idx="12"/>
          </p:nvPr>
        </p:nvSpPr>
        <p:spPr>
          <a:xfrm>
            <a:off x="8610600" y="6356350"/>
            <a:ext cx="2743200" cy="365125"/>
          </a:xfrm>
          <a:prstGeom prst="rect">
            <a:avLst/>
          </a:prstGeom>
        </p:spPr>
        <p:txBody>
          <a:bodyPr/>
          <a:lstStyle/>
          <a:p>
            <a:fld id="{01EB0E21-7F8C-4585-BC85-C568FCF8703F}" type="slidenum">
              <a:rPr lang="zh-CN" altLang="en-US" smtClean="0"/>
              <a:t>‹#›</a:t>
            </a:fld>
            <a:endParaRPr lang="zh-CN" altLang="en-US"/>
          </a:p>
        </p:txBody>
      </p:sp>
    </p:spTree>
    <p:extLst>
      <p:ext uri="{BB962C8B-B14F-4D97-AF65-F5344CB8AC3E}">
        <p14:creationId xmlns:p14="http://schemas.microsoft.com/office/powerpoint/2010/main" val="1615130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33906-579B-2A27-1C0B-4F27C15EDBE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900D636-D380-779E-5DD7-E19E145956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187FA7B-4E8C-DF75-15D9-E4BC53FED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E7CA4B2-5636-0C37-A98F-1EA9AAD56FEA}"/>
              </a:ext>
            </a:extLst>
          </p:cNvPr>
          <p:cNvSpPr>
            <a:spLocks noGrp="1"/>
          </p:cNvSpPr>
          <p:nvPr>
            <p:ph type="dt" sz="half" idx="10"/>
          </p:nvPr>
        </p:nvSpPr>
        <p:spPr>
          <a:xfrm>
            <a:off x="838200" y="6356350"/>
            <a:ext cx="2743200" cy="365125"/>
          </a:xfrm>
          <a:prstGeom prst="rect">
            <a:avLst/>
          </a:prstGeom>
        </p:spPr>
        <p:txBody>
          <a:bodyPr/>
          <a:lstStyle/>
          <a:p>
            <a:fld id="{878C8641-DF6E-427A-B2AF-3B228A44BBF8}" type="datetimeFigureOut">
              <a:rPr lang="zh-CN" altLang="en-US" smtClean="0"/>
              <a:t>2024/11/25</a:t>
            </a:fld>
            <a:endParaRPr lang="zh-CN" altLang="en-US"/>
          </a:p>
        </p:txBody>
      </p:sp>
      <p:sp>
        <p:nvSpPr>
          <p:cNvPr id="6" name="页脚占位符 5">
            <a:extLst>
              <a:ext uri="{FF2B5EF4-FFF2-40B4-BE49-F238E27FC236}">
                <a16:creationId xmlns:a16="http://schemas.microsoft.com/office/drawing/2014/main" id="{44B5753D-4639-2219-5648-14C3AD6088DD}"/>
              </a:ext>
            </a:extLst>
          </p:cNvPr>
          <p:cNvSpPr>
            <a:spLocks noGrp="1"/>
          </p:cNvSpPr>
          <p:nvPr>
            <p:ph type="ftr" sz="quarter" idx="11"/>
          </p:nvPr>
        </p:nvSpPr>
        <p:spPr>
          <a:xfrm>
            <a:off x="309113" y="5874728"/>
            <a:ext cx="310763" cy="298892"/>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2F29923F-00C9-4D14-6CBC-7508617E13B2}"/>
              </a:ext>
            </a:extLst>
          </p:cNvPr>
          <p:cNvSpPr>
            <a:spLocks noGrp="1"/>
          </p:cNvSpPr>
          <p:nvPr>
            <p:ph type="sldNum" sz="quarter" idx="12"/>
          </p:nvPr>
        </p:nvSpPr>
        <p:spPr>
          <a:xfrm>
            <a:off x="8610600" y="6356350"/>
            <a:ext cx="2743200" cy="365125"/>
          </a:xfrm>
          <a:prstGeom prst="rect">
            <a:avLst/>
          </a:prstGeom>
        </p:spPr>
        <p:txBody>
          <a:bodyPr/>
          <a:lstStyle/>
          <a:p>
            <a:fld id="{01EB0E21-7F8C-4585-BC85-C568FCF8703F}" type="slidenum">
              <a:rPr lang="zh-CN" altLang="en-US" smtClean="0"/>
              <a:t>‹#›</a:t>
            </a:fld>
            <a:endParaRPr lang="zh-CN" altLang="en-US"/>
          </a:p>
        </p:txBody>
      </p:sp>
    </p:spTree>
    <p:extLst>
      <p:ext uri="{BB962C8B-B14F-4D97-AF65-F5344CB8AC3E}">
        <p14:creationId xmlns:p14="http://schemas.microsoft.com/office/powerpoint/2010/main" val="4138568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59648D-D24C-0849-103B-7E84621A5B8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42F3EA-89B9-D153-5F48-2754D4CA859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9F05D46-546C-D0E0-F21E-26B3AFE2C752}"/>
              </a:ext>
            </a:extLst>
          </p:cNvPr>
          <p:cNvSpPr>
            <a:spLocks noGrp="1"/>
          </p:cNvSpPr>
          <p:nvPr>
            <p:ph type="dt" sz="half" idx="10"/>
          </p:nvPr>
        </p:nvSpPr>
        <p:spPr>
          <a:xfrm>
            <a:off x="838200" y="6356350"/>
            <a:ext cx="2743200" cy="365125"/>
          </a:xfrm>
          <a:prstGeom prst="rect">
            <a:avLst/>
          </a:prstGeom>
        </p:spPr>
        <p:txBody>
          <a:bodyPr/>
          <a:lstStyle/>
          <a:p>
            <a:fld id="{878C8641-DF6E-427A-B2AF-3B228A44BBF8}" type="datetimeFigureOut">
              <a:rPr lang="zh-CN" altLang="en-US" smtClean="0"/>
              <a:t>2024/11/25</a:t>
            </a:fld>
            <a:endParaRPr lang="zh-CN" altLang="en-US"/>
          </a:p>
        </p:txBody>
      </p:sp>
      <p:sp>
        <p:nvSpPr>
          <p:cNvPr id="5" name="页脚占位符 4">
            <a:extLst>
              <a:ext uri="{FF2B5EF4-FFF2-40B4-BE49-F238E27FC236}">
                <a16:creationId xmlns:a16="http://schemas.microsoft.com/office/drawing/2014/main" id="{4A6D2DFD-2B0C-4BDA-B74C-18FCB716D194}"/>
              </a:ext>
            </a:extLst>
          </p:cNvPr>
          <p:cNvSpPr>
            <a:spLocks noGrp="1"/>
          </p:cNvSpPr>
          <p:nvPr>
            <p:ph type="ftr" sz="quarter" idx="11"/>
          </p:nvPr>
        </p:nvSpPr>
        <p:spPr>
          <a:xfrm>
            <a:off x="309113" y="5874728"/>
            <a:ext cx="310763" cy="298892"/>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8FC11057-0B6B-ED78-30F9-F5E22416677E}"/>
              </a:ext>
            </a:extLst>
          </p:cNvPr>
          <p:cNvSpPr>
            <a:spLocks noGrp="1"/>
          </p:cNvSpPr>
          <p:nvPr>
            <p:ph type="sldNum" sz="quarter" idx="12"/>
          </p:nvPr>
        </p:nvSpPr>
        <p:spPr>
          <a:xfrm>
            <a:off x="8610600" y="6356350"/>
            <a:ext cx="2743200" cy="365125"/>
          </a:xfrm>
          <a:prstGeom prst="rect">
            <a:avLst/>
          </a:prstGeom>
        </p:spPr>
        <p:txBody>
          <a:bodyPr/>
          <a:lstStyle/>
          <a:p>
            <a:fld id="{01EB0E21-7F8C-4585-BC85-C568FCF8703F}" type="slidenum">
              <a:rPr lang="zh-CN" altLang="en-US" smtClean="0"/>
              <a:t>‹#›</a:t>
            </a:fld>
            <a:endParaRPr lang="zh-CN" altLang="en-US"/>
          </a:p>
        </p:txBody>
      </p:sp>
    </p:spTree>
    <p:extLst>
      <p:ext uri="{BB962C8B-B14F-4D97-AF65-F5344CB8AC3E}">
        <p14:creationId xmlns:p14="http://schemas.microsoft.com/office/powerpoint/2010/main" val="964271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889BD5E-CDF7-4803-A379-BA8A590A0BB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B195285-E3BB-D407-4177-C93FAA0096C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2AC4F1-D200-1E3B-B612-23F55E832FA4}"/>
              </a:ext>
            </a:extLst>
          </p:cNvPr>
          <p:cNvSpPr>
            <a:spLocks noGrp="1"/>
          </p:cNvSpPr>
          <p:nvPr>
            <p:ph type="dt" sz="half" idx="10"/>
          </p:nvPr>
        </p:nvSpPr>
        <p:spPr>
          <a:xfrm>
            <a:off x="838200" y="6356350"/>
            <a:ext cx="2743200" cy="365125"/>
          </a:xfrm>
          <a:prstGeom prst="rect">
            <a:avLst/>
          </a:prstGeom>
        </p:spPr>
        <p:txBody>
          <a:bodyPr/>
          <a:lstStyle/>
          <a:p>
            <a:fld id="{6E204D01-A0BE-4DD5-A6E4-9A3194FF2F21}" type="datetimeFigureOut">
              <a:rPr lang="zh-CN" altLang="en-US" smtClean="0"/>
              <a:t>2024/11/25</a:t>
            </a:fld>
            <a:endParaRPr lang="zh-CN" altLang="en-US"/>
          </a:p>
        </p:txBody>
      </p:sp>
      <p:sp>
        <p:nvSpPr>
          <p:cNvPr id="5" name="页脚占位符 4">
            <a:extLst>
              <a:ext uri="{FF2B5EF4-FFF2-40B4-BE49-F238E27FC236}">
                <a16:creationId xmlns:a16="http://schemas.microsoft.com/office/drawing/2014/main" id="{11AE10CF-B597-4DB3-3B58-53B17DFACB21}"/>
              </a:ext>
            </a:extLst>
          </p:cNvPr>
          <p:cNvSpPr>
            <a:spLocks noGrp="1"/>
          </p:cNvSpPr>
          <p:nvPr>
            <p:ph type="ftr" sz="quarter" idx="11"/>
          </p:nvPr>
        </p:nvSpPr>
        <p:spPr>
          <a:xfrm>
            <a:off x="309113" y="5874728"/>
            <a:ext cx="310763" cy="298892"/>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71349E5-6076-1884-B06F-13B026806F3A}"/>
              </a:ext>
            </a:extLst>
          </p:cNvPr>
          <p:cNvSpPr>
            <a:spLocks noGrp="1"/>
          </p:cNvSpPr>
          <p:nvPr>
            <p:ph type="sldNum" sz="quarter" idx="12"/>
          </p:nvPr>
        </p:nvSpPr>
        <p:spPr>
          <a:xfrm>
            <a:off x="8610600" y="6356350"/>
            <a:ext cx="2743200" cy="365125"/>
          </a:xfrm>
          <a:prstGeom prst="rect">
            <a:avLst/>
          </a:prstGeom>
        </p:spPr>
        <p:txBody>
          <a:bodyPr/>
          <a:lstStyle/>
          <a:p>
            <a:fld id="{6FE5DAB9-74E8-4359-93D2-191F967484B0}" type="slidenum">
              <a:rPr lang="zh-CN" altLang="en-US" smtClean="0"/>
              <a:t>‹#›</a:t>
            </a:fld>
            <a:endParaRPr lang="zh-CN" altLang="en-US"/>
          </a:p>
        </p:txBody>
      </p:sp>
    </p:spTree>
    <p:extLst>
      <p:ext uri="{BB962C8B-B14F-4D97-AF65-F5344CB8AC3E}">
        <p14:creationId xmlns:p14="http://schemas.microsoft.com/office/powerpoint/2010/main" val="139320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A16BBC9-12F4-D2A3-0314-766DD9475B9C}"/>
              </a:ext>
            </a:extLst>
          </p:cNvPr>
          <p:cNvSpPr>
            <a:spLocks noGrp="1"/>
          </p:cNvSpPr>
          <p:nvPr>
            <p:ph type="title"/>
          </p:nvPr>
        </p:nvSpPr>
        <p:spPr>
          <a:xfrm>
            <a:off x="464495" y="412831"/>
            <a:ext cx="10515600" cy="974577"/>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EDF9501F-C562-3754-8C1C-F58FF110FB3A}"/>
              </a:ext>
            </a:extLst>
          </p:cNvPr>
          <p:cNvSpPr>
            <a:spLocks noGrp="1"/>
          </p:cNvSpPr>
          <p:nvPr>
            <p:ph type="body" idx="1"/>
          </p:nvPr>
        </p:nvSpPr>
        <p:spPr>
          <a:xfrm>
            <a:off x="625532" y="1499627"/>
            <a:ext cx="10354558"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8" name="Rectangle 17">
            <a:extLst>
              <a:ext uri="{FF2B5EF4-FFF2-40B4-BE49-F238E27FC236}">
                <a16:creationId xmlns:a16="http://schemas.microsoft.com/office/drawing/2014/main" id="{7B73A878-8A85-530F-D496-E50C6E4F9B26}"/>
              </a:ext>
            </a:extLst>
          </p:cNvPr>
          <p:cNvSpPr/>
          <p:nvPr/>
        </p:nvSpPr>
        <p:spPr>
          <a:xfrm>
            <a:off x="0" y="105968"/>
            <a:ext cx="435935" cy="904550"/>
          </a:xfrm>
          <a:prstGeom prst="rect">
            <a:avLst/>
          </a:prstGeom>
          <a:solidFill>
            <a:srgbClr val="1E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05" dirty="0">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9" name="图片 8">
            <a:extLst>
              <a:ext uri="{FF2B5EF4-FFF2-40B4-BE49-F238E27FC236}">
                <a16:creationId xmlns:a16="http://schemas.microsoft.com/office/drawing/2014/main" id="{07D02A99-77F7-0209-E3DC-A260FFBA8E36}"/>
              </a:ext>
            </a:extLst>
          </p:cNvPr>
          <p:cNvPicPr>
            <a:picLocks noChangeAspect="1"/>
          </p:cNvPicPr>
          <p:nvPr/>
        </p:nvPicPr>
        <p:blipFill rotWithShape="1">
          <a:blip r:embed="rId13" cstate="email">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b="39865"/>
          <a:stretch/>
        </p:blipFill>
        <p:spPr>
          <a:xfrm>
            <a:off x="10630938" y="6237911"/>
            <a:ext cx="1521703" cy="514726"/>
          </a:xfrm>
          <a:prstGeom prst="rect">
            <a:avLst/>
          </a:prstGeom>
        </p:spPr>
      </p:pic>
      <p:pic>
        <p:nvPicPr>
          <p:cNvPr id="10" name="图片 9">
            <a:extLst>
              <a:ext uri="{FF2B5EF4-FFF2-40B4-BE49-F238E27FC236}">
                <a16:creationId xmlns:a16="http://schemas.microsoft.com/office/drawing/2014/main" id="{ACC47C38-DEA7-F4D0-423D-8443B90D8C9A}"/>
              </a:ext>
            </a:extLst>
          </p:cNvPr>
          <p:cNvPicPr>
            <a:picLocks noChangeAspect="1"/>
          </p:cNvPicPr>
          <p:nvPr/>
        </p:nvPicPr>
        <p:blipFill rotWithShape="1">
          <a:blip r:embed="rId15" cstate="email">
            <a:extLst>
              <a:ext uri="{28A0092B-C50C-407E-A947-70E740481C1C}">
                <a14:useLocalDpi xmlns:a14="http://schemas.microsoft.com/office/drawing/2010/main"/>
              </a:ext>
            </a:extLst>
          </a:blip>
          <a:srcRect b="39865"/>
          <a:stretch/>
        </p:blipFill>
        <p:spPr>
          <a:xfrm>
            <a:off x="10633826" y="6222671"/>
            <a:ext cx="1521703" cy="514726"/>
          </a:xfrm>
          <a:prstGeom prst="rect">
            <a:avLst/>
          </a:prstGeom>
        </p:spPr>
      </p:pic>
      <p:sp>
        <p:nvSpPr>
          <p:cNvPr id="11" name="TextBox 16">
            <a:extLst>
              <a:ext uri="{FF2B5EF4-FFF2-40B4-BE49-F238E27FC236}">
                <a16:creationId xmlns:a16="http://schemas.microsoft.com/office/drawing/2014/main" id="{8BA5DFFA-9798-C160-4F07-14F67AF4EBAD}"/>
              </a:ext>
            </a:extLst>
          </p:cNvPr>
          <p:cNvSpPr txBox="1"/>
          <p:nvPr/>
        </p:nvSpPr>
        <p:spPr>
          <a:xfrm rot="16200000">
            <a:off x="-658313" y="4534942"/>
            <a:ext cx="2321469" cy="246221"/>
          </a:xfrm>
          <a:prstGeom prst="rect">
            <a:avLst/>
          </a:prstGeom>
          <a:noFill/>
        </p:spPr>
        <p:txBody>
          <a:bodyPr wrap="none" rtlCol="0">
            <a:spAutoFit/>
          </a:bodyPr>
          <a:lstStyle/>
          <a:p>
            <a:r>
              <a:rPr lang="en-US" sz="1000" b="1" i="0" spc="600" dirty="0">
                <a:latin typeface="Bebas Neue" charset="0"/>
                <a:ea typeface="Bebas Neue" charset="0"/>
                <a:cs typeface="Bebas Neue" charset="0"/>
              </a:rPr>
              <a:t>www.datamesh.com</a:t>
            </a:r>
          </a:p>
        </p:txBody>
      </p:sp>
      <p:sp>
        <p:nvSpPr>
          <p:cNvPr id="12" name="Slide Number Placeholder 5">
            <a:extLst>
              <a:ext uri="{FF2B5EF4-FFF2-40B4-BE49-F238E27FC236}">
                <a16:creationId xmlns:a16="http://schemas.microsoft.com/office/drawing/2014/main" id="{399FB5CA-1654-F537-45BC-2F69C063AA9A}"/>
              </a:ext>
            </a:extLst>
          </p:cNvPr>
          <p:cNvSpPr txBox="1">
            <a:spLocks/>
          </p:cNvSpPr>
          <p:nvPr/>
        </p:nvSpPr>
        <p:spPr>
          <a:xfrm>
            <a:off x="171258" y="6071017"/>
            <a:ext cx="629079" cy="489496"/>
          </a:xfrm>
          <a:prstGeom prst="rect">
            <a:avLst/>
          </a:prstGeom>
        </p:spPr>
        <p:txBody>
          <a:bodyPr vert="horz" wrap="none" lIns="121920" tIns="60960" rIns="121920" bIns="60960"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400" b="1" i="0" smtClean="0">
                <a:solidFill>
                  <a:schemeClr val="accent1"/>
                </a:solidFill>
                <a:latin typeface="Bebas Neue" charset="0"/>
                <a:ea typeface="Bebas Neue" charset="0"/>
                <a:cs typeface="Bebas Neue" charset="0"/>
              </a:rPr>
              <a:pPr algn="ctr"/>
              <a:t>‹#›</a:t>
            </a:fld>
            <a:endParaRPr lang="en-US" sz="1400" b="1" i="0" dirty="0">
              <a:solidFill>
                <a:schemeClr val="accent1"/>
              </a:solidFill>
              <a:latin typeface="Bebas Neue" charset="0"/>
              <a:ea typeface="Bebas Neue" charset="0"/>
              <a:cs typeface="Bebas Neue" charset="0"/>
            </a:endParaRPr>
          </a:p>
        </p:txBody>
      </p:sp>
      <p:grpSp>
        <p:nvGrpSpPr>
          <p:cNvPr id="13" name="Group 20">
            <a:extLst>
              <a:ext uri="{FF2B5EF4-FFF2-40B4-BE49-F238E27FC236}">
                <a16:creationId xmlns:a16="http://schemas.microsoft.com/office/drawing/2014/main" id="{D0851872-4CF6-B6E1-B010-620BEB9C10A4}"/>
              </a:ext>
            </a:extLst>
          </p:cNvPr>
          <p:cNvGrpSpPr/>
          <p:nvPr/>
        </p:nvGrpSpPr>
        <p:grpSpPr>
          <a:xfrm>
            <a:off x="450499" y="6527216"/>
            <a:ext cx="89313" cy="330784"/>
            <a:chOff x="1569366" y="5427922"/>
            <a:chExt cx="89313" cy="330784"/>
          </a:xfrm>
        </p:grpSpPr>
        <p:cxnSp>
          <p:nvCxnSpPr>
            <p:cNvPr id="14" name="Straight Connector 18">
              <a:extLst>
                <a:ext uri="{FF2B5EF4-FFF2-40B4-BE49-F238E27FC236}">
                  <a16:creationId xmlns:a16="http://schemas.microsoft.com/office/drawing/2014/main" id="{1D96F396-1375-5AE4-149B-5F79A2EAB332}"/>
                </a:ext>
              </a:extLst>
            </p:cNvPr>
            <p:cNvCxnSpPr/>
            <p:nvPr userDrawn="1"/>
          </p:nvCxnSpPr>
          <p:spPr>
            <a:xfrm>
              <a:off x="1614022" y="5435364"/>
              <a:ext cx="0" cy="3233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riangle 19">
              <a:extLst>
                <a:ext uri="{FF2B5EF4-FFF2-40B4-BE49-F238E27FC236}">
                  <a16:creationId xmlns:a16="http://schemas.microsoft.com/office/drawing/2014/main" id="{0DB32C93-797E-8E86-BAE2-4942469DBC11}"/>
                </a:ext>
              </a:extLst>
            </p:cNvPr>
            <p:cNvSpPr/>
            <p:nvPr userDrawn="1"/>
          </p:nvSpPr>
          <p:spPr>
            <a:xfrm>
              <a:off x="1569366" y="5427922"/>
              <a:ext cx="89313" cy="45719"/>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微软雅黑 Light" panose="020B0502040204020203" pitchFamily="34" charset="-122"/>
              </a:endParaRPr>
            </a:p>
          </p:txBody>
        </p:sp>
      </p:grpSp>
    </p:spTree>
    <p:extLst>
      <p:ext uri="{BB962C8B-B14F-4D97-AF65-F5344CB8AC3E}">
        <p14:creationId xmlns:p14="http://schemas.microsoft.com/office/powerpoint/2010/main" val="169180579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2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FB7C40-0DDF-8886-C8B1-AB7991851700}"/>
              </a:ext>
            </a:extLst>
          </p:cNvPr>
          <p:cNvSpPr>
            <a:spLocks noGrp="1"/>
          </p:cNvSpPr>
          <p:nvPr>
            <p:ph type="ctrTitle"/>
          </p:nvPr>
        </p:nvSpPr>
        <p:spPr>
          <a:xfrm>
            <a:off x="1524000" y="1193800"/>
            <a:ext cx="9144000" cy="2387600"/>
          </a:xfrm>
        </p:spPr>
        <p:txBody>
          <a:bodyPr>
            <a:normAutofit/>
          </a:bodyPr>
          <a:lstStyle/>
          <a:p>
            <a:r>
              <a:rPr lang="en-US" altLang="zh-CN" sz="4800" dirty="0"/>
              <a:t>DFS</a:t>
            </a:r>
            <a:r>
              <a:rPr lang="zh-CN" altLang="en-US" sz="4800" dirty="0"/>
              <a:t>阶段进展</a:t>
            </a:r>
            <a:r>
              <a:rPr lang="en-US" altLang="zh-CN" sz="4800" dirty="0"/>
              <a:t>8.28</a:t>
            </a:r>
            <a:endParaRPr lang="zh-CN" altLang="en-US" sz="4800" dirty="0"/>
          </a:p>
        </p:txBody>
      </p:sp>
      <p:sp>
        <p:nvSpPr>
          <p:cNvPr id="3" name="AutoShape 2">
            <a:extLst>
              <a:ext uri="{FF2B5EF4-FFF2-40B4-BE49-F238E27FC236}">
                <a16:creationId xmlns:a16="http://schemas.microsoft.com/office/drawing/2014/main" id="{C4010CF9-5467-D19A-B630-126CBD3021D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271906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87F9FC96-0B69-F12B-71E0-4DEC4F94D02F}"/>
              </a:ext>
            </a:extLst>
          </p:cNvPr>
          <p:cNvSpPr txBox="1">
            <a:spLocks/>
          </p:cNvSpPr>
          <p:nvPr/>
        </p:nvSpPr>
        <p:spPr>
          <a:xfrm>
            <a:off x="5074595" y="992228"/>
            <a:ext cx="6041080" cy="3901993"/>
          </a:xfrm>
          <a:prstGeom prst="rect">
            <a:avLst/>
          </a:prstGeom>
        </p:spPr>
        <p:txBody>
          <a:bodyPr/>
          <a:lstStyle>
            <a:lvl1pPr algn="l" defTabSz="914400" rtl="0" eaLnBrk="1" latinLnBrk="0" hangingPunct="1">
              <a:lnSpc>
                <a:spcPct val="90000"/>
              </a:lnSpc>
              <a:spcBef>
                <a:spcPct val="0"/>
              </a:spcBef>
              <a:buNone/>
              <a:defRPr sz="2400" kern="1200">
                <a:solidFill>
                  <a:schemeClr val="tx1"/>
                </a:solidFill>
                <a:latin typeface="微软雅黑" panose="020B0503020204020204" pitchFamily="34" charset="-122"/>
                <a:ea typeface="微软雅黑" panose="020B0503020204020204" pitchFamily="34" charset="-122"/>
                <a:cs typeface="+mj-cs"/>
              </a:defRPr>
            </a:lvl1pPr>
          </a:lstStyle>
          <a:p>
            <a:pPr fontAlgn="auto">
              <a:lnSpc>
                <a:spcPct val="200000"/>
              </a:lnSpc>
              <a:spcAft>
                <a:spcPts val="0"/>
              </a:spcAft>
            </a:pPr>
            <a:r>
              <a:rPr lang="zh-CN" altLang="en-US" sz="3200" b="0" dirty="0"/>
              <a:t>实际业务场景</a:t>
            </a:r>
            <a:endParaRPr lang="en-US" altLang="zh-CN" sz="3200" b="0" dirty="0"/>
          </a:p>
          <a:p>
            <a:pPr fontAlgn="auto">
              <a:lnSpc>
                <a:spcPct val="200000"/>
              </a:lnSpc>
              <a:spcAft>
                <a:spcPts val="0"/>
              </a:spcAft>
            </a:pPr>
            <a:r>
              <a:rPr lang="zh-CN" altLang="en-US" sz="3200" b="0" dirty="0"/>
              <a:t>痛点分析</a:t>
            </a:r>
            <a:endParaRPr lang="en-US" altLang="zh-CN" sz="3200" b="0" dirty="0"/>
          </a:p>
          <a:p>
            <a:pPr fontAlgn="auto">
              <a:lnSpc>
                <a:spcPct val="200000"/>
              </a:lnSpc>
              <a:spcAft>
                <a:spcPts val="0"/>
              </a:spcAft>
            </a:pPr>
            <a:r>
              <a:rPr lang="zh-CN" altLang="en-US" sz="3200" b="0" dirty="0"/>
              <a:t>产品设计理念及功能介绍</a:t>
            </a:r>
            <a:endParaRPr lang="en-US" altLang="zh-CN" sz="3200" b="0" dirty="0"/>
          </a:p>
          <a:p>
            <a:pPr fontAlgn="auto">
              <a:lnSpc>
                <a:spcPct val="200000"/>
              </a:lnSpc>
              <a:spcAft>
                <a:spcPts val="0"/>
              </a:spcAft>
            </a:pPr>
            <a:r>
              <a:rPr lang="zh-CN" altLang="en-US" sz="3200" b="0" dirty="0"/>
              <a:t>产品原型展示</a:t>
            </a:r>
            <a:endParaRPr lang="en-US" altLang="zh-CN" sz="3200" b="0" dirty="0"/>
          </a:p>
          <a:p>
            <a:pPr fontAlgn="auto">
              <a:lnSpc>
                <a:spcPct val="200000"/>
              </a:lnSpc>
              <a:spcAft>
                <a:spcPts val="0"/>
              </a:spcAft>
            </a:pPr>
            <a:r>
              <a:rPr lang="zh-CN" altLang="en-US" sz="3200" b="0" dirty="0"/>
              <a:t>产品收益测算</a:t>
            </a:r>
          </a:p>
        </p:txBody>
      </p:sp>
      <p:sp>
        <p:nvSpPr>
          <p:cNvPr id="4" name="椭圆 3">
            <a:extLst>
              <a:ext uri="{FF2B5EF4-FFF2-40B4-BE49-F238E27FC236}">
                <a16:creationId xmlns:a16="http://schemas.microsoft.com/office/drawing/2014/main" id="{95DACF6A-9A72-7B28-D8D1-D5F29677A621}"/>
              </a:ext>
            </a:extLst>
          </p:cNvPr>
          <p:cNvSpPr/>
          <p:nvPr/>
        </p:nvSpPr>
        <p:spPr>
          <a:xfrm>
            <a:off x="2028826" y="2876550"/>
            <a:ext cx="1504949" cy="1419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t>目录</a:t>
            </a:r>
          </a:p>
        </p:txBody>
      </p:sp>
    </p:spTree>
    <p:extLst>
      <p:ext uri="{BB962C8B-B14F-4D97-AF65-F5344CB8AC3E}">
        <p14:creationId xmlns:p14="http://schemas.microsoft.com/office/powerpoint/2010/main" val="653371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BB377-F68E-74D2-CA58-BB1C71D5C9B0}"/>
              </a:ext>
            </a:extLst>
          </p:cNvPr>
          <p:cNvSpPr>
            <a:spLocks noGrp="1"/>
          </p:cNvSpPr>
          <p:nvPr>
            <p:ph type="title"/>
          </p:nvPr>
        </p:nvSpPr>
        <p:spPr>
          <a:xfrm>
            <a:off x="464495" y="412832"/>
            <a:ext cx="10515600" cy="594204"/>
          </a:xfrm>
        </p:spPr>
        <p:txBody>
          <a:bodyPr/>
          <a:lstStyle/>
          <a:p>
            <a:r>
              <a:rPr lang="zh-CN" altLang="en-US" dirty="0"/>
              <a:t>实际业务场景</a:t>
            </a:r>
            <a:r>
              <a:rPr lang="en-US" altLang="zh-CN" dirty="0"/>
              <a:t>——</a:t>
            </a:r>
            <a:r>
              <a:rPr lang="zh-CN" altLang="en-US" dirty="0"/>
              <a:t>业务数据</a:t>
            </a:r>
          </a:p>
        </p:txBody>
      </p:sp>
      <p:pic>
        <p:nvPicPr>
          <p:cNvPr id="5" name="图片 4">
            <a:extLst>
              <a:ext uri="{FF2B5EF4-FFF2-40B4-BE49-F238E27FC236}">
                <a16:creationId xmlns:a16="http://schemas.microsoft.com/office/drawing/2014/main" id="{FBAF4C4D-03C2-D6AF-29AF-F69AB2103FCA}"/>
              </a:ext>
            </a:extLst>
          </p:cNvPr>
          <p:cNvPicPr>
            <a:picLocks noChangeAspect="1"/>
          </p:cNvPicPr>
          <p:nvPr/>
        </p:nvPicPr>
        <p:blipFill>
          <a:blip r:embed="rId3"/>
          <a:stretch>
            <a:fillRect/>
          </a:stretch>
        </p:blipFill>
        <p:spPr>
          <a:xfrm>
            <a:off x="2066924" y="911782"/>
            <a:ext cx="3812124" cy="5715758"/>
          </a:xfrm>
          <a:prstGeom prst="rect">
            <a:avLst/>
          </a:prstGeom>
        </p:spPr>
      </p:pic>
      <p:pic>
        <p:nvPicPr>
          <p:cNvPr id="7" name="图片 6">
            <a:extLst>
              <a:ext uri="{FF2B5EF4-FFF2-40B4-BE49-F238E27FC236}">
                <a16:creationId xmlns:a16="http://schemas.microsoft.com/office/drawing/2014/main" id="{54A60C34-4291-A97E-9CE6-557BCDBC32D4}"/>
              </a:ext>
            </a:extLst>
          </p:cNvPr>
          <p:cNvPicPr>
            <a:picLocks noChangeAspect="1"/>
          </p:cNvPicPr>
          <p:nvPr/>
        </p:nvPicPr>
        <p:blipFill>
          <a:blip r:embed="rId4"/>
          <a:stretch>
            <a:fillRect/>
          </a:stretch>
        </p:blipFill>
        <p:spPr>
          <a:xfrm>
            <a:off x="6291872" y="911783"/>
            <a:ext cx="3880828" cy="5715758"/>
          </a:xfrm>
          <a:prstGeom prst="rect">
            <a:avLst/>
          </a:prstGeom>
        </p:spPr>
      </p:pic>
      <p:cxnSp>
        <p:nvCxnSpPr>
          <p:cNvPr id="9" name="直接箭头连接符 8">
            <a:extLst>
              <a:ext uri="{FF2B5EF4-FFF2-40B4-BE49-F238E27FC236}">
                <a16:creationId xmlns:a16="http://schemas.microsoft.com/office/drawing/2014/main" id="{054ACB4D-CFA7-EB4C-5F10-FFFFE3F4C408}"/>
              </a:ext>
            </a:extLst>
          </p:cNvPr>
          <p:cNvCxnSpPr>
            <a:cxnSpLocks/>
          </p:cNvCxnSpPr>
          <p:nvPr/>
        </p:nvCxnSpPr>
        <p:spPr>
          <a:xfrm>
            <a:off x="5625240" y="3680163"/>
            <a:ext cx="143949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6313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BB377-F68E-74D2-CA58-BB1C71D5C9B0}"/>
              </a:ext>
            </a:extLst>
          </p:cNvPr>
          <p:cNvSpPr>
            <a:spLocks noGrp="1"/>
          </p:cNvSpPr>
          <p:nvPr>
            <p:ph type="title"/>
          </p:nvPr>
        </p:nvSpPr>
        <p:spPr>
          <a:xfrm>
            <a:off x="464495" y="412832"/>
            <a:ext cx="10515600" cy="594204"/>
          </a:xfrm>
        </p:spPr>
        <p:txBody>
          <a:bodyPr/>
          <a:lstStyle/>
          <a:p>
            <a:r>
              <a:rPr lang="zh-CN" altLang="en-US" dirty="0"/>
              <a:t>实际业务场景</a:t>
            </a:r>
            <a:r>
              <a:rPr lang="en-US" altLang="zh-CN" dirty="0"/>
              <a:t>——</a:t>
            </a:r>
            <a:r>
              <a:rPr lang="zh-CN" altLang="en-US" dirty="0"/>
              <a:t>涉及的数据分析方法和规则</a:t>
            </a:r>
          </a:p>
        </p:txBody>
      </p:sp>
      <p:sp>
        <p:nvSpPr>
          <p:cNvPr id="4" name="文本框 3">
            <a:extLst>
              <a:ext uri="{FF2B5EF4-FFF2-40B4-BE49-F238E27FC236}">
                <a16:creationId xmlns:a16="http://schemas.microsoft.com/office/drawing/2014/main" id="{1124D632-9D8A-1E3E-692D-0C25F15F6FD5}"/>
              </a:ext>
            </a:extLst>
          </p:cNvPr>
          <p:cNvSpPr txBox="1"/>
          <p:nvPr/>
        </p:nvSpPr>
        <p:spPr>
          <a:xfrm>
            <a:off x="962024" y="1562125"/>
            <a:ext cx="2562225" cy="2839303"/>
          </a:xfrm>
          <a:prstGeom prst="rect">
            <a:avLst/>
          </a:prstGeom>
          <a:noFill/>
        </p:spPr>
        <p:txBody>
          <a:bodyPr wrap="square">
            <a:spAutoFit/>
          </a:bodyPr>
          <a:lstStyle/>
          <a:p>
            <a:r>
              <a:rPr lang="zh-CN" altLang="en-US" sz="2000" dirty="0">
                <a:solidFill>
                  <a:srgbClr val="FF0000"/>
                </a:solidFill>
              </a:rPr>
              <a:t>预处理方法：</a:t>
            </a:r>
            <a:endParaRPr lang="en-US" altLang="zh-CN" sz="2000" dirty="0">
              <a:solidFill>
                <a:srgbClr val="FF0000"/>
              </a:solidFill>
            </a:endParaRPr>
          </a:p>
          <a:p>
            <a:pPr marL="285750" indent="-285750">
              <a:lnSpc>
                <a:spcPct val="150000"/>
              </a:lnSpc>
              <a:buFont typeface="Arial" panose="020B0604020202020204" pitchFamily="34" charset="0"/>
              <a:buChar char="•"/>
            </a:pPr>
            <a:r>
              <a:rPr lang="zh-CN" altLang="en-US" sz="1800" dirty="0"/>
              <a:t>缺失值填补</a:t>
            </a:r>
            <a:endParaRPr lang="en-US" altLang="zh-CN" sz="1800" dirty="0"/>
          </a:p>
          <a:p>
            <a:pPr marL="285750" indent="-285750">
              <a:lnSpc>
                <a:spcPct val="150000"/>
              </a:lnSpc>
              <a:buFont typeface="Arial" panose="020B0604020202020204" pitchFamily="34" charset="0"/>
              <a:buChar char="•"/>
            </a:pPr>
            <a:r>
              <a:rPr lang="zh-CN" altLang="en-US" sz="1800" dirty="0"/>
              <a:t>异常值处理</a:t>
            </a:r>
            <a:endParaRPr lang="en-US" altLang="zh-CN" sz="1800" dirty="0"/>
          </a:p>
          <a:p>
            <a:pPr marL="285750" indent="-285750">
              <a:lnSpc>
                <a:spcPct val="150000"/>
              </a:lnSpc>
              <a:buFont typeface="Arial" panose="020B0604020202020204" pitchFamily="34" charset="0"/>
              <a:buChar char="•"/>
            </a:pPr>
            <a:r>
              <a:rPr lang="zh-CN" altLang="en-US" sz="1800" dirty="0"/>
              <a:t>插值计算</a:t>
            </a:r>
            <a:endParaRPr lang="en-US" altLang="zh-CN" sz="1800" dirty="0"/>
          </a:p>
          <a:p>
            <a:pPr marL="628650" lvl="1" indent="-285750">
              <a:lnSpc>
                <a:spcPct val="150000"/>
              </a:lnSpc>
              <a:buFont typeface="Arial" panose="020B0604020202020204" pitchFamily="34" charset="0"/>
              <a:buChar char="•"/>
            </a:pPr>
            <a:r>
              <a:rPr lang="zh-CN" altLang="en-US" sz="1800" dirty="0"/>
              <a:t>线性插值</a:t>
            </a:r>
            <a:endParaRPr lang="en-US" altLang="zh-CN" sz="1800" dirty="0"/>
          </a:p>
          <a:p>
            <a:pPr marL="628650" lvl="1" indent="-285750">
              <a:lnSpc>
                <a:spcPct val="150000"/>
              </a:lnSpc>
              <a:buFont typeface="Arial" panose="020B0604020202020204" pitchFamily="34" charset="0"/>
              <a:buChar char="•"/>
            </a:pPr>
            <a:r>
              <a:rPr lang="zh-CN" altLang="en-US" sz="1800" dirty="0"/>
              <a:t>样条插值</a:t>
            </a:r>
            <a:endParaRPr lang="en-US" altLang="zh-CN" sz="1800" dirty="0"/>
          </a:p>
          <a:p>
            <a:pPr marL="628650" lvl="1" indent="-285750">
              <a:lnSpc>
                <a:spcPct val="150000"/>
              </a:lnSpc>
              <a:buFont typeface="Arial" panose="020B0604020202020204" pitchFamily="34" charset="0"/>
              <a:buChar char="•"/>
            </a:pPr>
            <a:r>
              <a:rPr lang="zh-CN" altLang="en-US" sz="1800" dirty="0"/>
              <a:t>多项式插值</a:t>
            </a:r>
          </a:p>
        </p:txBody>
      </p:sp>
      <p:sp>
        <p:nvSpPr>
          <p:cNvPr id="6" name="文本框 5">
            <a:extLst>
              <a:ext uri="{FF2B5EF4-FFF2-40B4-BE49-F238E27FC236}">
                <a16:creationId xmlns:a16="http://schemas.microsoft.com/office/drawing/2014/main" id="{68863115-9821-62E0-FD6F-82B1A02789E7}"/>
              </a:ext>
            </a:extLst>
          </p:cNvPr>
          <p:cNvSpPr txBox="1"/>
          <p:nvPr/>
        </p:nvSpPr>
        <p:spPr>
          <a:xfrm>
            <a:off x="3524249" y="1590725"/>
            <a:ext cx="4981576" cy="2010807"/>
          </a:xfrm>
          <a:prstGeom prst="rect">
            <a:avLst/>
          </a:prstGeom>
          <a:noFill/>
        </p:spPr>
        <p:txBody>
          <a:bodyPr wrap="square">
            <a:spAutoFit/>
          </a:bodyPr>
          <a:lstStyle/>
          <a:p>
            <a:r>
              <a:rPr lang="zh-CN" altLang="en-US" sz="2000" dirty="0">
                <a:solidFill>
                  <a:srgbClr val="FF0000"/>
                </a:solidFill>
              </a:rPr>
              <a:t>特征值提取方法：</a:t>
            </a:r>
            <a:endParaRPr lang="en-US" altLang="zh-CN" sz="2000" dirty="0">
              <a:solidFill>
                <a:srgbClr val="FF0000"/>
              </a:solidFill>
            </a:endParaRPr>
          </a:p>
          <a:p>
            <a:pPr marL="285750" indent="-285750">
              <a:lnSpc>
                <a:spcPct val="150000"/>
              </a:lnSpc>
              <a:buFont typeface="Arial" panose="020B0604020202020204" pitchFamily="34" charset="0"/>
              <a:buChar char="•"/>
            </a:pPr>
            <a:r>
              <a:rPr lang="zh-CN" altLang="en-US" sz="1800" dirty="0"/>
              <a:t>基本统计量：极值、</a:t>
            </a:r>
            <a:r>
              <a:rPr lang="zh-CN" altLang="zh-CN" sz="1800" dirty="0"/>
              <a:t>标准差</a:t>
            </a:r>
            <a:r>
              <a:rPr lang="zh-CN" altLang="en-US" sz="1800" dirty="0"/>
              <a:t>、方差等</a:t>
            </a:r>
            <a:endParaRPr lang="en-US" altLang="zh-CN" sz="1800" dirty="0"/>
          </a:p>
          <a:p>
            <a:pPr marL="285750" indent="-285750">
              <a:lnSpc>
                <a:spcPct val="150000"/>
              </a:lnSpc>
              <a:buFont typeface="Arial" panose="020B0604020202020204" pitchFamily="34" charset="0"/>
              <a:buChar char="•"/>
            </a:pPr>
            <a:r>
              <a:rPr lang="zh-CN" altLang="en-US" sz="1800" dirty="0"/>
              <a:t>形状特征：偏度、峰值等</a:t>
            </a:r>
            <a:endParaRPr lang="en-US" altLang="zh-CN" sz="1800" dirty="0"/>
          </a:p>
          <a:p>
            <a:pPr marL="285750" indent="-285750">
              <a:lnSpc>
                <a:spcPct val="150000"/>
              </a:lnSpc>
              <a:buFont typeface="Arial" panose="020B0604020202020204" pitchFamily="34" charset="0"/>
              <a:buChar char="•"/>
            </a:pPr>
            <a:r>
              <a:rPr lang="zh-CN" altLang="zh-CN" sz="1800" dirty="0"/>
              <a:t>频域特征</a:t>
            </a:r>
            <a:r>
              <a:rPr lang="zh-CN" altLang="en-US" sz="1800" dirty="0"/>
              <a:t>：</a:t>
            </a:r>
            <a:r>
              <a:rPr lang="zh-CN" altLang="zh-CN" sz="1800" dirty="0"/>
              <a:t>快速傅里叶变换</a:t>
            </a:r>
            <a:r>
              <a:rPr lang="zh-CN" altLang="en-US" sz="1800" dirty="0"/>
              <a:t>等</a:t>
            </a:r>
            <a:endParaRPr lang="en-US" altLang="zh-CN" sz="1800" dirty="0"/>
          </a:p>
          <a:p>
            <a:pPr marL="285750" indent="-285750">
              <a:lnSpc>
                <a:spcPct val="150000"/>
              </a:lnSpc>
              <a:buFont typeface="Arial" panose="020B0604020202020204" pitchFamily="34" charset="0"/>
              <a:buChar char="•"/>
            </a:pPr>
            <a:r>
              <a:rPr lang="zh-CN" altLang="en-US" sz="1800" dirty="0"/>
              <a:t>时间特征：自相关、移动平均、滞后特征等</a:t>
            </a:r>
            <a:endParaRPr lang="en-US" altLang="zh-CN" sz="1800" dirty="0"/>
          </a:p>
        </p:txBody>
      </p:sp>
      <p:sp>
        <p:nvSpPr>
          <p:cNvPr id="12" name="文本框 11">
            <a:extLst>
              <a:ext uri="{FF2B5EF4-FFF2-40B4-BE49-F238E27FC236}">
                <a16:creationId xmlns:a16="http://schemas.microsoft.com/office/drawing/2014/main" id="{E6DAD9F6-DC19-95F2-F8C2-D393BE0E3FF0}"/>
              </a:ext>
            </a:extLst>
          </p:cNvPr>
          <p:cNvSpPr txBox="1"/>
          <p:nvPr/>
        </p:nvSpPr>
        <p:spPr>
          <a:xfrm>
            <a:off x="9010650" y="1562125"/>
            <a:ext cx="2562225" cy="3254802"/>
          </a:xfrm>
          <a:prstGeom prst="rect">
            <a:avLst/>
          </a:prstGeom>
          <a:noFill/>
        </p:spPr>
        <p:txBody>
          <a:bodyPr wrap="square">
            <a:spAutoFit/>
          </a:bodyPr>
          <a:lstStyle/>
          <a:p>
            <a:r>
              <a:rPr lang="zh-CN" altLang="en-US" sz="2000" dirty="0">
                <a:solidFill>
                  <a:srgbClr val="FF0000"/>
                </a:solidFill>
              </a:rPr>
              <a:t>预警规则：</a:t>
            </a:r>
            <a:endParaRPr lang="en-US" altLang="zh-CN" sz="2000" dirty="0">
              <a:solidFill>
                <a:srgbClr val="FF0000"/>
              </a:solidFill>
            </a:endParaRPr>
          </a:p>
          <a:p>
            <a:pPr marL="285750" indent="-285750">
              <a:lnSpc>
                <a:spcPct val="150000"/>
              </a:lnSpc>
              <a:buFont typeface="Arial" panose="020B0604020202020204" pitchFamily="34" charset="0"/>
              <a:buChar char="•"/>
            </a:pPr>
            <a:r>
              <a:rPr lang="zh-CN" altLang="en-US" sz="1800" dirty="0"/>
              <a:t>阈值预警</a:t>
            </a:r>
            <a:endParaRPr lang="en-US" altLang="zh-CN" sz="1800" dirty="0"/>
          </a:p>
          <a:p>
            <a:pPr marL="285750" indent="-285750">
              <a:lnSpc>
                <a:spcPct val="150000"/>
              </a:lnSpc>
              <a:buFont typeface="Arial" panose="020B0604020202020204" pitchFamily="34" charset="0"/>
              <a:buChar char="•"/>
            </a:pPr>
            <a:r>
              <a:rPr lang="zh-CN" altLang="en-US" sz="1800" dirty="0"/>
              <a:t>规则预警</a:t>
            </a:r>
            <a:endParaRPr lang="en-US" altLang="zh-CN" sz="1800" dirty="0"/>
          </a:p>
          <a:p>
            <a:pPr marL="628650" lvl="1" indent="-285750">
              <a:lnSpc>
                <a:spcPct val="150000"/>
              </a:lnSpc>
              <a:buFont typeface="Arial" panose="020B0604020202020204" pitchFamily="34" charset="0"/>
              <a:buChar char="•"/>
            </a:pPr>
            <a:r>
              <a:rPr lang="zh-CN" altLang="en-US" sz="1800" dirty="0"/>
              <a:t>趋势预警</a:t>
            </a:r>
            <a:endParaRPr lang="en-US" altLang="zh-CN" sz="1800" dirty="0"/>
          </a:p>
          <a:p>
            <a:pPr marL="628650" lvl="1" indent="-285750">
              <a:lnSpc>
                <a:spcPct val="150000"/>
              </a:lnSpc>
              <a:buFont typeface="Arial" panose="020B0604020202020204" pitchFamily="34" charset="0"/>
              <a:buChar char="•"/>
            </a:pPr>
            <a:r>
              <a:rPr lang="zh-CN" altLang="en-US" sz="1800" dirty="0"/>
              <a:t>突变预警</a:t>
            </a:r>
            <a:endParaRPr lang="en-US" altLang="zh-CN" sz="1800" dirty="0"/>
          </a:p>
          <a:p>
            <a:pPr marL="285750" indent="-285750">
              <a:lnSpc>
                <a:spcPct val="150000"/>
              </a:lnSpc>
              <a:buFont typeface="Arial" panose="020B0604020202020204" pitchFamily="34" charset="0"/>
              <a:buChar char="•"/>
            </a:pPr>
            <a:r>
              <a:rPr lang="zh-CN" altLang="en-US" sz="1800" dirty="0"/>
              <a:t>模型预警</a:t>
            </a:r>
            <a:endParaRPr lang="en-US" altLang="zh-CN" sz="1800" dirty="0"/>
          </a:p>
          <a:p>
            <a:pPr marL="628650" lvl="1" indent="-285750">
              <a:lnSpc>
                <a:spcPct val="150000"/>
              </a:lnSpc>
              <a:buFont typeface="Arial" panose="020B0604020202020204" pitchFamily="34" charset="0"/>
              <a:buChar char="•"/>
            </a:pPr>
            <a:r>
              <a:rPr lang="zh-CN" altLang="en-US" sz="1800" dirty="0"/>
              <a:t>趋势预警</a:t>
            </a:r>
            <a:endParaRPr lang="en-US" altLang="zh-CN" sz="1800" dirty="0"/>
          </a:p>
          <a:p>
            <a:pPr marL="628650" lvl="1" indent="-285750">
              <a:lnSpc>
                <a:spcPct val="150000"/>
              </a:lnSpc>
              <a:buFont typeface="Arial" panose="020B0604020202020204" pitchFamily="34" charset="0"/>
              <a:buChar char="•"/>
            </a:pPr>
            <a:r>
              <a:rPr lang="zh-CN" altLang="en-US" sz="1800" dirty="0"/>
              <a:t>突变预警</a:t>
            </a:r>
            <a:endParaRPr lang="en-US" altLang="zh-CN" sz="1800" dirty="0"/>
          </a:p>
        </p:txBody>
      </p:sp>
    </p:spTree>
    <p:extLst>
      <p:ext uri="{BB962C8B-B14F-4D97-AF65-F5344CB8AC3E}">
        <p14:creationId xmlns:p14="http://schemas.microsoft.com/office/powerpoint/2010/main" val="3265208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04198D0F-7405-A063-CAAA-D032D4B6241E}"/>
              </a:ext>
            </a:extLst>
          </p:cNvPr>
          <p:cNvSpPr>
            <a:spLocks noGrp="1"/>
          </p:cNvSpPr>
          <p:nvPr>
            <p:ph type="title"/>
          </p:nvPr>
        </p:nvSpPr>
        <p:spPr>
          <a:xfrm>
            <a:off x="464495" y="412832"/>
            <a:ext cx="10515600" cy="594204"/>
          </a:xfrm>
        </p:spPr>
        <p:txBody>
          <a:bodyPr/>
          <a:lstStyle/>
          <a:p>
            <a:r>
              <a:rPr lang="zh-CN" altLang="en-US" dirty="0"/>
              <a:t>实际业务场景</a:t>
            </a:r>
            <a:r>
              <a:rPr lang="en-US" altLang="zh-CN" dirty="0"/>
              <a:t>——</a:t>
            </a:r>
            <a:r>
              <a:rPr lang="en-US" altLang="zh-CN" dirty="0" err="1"/>
              <a:t>Ameco</a:t>
            </a:r>
            <a:r>
              <a:rPr lang="zh-CN" altLang="en-US" dirty="0"/>
              <a:t>现有数据中台</a:t>
            </a:r>
          </a:p>
        </p:txBody>
      </p:sp>
      <p:pic>
        <p:nvPicPr>
          <p:cNvPr id="6" name="图片 5">
            <a:extLst>
              <a:ext uri="{FF2B5EF4-FFF2-40B4-BE49-F238E27FC236}">
                <a16:creationId xmlns:a16="http://schemas.microsoft.com/office/drawing/2014/main" id="{392A9B46-6426-0C2F-93E3-FFC2C8D54671}"/>
              </a:ext>
            </a:extLst>
          </p:cNvPr>
          <p:cNvPicPr>
            <a:picLocks noChangeAspect="1"/>
          </p:cNvPicPr>
          <p:nvPr/>
        </p:nvPicPr>
        <p:blipFill>
          <a:blip r:embed="rId3"/>
          <a:stretch>
            <a:fillRect/>
          </a:stretch>
        </p:blipFill>
        <p:spPr>
          <a:xfrm>
            <a:off x="689671" y="1007036"/>
            <a:ext cx="11240539" cy="5299373"/>
          </a:xfrm>
          <a:prstGeom prst="rect">
            <a:avLst/>
          </a:prstGeom>
        </p:spPr>
      </p:pic>
    </p:spTree>
    <p:extLst>
      <p:ext uri="{BB962C8B-B14F-4D97-AF65-F5344CB8AC3E}">
        <p14:creationId xmlns:p14="http://schemas.microsoft.com/office/powerpoint/2010/main" val="1245138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3985DFB-DEA6-9248-4C69-2D1C9BAB4947}"/>
              </a:ext>
            </a:extLst>
          </p:cNvPr>
          <p:cNvSpPr txBox="1">
            <a:spLocks/>
          </p:cNvSpPr>
          <p:nvPr/>
        </p:nvSpPr>
        <p:spPr>
          <a:xfrm>
            <a:off x="446944" y="415887"/>
            <a:ext cx="2054209" cy="5904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400" dirty="0"/>
              <a:t>痛点分析</a:t>
            </a:r>
          </a:p>
        </p:txBody>
      </p:sp>
      <p:sp>
        <p:nvSpPr>
          <p:cNvPr id="4" name="文本框 3">
            <a:extLst>
              <a:ext uri="{FF2B5EF4-FFF2-40B4-BE49-F238E27FC236}">
                <a16:creationId xmlns:a16="http://schemas.microsoft.com/office/drawing/2014/main" id="{94A3E258-A281-4486-1D5C-63D7D96CEF21}"/>
              </a:ext>
            </a:extLst>
          </p:cNvPr>
          <p:cNvSpPr txBox="1"/>
          <p:nvPr/>
        </p:nvSpPr>
        <p:spPr>
          <a:xfrm>
            <a:off x="782006" y="1240013"/>
            <a:ext cx="9028744" cy="369332"/>
          </a:xfrm>
          <a:prstGeom prst="rect">
            <a:avLst/>
          </a:prstGeom>
          <a:noFill/>
        </p:spPr>
        <p:txBody>
          <a:bodyPr wrap="square" rtlCol="0">
            <a:spAutoFit/>
          </a:bodyPr>
          <a:lstStyle/>
          <a:p>
            <a:r>
              <a:rPr lang="zh-CN" altLang="en-US" sz="1800" b="0" dirty="0"/>
              <a:t>因此，</a:t>
            </a:r>
            <a:r>
              <a:rPr lang="en-US" altLang="zh-CN" sz="1800" b="0" dirty="0" err="1"/>
              <a:t>Ameco</a:t>
            </a:r>
            <a:r>
              <a:rPr lang="zh-CN" altLang="en-US" sz="1800" b="0" dirty="0"/>
              <a:t>数据工程师在利用现有数据平台进行全流程数据分析时遇到以下问题：</a:t>
            </a:r>
          </a:p>
        </p:txBody>
      </p:sp>
      <p:sp>
        <p:nvSpPr>
          <p:cNvPr id="2" name="文本框 1">
            <a:extLst>
              <a:ext uri="{FF2B5EF4-FFF2-40B4-BE49-F238E27FC236}">
                <a16:creationId xmlns:a16="http://schemas.microsoft.com/office/drawing/2014/main" id="{8A7810FF-1742-D20C-C1A9-0DD0736E5B4A}"/>
              </a:ext>
            </a:extLst>
          </p:cNvPr>
          <p:cNvSpPr txBox="1"/>
          <p:nvPr/>
        </p:nvSpPr>
        <p:spPr>
          <a:xfrm>
            <a:off x="1013011" y="1664142"/>
            <a:ext cx="9434271" cy="1417568"/>
          </a:xfrm>
          <a:prstGeom prst="rect">
            <a:avLst/>
          </a:prstGeom>
          <a:noFill/>
        </p:spPr>
        <p:txBody>
          <a:bodyPr wrap="square" rtlCol="0">
            <a:spAutoFit/>
          </a:bodyPr>
          <a:lstStyle/>
          <a:p>
            <a:pPr>
              <a:lnSpc>
                <a:spcPct val="150000"/>
              </a:lnSpc>
            </a:pPr>
            <a:r>
              <a:rPr lang="en-US" altLang="zh-CN" sz="2000" dirty="0"/>
              <a:t>1</a:t>
            </a:r>
            <a:r>
              <a:rPr lang="zh-CN" altLang="en-US" sz="2000" dirty="0"/>
              <a:t>、数据平台数据查找困难（数据归档不规范）</a:t>
            </a:r>
            <a:endParaRPr lang="en-US" altLang="zh-CN" sz="2000" dirty="0"/>
          </a:p>
          <a:p>
            <a:pPr>
              <a:lnSpc>
                <a:spcPct val="150000"/>
              </a:lnSpc>
            </a:pPr>
            <a:r>
              <a:rPr lang="en-US" altLang="zh-CN" sz="2000" dirty="0"/>
              <a:t>2</a:t>
            </a:r>
            <a:r>
              <a:rPr lang="zh-CN" altLang="en-US" sz="2000" dirty="0"/>
              <a:t>、数据平台“难上手”，门槛较高，操作复杂且理解成本高。</a:t>
            </a:r>
            <a:endParaRPr lang="en-US" altLang="zh-CN" sz="2000" dirty="0"/>
          </a:p>
          <a:p>
            <a:pPr>
              <a:lnSpc>
                <a:spcPct val="150000"/>
              </a:lnSpc>
            </a:pPr>
            <a:r>
              <a:rPr lang="en-US" altLang="zh-CN" sz="2000" dirty="0"/>
              <a:t>3</a:t>
            </a:r>
            <a:r>
              <a:rPr lang="zh-CN" altLang="en-US" sz="2000" dirty="0"/>
              <a:t>、数据处理和分析方法仅能用固定的几种，不可扩展。</a:t>
            </a:r>
          </a:p>
        </p:txBody>
      </p:sp>
      <p:sp>
        <p:nvSpPr>
          <p:cNvPr id="7" name="文本框 6">
            <a:extLst>
              <a:ext uri="{FF2B5EF4-FFF2-40B4-BE49-F238E27FC236}">
                <a16:creationId xmlns:a16="http://schemas.microsoft.com/office/drawing/2014/main" id="{BAD99710-6F35-EB49-0BB8-5DC318E00AC4}"/>
              </a:ext>
            </a:extLst>
          </p:cNvPr>
          <p:cNvSpPr txBox="1"/>
          <p:nvPr/>
        </p:nvSpPr>
        <p:spPr>
          <a:xfrm>
            <a:off x="782006" y="3530332"/>
            <a:ext cx="10396983" cy="369332"/>
          </a:xfrm>
          <a:prstGeom prst="rect">
            <a:avLst/>
          </a:prstGeom>
          <a:noFill/>
        </p:spPr>
        <p:txBody>
          <a:bodyPr wrap="square" rtlCol="0">
            <a:spAutoFit/>
          </a:bodyPr>
          <a:lstStyle/>
          <a:p>
            <a:r>
              <a:rPr lang="zh-CN" altLang="en-US" sz="1800" b="0" dirty="0"/>
              <a:t>此外，其他行业在进行数据管理领域的全链路（</a:t>
            </a:r>
            <a:r>
              <a:rPr lang="zh-CN" altLang="en-US" sz="1800" b="0" i="0" dirty="0">
                <a:solidFill>
                  <a:srgbClr val="FF0000"/>
                </a:solidFill>
                <a:effectLst/>
                <a:latin typeface="-apple-system"/>
              </a:rPr>
              <a:t>数据采集、整合、处理和分析</a:t>
            </a:r>
            <a:r>
              <a:rPr lang="zh-CN" altLang="en-US" sz="1800" b="0" dirty="0"/>
              <a:t>）中的业务痛点是：</a:t>
            </a:r>
          </a:p>
        </p:txBody>
      </p:sp>
      <p:sp>
        <p:nvSpPr>
          <p:cNvPr id="8" name="文本框 7">
            <a:extLst>
              <a:ext uri="{FF2B5EF4-FFF2-40B4-BE49-F238E27FC236}">
                <a16:creationId xmlns:a16="http://schemas.microsoft.com/office/drawing/2014/main" id="{9C55FFA5-5D98-4DFF-D9E5-382CAD313229}"/>
              </a:ext>
            </a:extLst>
          </p:cNvPr>
          <p:cNvSpPr txBox="1"/>
          <p:nvPr/>
        </p:nvSpPr>
        <p:spPr>
          <a:xfrm>
            <a:off x="1013011" y="4176663"/>
            <a:ext cx="9434271" cy="1879232"/>
          </a:xfrm>
          <a:prstGeom prst="rect">
            <a:avLst/>
          </a:prstGeom>
          <a:noFill/>
        </p:spPr>
        <p:txBody>
          <a:bodyPr wrap="square" rtlCol="0">
            <a:spAutoFit/>
          </a:bodyPr>
          <a:lstStyle/>
          <a:p>
            <a:pPr>
              <a:lnSpc>
                <a:spcPct val="150000"/>
              </a:lnSpc>
            </a:pPr>
            <a:r>
              <a:rPr lang="en-US" altLang="zh-CN" sz="2000" dirty="0"/>
              <a:t>1</a:t>
            </a:r>
            <a:r>
              <a:rPr lang="zh-CN" altLang="en-US" sz="2000" dirty="0"/>
              <a:t>、数据孤岛问题。</a:t>
            </a:r>
            <a:endParaRPr lang="en-US" altLang="zh-CN" sz="2000" dirty="0"/>
          </a:p>
          <a:p>
            <a:pPr>
              <a:lnSpc>
                <a:spcPct val="150000"/>
              </a:lnSpc>
            </a:pPr>
            <a:r>
              <a:rPr lang="en-US" altLang="zh-CN" sz="2000" dirty="0"/>
              <a:t>2</a:t>
            </a:r>
            <a:r>
              <a:rPr lang="zh-CN" altLang="en-US" sz="2000" dirty="0"/>
              <a:t>、</a:t>
            </a:r>
            <a:r>
              <a:rPr lang="zh-CN" altLang="en-US" sz="2000" dirty="0">
                <a:solidFill>
                  <a:srgbClr val="060607"/>
                </a:solidFill>
                <a:highlight>
                  <a:srgbClr val="FFFFFF"/>
                </a:highlight>
                <a:latin typeface="-apple-system"/>
              </a:rPr>
              <a:t>无法快速</a:t>
            </a:r>
            <a:r>
              <a:rPr lang="zh-CN" altLang="en-US" sz="2000" i="0" dirty="0">
                <a:solidFill>
                  <a:srgbClr val="060607"/>
                </a:solidFill>
                <a:effectLst/>
                <a:highlight>
                  <a:srgbClr val="FFFFFF"/>
                </a:highlight>
                <a:latin typeface="-apple-system"/>
              </a:rPr>
              <a:t>支撑业务应用：没有串联从数据采集到数据处理、数据归档的数据管理全周期能力</a:t>
            </a:r>
            <a:r>
              <a:rPr lang="zh-CN" altLang="en-US" sz="2000" dirty="0"/>
              <a:t>。</a:t>
            </a:r>
            <a:endParaRPr lang="en-US" altLang="zh-CN" sz="2000" dirty="0"/>
          </a:p>
          <a:p>
            <a:pPr>
              <a:lnSpc>
                <a:spcPct val="150000"/>
              </a:lnSpc>
            </a:pPr>
            <a:r>
              <a:rPr lang="en-US" altLang="zh-CN" sz="2000" dirty="0"/>
              <a:t>3</a:t>
            </a:r>
            <a:r>
              <a:rPr lang="zh-CN" altLang="en-US" sz="2000" dirty="0"/>
              <a:t>、数据治理和数据应用存在</a:t>
            </a:r>
            <a:r>
              <a:rPr lang="en-US" altLang="zh-CN" sz="2000" dirty="0"/>
              <a:t>gap</a:t>
            </a:r>
            <a:r>
              <a:rPr lang="zh-CN" altLang="en-US" sz="2000" dirty="0"/>
              <a:t>，跨部门协作困难。</a:t>
            </a:r>
          </a:p>
        </p:txBody>
      </p:sp>
    </p:spTree>
    <p:extLst>
      <p:ext uri="{BB962C8B-B14F-4D97-AF65-F5344CB8AC3E}">
        <p14:creationId xmlns:p14="http://schemas.microsoft.com/office/powerpoint/2010/main" val="91108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图示&#10;&#10;描述已自动生成">
            <a:extLst>
              <a:ext uri="{FF2B5EF4-FFF2-40B4-BE49-F238E27FC236}">
                <a16:creationId xmlns:a16="http://schemas.microsoft.com/office/drawing/2014/main" id="{766A2E77-8725-4EDA-428E-9F4D7A4B1E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5485" y="1560066"/>
            <a:ext cx="7134079" cy="4799630"/>
          </a:xfrm>
          <a:prstGeom prst="rect">
            <a:avLst/>
          </a:prstGeom>
        </p:spPr>
      </p:pic>
      <p:sp>
        <p:nvSpPr>
          <p:cNvPr id="6" name="标题 1">
            <a:extLst>
              <a:ext uri="{FF2B5EF4-FFF2-40B4-BE49-F238E27FC236}">
                <a16:creationId xmlns:a16="http://schemas.microsoft.com/office/drawing/2014/main" id="{33985DFB-DEA6-9248-4C69-2D1C9BAB4947}"/>
              </a:ext>
            </a:extLst>
          </p:cNvPr>
          <p:cNvSpPr txBox="1">
            <a:spLocks/>
          </p:cNvSpPr>
          <p:nvPr/>
        </p:nvSpPr>
        <p:spPr>
          <a:xfrm>
            <a:off x="434617" y="445146"/>
            <a:ext cx="3832583" cy="5904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400" dirty="0"/>
              <a:t>产品设计理念和功能介绍</a:t>
            </a:r>
          </a:p>
        </p:txBody>
      </p:sp>
      <p:sp>
        <p:nvSpPr>
          <p:cNvPr id="3" name="文本框 2">
            <a:extLst>
              <a:ext uri="{FF2B5EF4-FFF2-40B4-BE49-F238E27FC236}">
                <a16:creationId xmlns:a16="http://schemas.microsoft.com/office/drawing/2014/main" id="{BB39B7DF-A2C2-411A-7531-DE346D162E6B}"/>
              </a:ext>
            </a:extLst>
          </p:cNvPr>
          <p:cNvSpPr txBox="1"/>
          <p:nvPr/>
        </p:nvSpPr>
        <p:spPr>
          <a:xfrm>
            <a:off x="212436" y="1190734"/>
            <a:ext cx="6096000" cy="369332"/>
          </a:xfrm>
          <a:prstGeom prst="rect">
            <a:avLst/>
          </a:prstGeom>
          <a:noFill/>
        </p:spPr>
        <p:txBody>
          <a:bodyPr wrap="square">
            <a:spAutoFit/>
          </a:bodyPr>
          <a:lstStyle/>
          <a:p>
            <a:r>
              <a:rPr lang="zh-CN" altLang="en-US" sz="1800" b="1" dirty="0">
                <a:solidFill>
                  <a:srgbClr val="00B0F0"/>
                </a:solidFill>
                <a:effectLst/>
                <a:latin typeface="MonospacedNumber"/>
              </a:rPr>
              <a:t>简单易用、交互友好，强可扩展的</a:t>
            </a:r>
            <a:r>
              <a:rPr lang="en-US" altLang="zh-CN" sz="1800" b="1" dirty="0">
                <a:solidFill>
                  <a:srgbClr val="00B0F0"/>
                </a:solidFill>
                <a:latin typeface="MonospacedNumber"/>
              </a:rPr>
              <a:t>AI</a:t>
            </a:r>
            <a:r>
              <a:rPr lang="zh-CN" altLang="en-US" sz="1800" b="1" dirty="0">
                <a:solidFill>
                  <a:srgbClr val="00B0F0"/>
                </a:solidFill>
                <a:latin typeface="MonospacedNumber"/>
              </a:rPr>
              <a:t>数据准备</a:t>
            </a:r>
            <a:r>
              <a:rPr lang="zh-CN" altLang="en-US" sz="1800" b="1" dirty="0">
                <a:solidFill>
                  <a:srgbClr val="00B0F0"/>
                </a:solidFill>
                <a:effectLst/>
                <a:latin typeface="MonospacedNumber"/>
              </a:rPr>
              <a:t>平台</a:t>
            </a:r>
            <a:endParaRPr lang="zh-CN" altLang="en-US" sz="1800" dirty="0">
              <a:solidFill>
                <a:srgbClr val="00B0F0"/>
              </a:solidFill>
              <a:effectLst/>
            </a:endParaRPr>
          </a:p>
        </p:txBody>
      </p:sp>
      <p:sp>
        <p:nvSpPr>
          <p:cNvPr id="4" name="矩形 3">
            <a:extLst>
              <a:ext uri="{FF2B5EF4-FFF2-40B4-BE49-F238E27FC236}">
                <a16:creationId xmlns:a16="http://schemas.microsoft.com/office/drawing/2014/main" id="{7DB3A823-34D7-9E1C-5F99-03CED918F747}"/>
              </a:ext>
            </a:extLst>
          </p:cNvPr>
          <p:cNvSpPr/>
          <p:nvPr/>
        </p:nvSpPr>
        <p:spPr>
          <a:xfrm>
            <a:off x="5951791" y="3483769"/>
            <a:ext cx="1026790" cy="369332"/>
          </a:xfrm>
          <a:prstGeom prst="rect">
            <a:avLst/>
          </a:prstGeom>
          <a:solidFill>
            <a:schemeClr val="accent2">
              <a:lumMod val="60000"/>
              <a:lumOff val="40000"/>
              <a:alpha val="3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F4C8F8BE-29EB-581C-504B-F3D37CA88E24}"/>
              </a:ext>
            </a:extLst>
          </p:cNvPr>
          <p:cNvSpPr/>
          <p:nvPr/>
        </p:nvSpPr>
        <p:spPr>
          <a:xfrm>
            <a:off x="9811316" y="3365383"/>
            <a:ext cx="1305348" cy="487718"/>
          </a:xfrm>
          <a:prstGeom prst="rect">
            <a:avLst/>
          </a:prstGeom>
          <a:solidFill>
            <a:schemeClr val="accent2">
              <a:lumMod val="60000"/>
              <a:lumOff val="40000"/>
              <a:alpha val="3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a:extLst>
              <a:ext uri="{FF2B5EF4-FFF2-40B4-BE49-F238E27FC236}">
                <a16:creationId xmlns:a16="http://schemas.microsoft.com/office/drawing/2014/main" id="{80BE2B44-D75E-7C43-1C9C-37BBF2F57B08}"/>
              </a:ext>
            </a:extLst>
          </p:cNvPr>
          <p:cNvSpPr/>
          <p:nvPr/>
        </p:nvSpPr>
        <p:spPr>
          <a:xfrm>
            <a:off x="8597830" y="4715816"/>
            <a:ext cx="1042767" cy="419100"/>
          </a:xfrm>
          <a:prstGeom prst="rect">
            <a:avLst/>
          </a:prstGeom>
          <a:solidFill>
            <a:schemeClr val="accent2">
              <a:lumMod val="60000"/>
              <a:lumOff val="40000"/>
              <a:alpha val="3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C8002B3E-646A-3044-8FA7-EAE108EC7C38}"/>
              </a:ext>
            </a:extLst>
          </p:cNvPr>
          <p:cNvSpPr txBox="1"/>
          <p:nvPr/>
        </p:nvSpPr>
        <p:spPr>
          <a:xfrm>
            <a:off x="8322592" y="867568"/>
            <a:ext cx="3530041" cy="646331"/>
          </a:xfrm>
          <a:prstGeom prst="rect">
            <a:avLst/>
          </a:prstGeom>
          <a:noFill/>
        </p:spPr>
        <p:txBody>
          <a:bodyPr wrap="square">
            <a:spAutoFit/>
          </a:bodyPr>
          <a:lstStyle/>
          <a:p>
            <a:r>
              <a:rPr lang="en-US" altLang="zh-CN" sz="1800" dirty="0">
                <a:solidFill>
                  <a:srgbClr val="FF0000"/>
                </a:solidFill>
              </a:rPr>
              <a:t>*</a:t>
            </a:r>
            <a:r>
              <a:rPr lang="zh-CN" altLang="en-US" sz="1800" dirty="0">
                <a:solidFill>
                  <a:srgbClr val="FF0000"/>
                </a:solidFill>
              </a:rPr>
              <a:t>后续接入</a:t>
            </a:r>
            <a:r>
              <a:rPr lang="en-US" altLang="zh-CN" sz="1800" dirty="0">
                <a:solidFill>
                  <a:srgbClr val="FF0000"/>
                </a:solidFill>
              </a:rPr>
              <a:t>AI agent</a:t>
            </a:r>
            <a:r>
              <a:rPr lang="zh-CN" altLang="en-US" sz="1800" dirty="0">
                <a:solidFill>
                  <a:srgbClr val="FF0000"/>
                </a:solidFill>
              </a:rPr>
              <a:t>，为业务人员在重点业务环节中提供决策辅助</a:t>
            </a:r>
            <a:endParaRPr lang="zh-CN" altLang="en-US" sz="1800" dirty="0">
              <a:solidFill>
                <a:srgbClr val="FF0000"/>
              </a:solidFill>
              <a:effectLst/>
            </a:endParaRPr>
          </a:p>
        </p:txBody>
      </p:sp>
      <p:sp>
        <p:nvSpPr>
          <p:cNvPr id="14" name="文本框 13">
            <a:extLst>
              <a:ext uri="{FF2B5EF4-FFF2-40B4-BE49-F238E27FC236}">
                <a16:creationId xmlns:a16="http://schemas.microsoft.com/office/drawing/2014/main" id="{73D28AFD-EB47-47C5-17BE-524F8F1DE4FF}"/>
              </a:ext>
            </a:extLst>
          </p:cNvPr>
          <p:cNvSpPr txBox="1"/>
          <p:nvPr/>
        </p:nvSpPr>
        <p:spPr>
          <a:xfrm>
            <a:off x="602493" y="1870304"/>
            <a:ext cx="3897819" cy="3785652"/>
          </a:xfrm>
          <a:prstGeom prst="rect">
            <a:avLst/>
          </a:prstGeom>
          <a:noFill/>
        </p:spPr>
        <p:txBody>
          <a:bodyPr wrap="square" rtlCol="0">
            <a:spAutoFit/>
          </a:bodyPr>
          <a:lstStyle/>
          <a:p>
            <a:pPr>
              <a:spcBef>
                <a:spcPts val="1200"/>
              </a:spcBef>
            </a:pPr>
            <a:r>
              <a:rPr lang="zh-CN" altLang="en-US" sz="2000" dirty="0"/>
              <a:t>总体定位：</a:t>
            </a:r>
            <a:endParaRPr lang="en-US" altLang="zh-CN" sz="2000" dirty="0"/>
          </a:p>
          <a:p>
            <a:pPr marL="285750" indent="-285750">
              <a:spcBef>
                <a:spcPts val="1200"/>
              </a:spcBef>
              <a:buFontTx/>
              <a:buChar char="-"/>
            </a:pPr>
            <a:r>
              <a:rPr lang="zh-CN" altLang="en-US" sz="2000" dirty="0"/>
              <a:t>数据的</a:t>
            </a:r>
            <a:r>
              <a:rPr lang="zh-CN" altLang="en-US" sz="2000" b="1" dirty="0">
                <a:solidFill>
                  <a:srgbClr val="FF0000"/>
                </a:solidFill>
              </a:rPr>
              <a:t>集散地。</a:t>
            </a:r>
            <a:endParaRPr lang="en-US" altLang="zh-CN" sz="2000" b="1" dirty="0">
              <a:solidFill>
                <a:srgbClr val="FF0000"/>
              </a:solidFill>
            </a:endParaRPr>
          </a:p>
          <a:p>
            <a:pPr marL="285750" indent="-285750">
              <a:spcBef>
                <a:spcPts val="1200"/>
              </a:spcBef>
              <a:buFontTx/>
              <a:buChar char="-"/>
            </a:pPr>
            <a:r>
              <a:rPr lang="zh-CN" altLang="en-US" sz="2000" b="1" dirty="0">
                <a:solidFill>
                  <a:srgbClr val="FF0000"/>
                </a:solidFill>
              </a:rPr>
              <a:t>数据分析的方法可扩展 </a:t>
            </a:r>
            <a:r>
              <a:rPr lang="en-US" altLang="zh-CN" sz="2000" dirty="0"/>
              <a:t>—— </a:t>
            </a:r>
            <a:r>
              <a:rPr lang="zh-CN" altLang="en-US" sz="2000" dirty="0"/>
              <a:t>包括</a:t>
            </a:r>
            <a:r>
              <a:rPr lang="en-US" altLang="zh-CN" sz="2000" dirty="0"/>
              <a:t>Python</a:t>
            </a:r>
            <a:r>
              <a:rPr lang="zh-CN" altLang="en-US" sz="2000" dirty="0"/>
              <a:t>代码的自定义、第三方的</a:t>
            </a:r>
            <a:r>
              <a:rPr lang="en-US" altLang="zh-CN" sz="2000" dirty="0"/>
              <a:t>AI</a:t>
            </a:r>
            <a:r>
              <a:rPr lang="zh-CN" altLang="en-US" sz="2000" dirty="0"/>
              <a:t>算法模型的接入</a:t>
            </a:r>
            <a:endParaRPr lang="en-US" altLang="zh-CN" sz="2000" dirty="0"/>
          </a:p>
          <a:p>
            <a:pPr marL="285750" indent="-285750">
              <a:spcBef>
                <a:spcPts val="1200"/>
              </a:spcBef>
              <a:buFontTx/>
              <a:buChar char="-"/>
            </a:pPr>
            <a:r>
              <a:rPr lang="zh-CN" altLang="en-US" sz="2000" dirty="0"/>
              <a:t>数据分析探索的</a:t>
            </a:r>
            <a:r>
              <a:rPr lang="zh-CN" altLang="en-US" sz="2000" b="1" dirty="0">
                <a:solidFill>
                  <a:srgbClr val="FF0000"/>
                </a:solidFill>
              </a:rPr>
              <a:t>方法可积累，经验可分享</a:t>
            </a:r>
            <a:endParaRPr lang="en-US" altLang="zh-CN" sz="2000" b="1" dirty="0">
              <a:solidFill>
                <a:srgbClr val="FF0000"/>
              </a:solidFill>
            </a:endParaRPr>
          </a:p>
          <a:p>
            <a:pPr marL="285750" indent="-285750">
              <a:spcBef>
                <a:spcPts val="1200"/>
              </a:spcBef>
              <a:buFontTx/>
              <a:buChar char="-"/>
            </a:pPr>
            <a:r>
              <a:rPr lang="zh-CN" altLang="en-US" sz="2000" dirty="0">
                <a:solidFill>
                  <a:srgbClr val="FF0000"/>
                </a:solidFill>
              </a:rPr>
              <a:t>简易流程化</a:t>
            </a:r>
            <a:r>
              <a:rPr lang="zh-CN" altLang="en-US" sz="2000" dirty="0"/>
              <a:t>全链路数据分析，结合</a:t>
            </a:r>
            <a:r>
              <a:rPr lang="zh-CN" altLang="en-US" sz="2000" dirty="0">
                <a:solidFill>
                  <a:srgbClr val="FF0000"/>
                </a:solidFill>
              </a:rPr>
              <a:t>专业扩展能力</a:t>
            </a:r>
            <a:r>
              <a:rPr lang="zh-CN" altLang="en-US" sz="2000" dirty="0"/>
              <a:t>，降低使用门槛。</a:t>
            </a:r>
          </a:p>
        </p:txBody>
      </p:sp>
      <p:sp>
        <p:nvSpPr>
          <p:cNvPr id="7" name="矩形 6">
            <a:extLst>
              <a:ext uri="{FF2B5EF4-FFF2-40B4-BE49-F238E27FC236}">
                <a16:creationId xmlns:a16="http://schemas.microsoft.com/office/drawing/2014/main" id="{784EB10E-C58F-0377-5710-C4578D54A262}"/>
              </a:ext>
            </a:extLst>
          </p:cNvPr>
          <p:cNvSpPr/>
          <p:nvPr/>
        </p:nvSpPr>
        <p:spPr>
          <a:xfrm>
            <a:off x="8821351" y="2293662"/>
            <a:ext cx="942410" cy="419100"/>
          </a:xfrm>
          <a:prstGeom prst="rect">
            <a:avLst/>
          </a:prstGeom>
          <a:solidFill>
            <a:schemeClr val="accent2">
              <a:lumMod val="60000"/>
              <a:lumOff val="40000"/>
              <a:alpha val="3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884975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9886C4-8911-02B5-FCBC-925C68EB321F}"/>
              </a:ext>
            </a:extLst>
          </p:cNvPr>
          <p:cNvSpPr>
            <a:spLocks noGrp="1"/>
          </p:cNvSpPr>
          <p:nvPr>
            <p:ph type="title"/>
          </p:nvPr>
        </p:nvSpPr>
        <p:spPr/>
        <p:txBody>
          <a:bodyPr>
            <a:normAutofit/>
          </a:bodyPr>
          <a:lstStyle/>
          <a:p>
            <a:pPr algn="r"/>
            <a:r>
              <a:rPr lang="zh-CN" altLang="en-US" sz="4800" dirty="0"/>
              <a:t>产品原型展示</a:t>
            </a:r>
          </a:p>
        </p:txBody>
      </p:sp>
    </p:spTree>
    <p:extLst>
      <p:ext uri="{BB962C8B-B14F-4D97-AF65-F5344CB8AC3E}">
        <p14:creationId xmlns:p14="http://schemas.microsoft.com/office/powerpoint/2010/main" val="3951746494"/>
      </p:ext>
    </p:extLst>
  </p:cSld>
  <p:clrMapOvr>
    <a:masterClrMapping/>
  </p:clrMapOvr>
</p:sld>
</file>

<file path=ppt/theme/theme1.xml><?xml version="1.0" encoding="utf-8"?>
<a:theme xmlns:a="http://schemas.openxmlformats.org/drawingml/2006/main" name="Ameco  - 华北航线(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富士康checklist应用案例(2)</Template>
  <TotalTime>1796</TotalTime>
  <Words>742</Words>
  <Application>Microsoft Office PowerPoint</Application>
  <PresentationFormat>宽屏</PresentationFormat>
  <Paragraphs>80</Paragraphs>
  <Slides>8</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-apple-system</vt:lpstr>
      <vt:lpstr>MonospacedNumber</vt:lpstr>
      <vt:lpstr>等线</vt:lpstr>
      <vt:lpstr>微软雅黑</vt:lpstr>
      <vt:lpstr>微软雅黑</vt:lpstr>
      <vt:lpstr>微软雅黑 Light</vt:lpstr>
      <vt:lpstr>Arial</vt:lpstr>
      <vt:lpstr>Bebas Neue</vt:lpstr>
      <vt:lpstr>Ameco  - 华北航线(2)</vt:lpstr>
      <vt:lpstr>DFS阶段进展8.28</vt:lpstr>
      <vt:lpstr>PowerPoint 演示文稿</vt:lpstr>
      <vt:lpstr>实际业务场景——业务数据</vt:lpstr>
      <vt:lpstr>实际业务场景——涉及的数据分析方法和规则</vt:lpstr>
      <vt:lpstr>实际业务场景——Ameco现有数据中台</vt:lpstr>
      <vt:lpstr>PowerPoint 演示文稿</vt:lpstr>
      <vt:lpstr>PowerPoint 演示文稿</vt:lpstr>
      <vt:lpstr>产品原型展示</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qianxiao zhang</dc:creator>
  <cp:lastModifiedBy>qianxiao zhang</cp:lastModifiedBy>
  <cp:revision>10</cp:revision>
  <dcterms:created xsi:type="dcterms:W3CDTF">2024-08-27T07:13:37Z</dcterms:created>
  <dcterms:modified xsi:type="dcterms:W3CDTF">2024-11-25T09:32:00Z</dcterms:modified>
</cp:coreProperties>
</file>