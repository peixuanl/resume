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eb0b70a4354b73" /><Relationship Type="http://schemas.openxmlformats.org/officeDocument/2006/relationships/extended-properties" Target="/docProps/app.xml" Id="R9c506d694fb04807" /><Relationship Type="http://schemas.openxmlformats.org/officeDocument/2006/relationships/officeDocument" Target="/ppt/presentation.xml" Id="R67e3a22ea563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d916868d542e6"/>
  </p:sldMasterIdLst>
  <p:notesMasterIdLst>
    <p:notesMasterId xmlns:r="http://schemas.openxmlformats.org/officeDocument/2006/relationships" r:id="Rf118408312cc4f67"/>
  </p:notesMasterIdLst>
  <p:sldIdLst>
    <p:sldId xmlns:r="http://schemas.openxmlformats.org/officeDocument/2006/relationships" id="256" r:id="R19510678f5d64319"/>
    <p:sldId xmlns:r="http://schemas.openxmlformats.org/officeDocument/2006/relationships" id="257" r:id="R2b88145c9c2a4398"/>
    <p:sldId xmlns:r="http://schemas.openxmlformats.org/officeDocument/2006/relationships" id="258" r:id="R1204a9233ad2419b"/>
    <p:sldId xmlns:r="http://schemas.openxmlformats.org/officeDocument/2006/relationships" id="259" r:id="R779615b6cb714359"/>
    <p:sldId xmlns:r="http://schemas.openxmlformats.org/officeDocument/2006/relationships" id="260" r:id="R53941f64dfcb4963"/>
    <p:sldId xmlns:r="http://schemas.openxmlformats.org/officeDocument/2006/relationships" id="261" r:id="Rd9cc6d0c1b2344dc"/>
    <p:sldId xmlns:r="http://schemas.openxmlformats.org/officeDocument/2006/relationships" id="262" r:id="R320afb34d459476f"/>
    <p:sldId xmlns:r="http://schemas.openxmlformats.org/officeDocument/2006/relationships" id="263" r:id="Rcf0a9cba75c74a48"/>
    <p:sldId xmlns:r="http://schemas.openxmlformats.org/officeDocument/2006/relationships" id="264" r:id="Re5c8a85d764f46d7"/>
    <p:sldId xmlns:r="http://schemas.openxmlformats.org/officeDocument/2006/relationships" id="265" r:id="Rc9ab5d686e1d48fa"/>
    <p:sldId xmlns:r="http://schemas.openxmlformats.org/officeDocument/2006/relationships" id="266" r:id="Re75be686eef44ea8"/>
    <p:sldId xmlns:r="http://schemas.openxmlformats.org/officeDocument/2006/relationships" id="267" r:id="R52442f814c81413b"/>
    <p:sldId xmlns:r="http://schemas.openxmlformats.org/officeDocument/2006/relationships" id="268" r:id="Re3ebfda999fb4a08"/>
    <p:sldId xmlns:r="http://schemas.openxmlformats.org/officeDocument/2006/relationships" id="269" r:id="R333ae5d0885b46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2708a47424693" /><Relationship Type="http://schemas.openxmlformats.org/officeDocument/2006/relationships/slideMaster" Target="/ppt/slideMasters/slideMaster1.xml" Id="R0acd916868d542e6" /><Relationship Type="http://schemas.openxmlformats.org/officeDocument/2006/relationships/notesMaster" Target="/ppt/notesMasters/notesMaster1.xml" Id="Rf118408312cc4f67" /><Relationship Type="http://schemas.openxmlformats.org/officeDocument/2006/relationships/presProps" Target="/ppt/presProps.xml" Id="Rb9dc80fa1c5942d2" /><Relationship Type="http://schemas.openxmlformats.org/officeDocument/2006/relationships/tableStyles" Target="/ppt/tableStyles.xml" Id="R7e1d7be3149d4be6" /><Relationship Type="http://schemas.openxmlformats.org/officeDocument/2006/relationships/slide" Target="/ppt/slides/slide1.xml" Id="R19510678f5d64319" /><Relationship Type="http://schemas.openxmlformats.org/officeDocument/2006/relationships/slide" Target="/ppt/slides/slide2.xml" Id="R2b88145c9c2a4398" /><Relationship Type="http://schemas.openxmlformats.org/officeDocument/2006/relationships/slide" Target="/ppt/slides/slide3.xml" Id="R1204a9233ad2419b" /><Relationship Type="http://schemas.openxmlformats.org/officeDocument/2006/relationships/slide" Target="/ppt/slides/slide4.xml" Id="R779615b6cb714359" /><Relationship Type="http://schemas.openxmlformats.org/officeDocument/2006/relationships/slide" Target="/ppt/slides/slide5.xml" Id="R53941f64dfcb4963" /><Relationship Type="http://schemas.openxmlformats.org/officeDocument/2006/relationships/slide" Target="/ppt/slides/slide6.xml" Id="Rd9cc6d0c1b2344dc" /><Relationship Type="http://schemas.openxmlformats.org/officeDocument/2006/relationships/slide" Target="/ppt/slides/slide7.xml" Id="R320afb34d459476f" /><Relationship Type="http://schemas.openxmlformats.org/officeDocument/2006/relationships/slide" Target="/ppt/slides/slide8.xml" Id="Rcf0a9cba75c74a48" /><Relationship Type="http://schemas.openxmlformats.org/officeDocument/2006/relationships/slide" Target="/ppt/slides/slide9.xml" Id="Re5c8a85d764f46d7" /><Relationship Type="http://schemas.openxmlformats.org/officeDocument/2006/relationships/slide" Target="/ppt/slides/slide10.xml" Id="Rc9ab5d686e1d48fa" /><Relationship Type="http://schemas.openxmlformats.org/officeDocument/2006/relationships/slide" Target="/ppt/slides/slide11.xml" Id="Re75be686eef44ea8" /><Relationship Type="http://schemas.openxmlformats.org/officeDocument/2006/relationships/slide" Target="/ppt/slides/slide12.xml" Id="R52442f814c81413b" /><Relationship Type="http://schemas.openxmlformats.org/officeDocument/2006/relationships/slide" Target="/ppt/slides/slide13.xml" Id="Re3ebfda999fb4a08" /><Relationship Type="http://schemas.openxmlformats.org/officeDocument/2006/relationships/slide" Target="/ppt/slides/slide14.xml" Id="R333ae5d0885b46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f195d3048f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5dd526c68c46a3" /><Relationship Type="http://schemas.openxmlformats.org/officeDocument/2006/relationships/notesMaster" Target="/ppt/notesMasters/notesMaster1.xml" Id="Rad403a9f5b45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767d85bca4b78" /><Relationship Type="http://schemas.openxmlformats.org/officeDocument/2006/relationships/notesMaster" Target="/ppt/notesMasters/notesMaster1.xml" Id="R0e90db114b54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121a1378fb42c1" /><Relationship Type="http://schemas.openxmlformats.org/officeDocument/2006/relationships/notesMaster" Target="/ppt/notesMasters/notesMaster1.xml" Id="R92ac754ca3a244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e1cd11b764b32" /><Relationship Type="http://schemas.openxmlformats.org/officeDocument/2006/relationships/notesMaster" Target="/ppt/notesMasters/notesMaster1.xml" Id="R13a793db32e24b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22dbc0eebc4ced" /><Relationship Type="http://schemas.openxmlformats.org/officeDocument/2006/relationships/notesMaster" Target="/ppt/notesMasters/notesMaster1.xml" Id="Rb187f97438a4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54b31fe364742" /><Relationship Type="http://schemas.openxmlformats.org/officeDocument/2006/relationships/notesMaster" Target="/ppt/notesMasters/notesMaster1.xml" Id="Rd3ee56c6237a4d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92ceae80c6487c" /><Relationship Type="http://schemas.openxmlformats.org/officeDocument/2006/relationships/notesMaster" Target="/ppt/notesMasters/notesMaster1.xml" Id="Rc74ac793f06f49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eba9fd6c6457d" /><Relationship Type="http://schemas.openxmlformats.org/officeDocument/2006/relationships/notesMaster" Target="/ppt/notesMasters/notesMaster1.xml" Id="Rd948b09812da49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cc2ff46cc345ce" /><Relationship Type="http://schemas.openxmlformats.org/officeDocument/2006/relationships/notesMaster" Target="/ppt/notesMasters/notesMaster1.xml" Id="R636bbeb6cb294e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f9b0f4d21b4413" /><Relationship Type="http://schemas.openxmlformats.org/officeDocument/2006/relationships/notesMaster" Target="/ppt/notesMasters/notesMaster1.xml" Id="Rf5813597ed414c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41bb1f0e9d4408" /><Relationship Type="http://schemas.openxmlformats.org/officeDocument/2006/relationships/notesMaster" Target="/ppt/notesMasters/notesMaster1.xml" Id="Rdab1363121e74a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48b1d1702a43a8" /><Relationship Type="http://schemas.openxmlformats.org/officeDocument/2006/relationships/notesMaster" Target="/ppt/notesMasters/notesMaster1.xml" Id="Ra50d9cc8bb0b41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117e33a9544e9f" /><Relationship Type="http://schemas.openxmlformats.org/officeDocument/2006/relationships/notesMaster" Target="/ppt/notesMasters/notesMaster1.xml" Id="R50fd73527e8a41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bd322a685a4ed9" /><Relationship Type="http://schemas.openxmlformats.org/officeDocument/2006/relationships/notesMaster" Target="/ppt/notesMasters/notesMaster1.xml" Id="R1e67d509e4ae40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9907c071148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5b5357b3e045c2" /><Relationship Type="http://schemas.openxmlformats.org/officeDocument/2006/relationships/slideLayout" Target="/ppt/slideLayouts/slideLayout1.xml" Id="Rfdea72534ed94d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a72534ed94d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55ddbe83447c" /><Relationship Type="http://schemas.openxmlformats.org/officeDocument/2006/relationships/notesSlide" Target="/ppt/notesSlides/notesSlide1.xml" Id="R4fa4c027ba2a46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2cdf825894e18" /><Relationship Type="http://schemas.openxmlformats.org/officeDocument/2006/relationships/notesSlide" Target="/ppt/notesSlides/notesSlide2.xml" Id="R188008f2c695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caeb3e1804e2e" /><Relationship Type="http://schemas.openxmlformats.org/officeDocument/2006/relationships/notesSlide" Target="/ppt/notesSlides/notesSlide3.xml" Id="Rac326d38a6774e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5183a01934401" /><Relationship Type="http://schemas.openxmlformats.org/officeDocument/2006/relationships/notesSlide" Target="/ppt/notesSlides/notesSlide4.xml" Id="R0518576b7cd94e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8a7b2a77542da" /><Relationship Type="http://schemas.openxmlformats.org/officeDocument/2006/relationships/notesSlide" Target="/ppt/notesSlides/notesSlide5.xml" Id="Ra14565a859864e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ac19e1606453a" /><Relationship Type="http://schemas.openxmlformats.org/officeDocument/2006/relationships/notesSlide" Target="/ppt/notesSlides/notesSlide6.xml" Id="R81af831a531d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e20cfb3284a89" /><Relationship Type="http://schemas.openxmlformats.org/officeDocument/2006/relationships/notesSlide" Target="/ppt/notesSlides/notesSlide7.xml" Id="R9dc29d60db4b4e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9c70cd3f4cc3" /><Relationship Type="http://schemas.openxmlformats.org/officeDocument/2006/relationships/notesSlide" Target="/ppt/notesSlides/notesSlide8.xml" Id="R7e4bab924cdb4c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9d65562d54f57" /><Relationship Type="http://schemas.openxmlformats.org/officeDocument/2006/relationships/notesSlide" Target="/ppt/notesSlides/notesSlide9.xml" Id="R54b0d00560a841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3c934571e4f23" /><Relationship Type="http://schemas.openxmlformats.org/officeDocument/2006/relationships/notesSlide" Target="/ppt/notesSlides/notesSlide10.xml" Id="R42f65ce646db45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fabca71984b30" /><Relationship Type="http://schemas.openxmlformats.org/officeDocument/2006/relationships/notesSlide" Target="/ppt/notesSlides/notesSlide11.xml" Id="Rb24643621b3f48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53c134bdb4dc8" /><Relationship Type="http://schemas.openxmlformats.org/officeDocument/2006/relationships/notesSlide" Target="/ppt/notesSlides/notesSlide12.xml" Id="Ra4443411d5d444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9f133f66043ba" /><Relationship Type="http://schemas.openxmlformats.org/officeDocument/2006/relationships/notesSlide" Target="/ppt/notesSlides/notesSlide13.xml" Id="R29ff376b382c42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a806462494c7a" /><Relationship Type="http://schemas.openxmlformats.org/officeDocument/2006/relationships/notesSlide" Target="/ppt/notesSlides/notesSlide14.xml" Id="R9b53a3f6039c42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95ACE-D801-428B-87BD-7898B85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67B42-6C81-4E84-AD43-336D652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14959-B68D-4990-990E-37C6061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5291-EDA9-4A4E-8562-630B5A3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设施运维 AI Agent / Inspector 0-1 主案例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0C031-8BA6-40EB-A88B-93EFBC21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B端数字孪生 AI 产品经理作品集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E848C-966C-431F-B2AF-214E977E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聚焦告警到工单闭环：AI辅助诊断、SOP、工单草稿、人审、执行回写与知识沉淀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17C1C-125D-4B7D-831A-3FD1F04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C047-0A56-427B-B362-6921A26E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告警触发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DEF20-35D2-450B-8DE1-3C659E96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ECAE3-FE1F-4D36-86D0-3A94E115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F99DE-C880-4556-A590-56564458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13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11BA8-A5B7-4521-A3BF-94F6F7C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C9C5E-6DDD-434D-AFB4-36E01CC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9C1B8-5C5F-447B-975D-CA0C271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F05AA-1FD7-4486-9B1C-44177B0B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1853A-7CEE-4EAA-B465-AB8F76B5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E3477-0561-491D-815C-A4374344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1F9A9-D28A-4B9F-B636-B597B58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CEE57-1708-4497-967F-3FBBA20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1BBCB-6CF5-45CF-912C-5492E8A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176D3-6F15-4B79-AF02-C2542DC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EEF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0D9D1-BFA8-417B-922B-8062ABF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数字孪生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C3B1E-4E07-44FC-AD1E-586984D0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EEF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C4A85-A392-43F4-885E-57B79DC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设施运维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B30CF-401A-4D7F-A889-B20FA457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EEF3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C95D9-DD4D-4204-B991-9C76E97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B8D1B-D8C0-4E08-9426-F292938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EEF7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A9CA4-FC4C-48E6-BECD-EF10A10A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IoT / 3D / DFS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661DF-8C7F-4EAC-920A-7E07C7A3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EEF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134CC-4D6C-4C0B-9DE8-2281CA08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98DC7-3B5E-4770-82CD-FCB73C44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李沛宣 Jane｜B端产品经理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CF604-AA4B-4538-B97E-51548BEC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81050"/>
            <a:ext cx="16954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7F0EC"/>
          </a:solidFill>
          <a:ln xmlns:a="http://schemas.openxmlformats.org/drawingml/2006/main" w="9525">
            <a:solidFill>
              <a:srgbClr val="D6E3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BB0ED1-CA0E-48B8-82C4-DA8D6BED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4775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3CC24-C5C0-426B-9AB6-FACE1C88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Digital Twin</a:t>
            </a:r>
          </a:p>
          <a:p xmlns:a="http://schemas.openxmlformats.org/drawingml/2006/main">
            <a:pPr algn="ctr">
              <a:def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</p:spTree>
    <p:extLst>
      <p:ext uri="{BB962C8B-B14F-4D97-AF65-F5344CB8AC3E}">
        <p14:creationId xmlns:p14="http://schemas.microsoft.com/office/powerpoint/2010/main" val="1331298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B2B52-66F6-4EF1-8551-5C41A1C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ACD6C-CA3C-4037-9C4C-4A01627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个人能力总览：数字孪生 × AI Agent × B端业务闭环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278D7-26F2-4DA4-8242-9D065D65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不是单点AI功能，而是把物理世界数据、AI能力边界和B端交付闭环连接起来。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413A0-6478-44EB-8822-B8551ADA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D8E79-1588-446E-9D84-76A01ED2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35242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D32BA-CF29-44D9-96B5-B15BC9B3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数字孪生底座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9C7B0-AAA0-4CEA-9F79-020FB2B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C78DE-B567-4403-82FA-07A4D46E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设备资产 / 空间语义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7FC2B-F0E4-4A8C-80E1-919A618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18314-E323-47C8-B75C-3045D4C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 / BMS / 时序数据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D6B96-8DDE-4F53-977E-07A8441E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2F528-571B-4F92-BE50-6B31256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3D场景 / DFS数据融合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12789-3A6D-43AA-88A7-B1B39D77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35242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39978-0609-4E05-B080-9A19671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AI产品设计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F0A95-99FB-4216-A4E0-ACCE663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29DFC-264B-437C-8017-7210F97E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Agent / RAG / 工具调用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B414A-E9F1-4812-9326-506EA918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BAFF-09C9-4E50-92A2-72FB0D4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知识库 / SOP / 模板库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BCB74-51D2-4B36-A17B-B9B6683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F3375-FAF4-44C5-AD6D-C0811E3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290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置信度 / 人审 / 兜底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076A8-F8E7-4616-B870-552446BB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35242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B753C-5958-4E16-8C99-D470C81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B端闭环推进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53F92-778E-4EFF-A602-853295B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7B6AA-7261-4BEB-A154-B9690B6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0-1范围取舍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418EB-FF84-4575-B8A3-A7CBC6D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C1A36-8AAF-45D5-91CF-A9A05ED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PRD / 状态机 / 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10BC0-BC49-425A-8860-597A3CE0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0CDBF-352D-41A2-98AB-E617A07B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交付风险与可审计性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E4AB5-88CD-4A3A-B11C-717EA46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能力落点：把AI能力嵌入设施运维主流程，而不是停留在概念演示。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3170A-E084-4ECE-A7E0-93404E7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488436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B4BF2-23D3-4628-80DA-9C807E4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8A2FD-C55A-4049-B474-61A25F98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主案例总览：设施运维 AI Agent / Inspector 0-1案例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1A42A-99DA-43A8-B54A-2FC3437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主案例讲深一条链路：告警触发到工单执行回写，而不是做一个孤立聊天框。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F0942-3E0C-4C58-B027-2B06FC7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865CB-4A68-424B-A0B0-1FE7780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F9484-7D8C-45C1-A05E-3C023F48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告警触发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D7EE1-5AF9-4A91-B9A3-1E06F87E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74C94-3BDB-4214-B464-8EBAD76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907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4AD6B-2C57-416F-A004-9AC2791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AI辅助诊断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AACA5-B29D-429B-92D1-5EA8C98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907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ABD99-54D9-465C-925A-EB9E03A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064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30582-8AAF-4A71-92B1-A61A0BB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264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方案筹备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65B79-A505-413C-9C69-03C316B4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064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3E293-1847-4C48-B6D4-740BE9A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221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13669-50D0-477F-A2AB-074CA4E4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421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BAF36-9993-42A6-90AE-ED699D8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221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E996D-01EF-458A-A628-B4EE92C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379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75127-145E-4FA4-B04B-1436397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579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DBC00-C428-449B-8B91-86BD029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379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57CA9-F8E1-471B-BEB4-A768F2A2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1F4C5-1DD2-420B-BC99-7F072DA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736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4C3F7-D2BC-41FD-A0E0-0EBC4E1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536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A5D59-8A91-4114-B9FD-EC92FBC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693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406A4-3F57-4D92-8C27-0A85436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893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结果回写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0E416-9697-47CA-902E-4DA251D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693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2DECF-2F59-4D0A-9A57-681C0E9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36BD4-42E3-46AC-9B27-5562748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SOP沉淀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D1EC4-812E-4739-9617-F64DC5A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83A9D-88EA-4F0D-B652-4E4548C1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角色：运维经理、一线维修人员、实施/交付团队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C5347-3894-4269-823C-16DCDCD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75E4B-183C-4AFE-8E9A-2726B71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阶段表达：Demo / MVP / 产品化需分开说明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6432E1-94EB-4062-B7EF-C2335190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92DEB-948E-402E-B5E3-DD8D678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910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支撑案例：DFS / Designer 只用于证明数据与空间底座能力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9CF08-B032-4173-8972-754A65D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支撑案例只承担“数据与空间底座”证明，不与主案例抢叙事重心。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9EE3BB-02DC-439C-AE1A-51238F1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546321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3928A-B2D5-4D9B-B21F-06BDB818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AE63D-639C-41FD-B17A-CBFB50E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业务痛点：为什么传统设施运维“有告警还不够”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B7912-A422-402A-9276-FE3BBDB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告警只是异常信号，不等于诊断，更不等于可执行工单。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79056-F7FF-4F89-9AA8-EFE9119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3B19C-A297-42F5-86E4-F454E7C1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传统链路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E8DB8-10A1-4750-89CE-1E6469EF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62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目标闭环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704C9-645B-4059-A8D2-09F7054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F6"/>
          </a:solidFill>
          <a:ln xmlns:a="http://schemas.openxmlformats.org/drawingml/2006/main" w="9525">
            <a:solidFill>
              <a:srgbClr val="E6C8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237FD-8F5D-44D1-9A26-6C162C95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C8D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89038-23E5-4E2E-943D-95792BF5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08603-1BD0-44A6-BCCC-7F851E4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告警只能提示“发生了什么”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1787A-CA1F-4B1D-BB3F-E31147B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408ED-9173-403F-8908-9DD8596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718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台账、历史工单、SOP、时序数据分散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2E203-1850-4015-B684-A5D078D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49BBC-A317-46DA-B18B-4E55FD9C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维修依赖专家经验，结果难复盘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201D6-189D-4FA2-A629-E6473DE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25AD5-18A1-4456-874F-9B73D764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管理侧缺少重复故障与成本归因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67BE0-4160-48DC-9AF8-2500E284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B5E81-F9E6-49CD-985A-858A4397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异常事件归并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22977-8904-4029-B0B3-6D8E77A7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D98D-8FEE-4DD2-AA23-51A5E47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根因与证据展示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09124-275D-40EB-9C2B-DB1433E4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61219-BA4C-42B8-B623-0E2497A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方案和工单草稿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3F50F-F26A-4C41-9C38-5796320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A64EF-A81D-49A5-B61C-0ADCE39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529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执行回写与知识沉淀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FA47A-D480-4BB2-8CBC-CC9B55B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333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0CD5D-218C-4934-B475-9931407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956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2A77D-3628-4483-9788-4030F4E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把“异常提示”升级为“可诊断、可派工、可执行、可复盘”的任务对象。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C9BE2-0924-40BA-B001-DA479881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83316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5B49A-FFEC-4F6C-A10E-30BBFB3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55582-F700-4EDF-A44D-77F6BAB4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0-1产品判断：为什么第一阶段切“告警到工单闭环”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CAB98-E763-4860-92F7-44296E47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0-1不是先做大平台，而是选择最短、最可验收、最能证明价值的业务闭环。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A8AD-9F18-4EB2-8FD9-304A2E98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86DF3-91FA-4E9B-AB8D-1CBB555D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BCA0D-F5AD-43D6-9EE1-64C788E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原始问题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C86C-5CB2-4881-8CF0-1A8F93D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954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C5FD4-58C6-468E-BFD1-8B90682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383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设施运维项目定制重；告警、资产、工单和知识沉淀割裂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6F93A-9B1A-48F7-8323-FE408F1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1FDF2-84D3-4BE7-81D3-0EFC368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36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不先做大平台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680CA-6A6D-4B04-BC7D-750644C9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371EE-30E8-46AA-B230-BC0A144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范围过大、数据接入不稳、算法效果难一次证明、交付周期拉长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42DBB-30BC-42A3-80C6-28A023DD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07085-8F33-4AB7-B1C1-592F0EF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切入选择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2C65D-B0C0-44C5-8A72-AEC2D90D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DDFC9-E60D-4E0E-9980-2092B2B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909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告警到工单高频刚需；用户角色、输入输出和验收路径清晰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D8EF8-47AD-4E55-96D7-CE40D8E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9A8B1-2083-4B9F-9F92-B97928E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风险降低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868F4-1E12-40B1-88AB-BA513DF5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243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120D5-9245-4ADA-A291-BE0C593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672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先跑通典型设备/场景，再沉淀通用状态机、模板库和Agent规格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91AA4-D322-432D-A55B-69619FF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面试追问要点：我做的不是“功能堆叠”，而是阶段性收敛和风险降低。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7E625-B7C5-4FA6-8CEF-0D1B97EF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282810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B21963-6366-4E5D-B12F-C8A0283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C92A6-C41F-49CB-9C8B-2EDB88A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MVP范围取舍：保留什么、砍掉什么、如何控风险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D27CB-F77C-40F6-8BD0-16B31D33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第一阶段要让闭环跑通，而不是把所有自动化一次做完。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08E4-1378-4B16-B7BD-B53ECD7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99D06-96DC-43BF-857F-BC31C3D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57550" cy="3429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1A0EA-4C2E-4F2B-8069-49A3B6B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MVP保留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FE99A-B12D-45FB-A374-64DF9AB8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C1F6F-BE16-4849-A6BD-495EFC0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告警归并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DD149-6C99-4C09-8B26-EE051A0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DFDE7-098A-457A-9C8A-B6C9E913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诊断建议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06AEC-093E-4F7E-BE11-0FD184A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833E6-0633-4486-9F71-87E3A15D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6961A-42DF-4639-B78A-43E2F08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A2A68-54B3-4E51-AE21-E649C22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F8ECC-7BFE-4227-A614-1E317A34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68A83-4AED-47F0-8490-1C00C3D0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8FDBE-1074-4FFA-95AC-216746C5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91EE1-5089-4810-B1A1-97E9911F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907A3-91FA-41FD-BE3C-05597671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57550" cy="3429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FD04E-86B2-402C-A4A9-9FDF1BD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rPr>
              <a:t>延后验证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0699A-6A64-4A4C-B6A7-D953B68D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16EDD-E59E-4D1C-88FB-3CE52C0C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67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全设备覆盖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FC968-89C2-4975-A056-7D32C5D3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56DB7-2636-46A3-B7F5-18D25590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复杂库存扣减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77A94-7484-4CF0-B4EC-C46BAF5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02B7B-894A-47E8-B21E-1501A9E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814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全面预测性维护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7167D-C962-4786-A5CF-CC9A6BE4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89955-8161-40D2-83A1-0D23F4B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长期算法训练闭环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9B95D-BA6C-4702-972C-64B49DD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257550" cy="3429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8F6"/>
          </a:solidFill>
          <a:ln xmlns:a="http://schemas.openxmlformats.org/drawingml/2006/main" w="9525">
            <a:solidFill>
              <a:srgbClr val="B24A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A40894-2664-4E2C-90E7-B96F026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禁止自动化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4A34FE-C2A3-4AF6-AD35-1D2E258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38252-7B06-488C-A7A4-084AE6B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自动派单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E3F14-DC93-4558-B6A8-CCD4985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4E5F7-FCD9-4A53-A6FD-92D668D3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自动控制设备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589EAC-DE1E-4862-8984-58EBE69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99D9C-2A3C-4736-BFAB-D9495A5A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绕过审批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93C118-A89F-45B2-9BCB-B3B365A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9AAD6C-65F1-4E77-ABEA-D733BC3D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低置信度强行定结论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36B5E6-48AC-4C93-8FDF-3E9F884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核心原则：AI先生成建议和草稿，人确认后进入执行。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D2F1E-9BFF-413F-ACEA-47E6472C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936457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553B5-7595-42B3-B3C5-EF0D8B49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13E9A-9419-4D0C-A8E9-D1BC9A1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业务闭环设计：告警触发到执行回写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C4D54-7212-4229-9B59-55EAF20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每一步都有业务对象、输入输出和责任人，AI输出必须能进入工单流程。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622F2-9B5F-4F29-84B4-9076A9D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1B840-2704-414C-BA68-AF9E920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B39F7-8C7A-4E21-9051-5BB22F0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B2D60-EE34-4260-A5ED-A7F9423C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BA950-49AD-492B-8A78-B884FAB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336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9ACF5-DBBE-41D8-9B79-729AA4C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536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异常事件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A0BE6-CB45-441E-93F7-E671BF9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86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4F6E3-E59C-4B4C-84F9-C253EF3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771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FA88C-F4B8-48AA-A833-E6A5B250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21593-9B9F-406A-B999-12A9BD98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821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E1EB1-EC82-4C08-BDCC-5CB0645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FDBCD-7354-4B68-B4A0-8EC0CED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07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54511-406A-4CAE-93C4-823F331E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257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902EF-D68A-414F-A414-6EB91A8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43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AF5E7-0FF6-4540-9870-F2104A81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43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E6373-CD8C-4121-98AA-F1DD3C9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693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10547-0B7D-4529-A389-66B579C3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079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60C5A-4198-4AF2-BD7E-C6FDE8A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279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确认派发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80AD7-FE34-4B12-B168-EA9318F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129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3C2CD-331D-41AC-AFAE-ED97C4A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514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34E2D-54E3-4832-83C0-8F5F5BD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714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1CFEC-A263-4F48-8500-4842C6D3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564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BC80E-2E3D-48F3-8C43-F467AE48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EC1F0-EF52-4F49-BBA6-02C9934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回写入库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5F242-177C-407D-9F2C-163E9FD2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53659-FBE6-4469-91FB-808D79BA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31433-FB62-4B6F-BBE5-D6D73AE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归并 / 设备上下文 / 状态流转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D38B4-9E1C-4F36-8B16-94E4C88C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58C45-8075-4D66-A5C3-288B4D8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3A463-8B5B-43D5-99FB-36957D67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解释 / 推荐 / 结构化草稿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D53C8-0765-4B8A-9187-6E6D9D2A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EF4AD-057F-4D31-AEFD-C86350F4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3603C-C625-49BD-B603-1E80D28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确认 / 执行 / 验收 / 修正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9702C-DE5F-4878-9764-994B8F97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闭环验收不是“AI能回答”，而是草稿、确认、执行、验收、回写都能跑通。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7E3576-2719-4D62-8D4F-220C9258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224986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E96A1-6DA3-45F9-90CC-99F255DC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878E1-8801-4A44-B2E9-45C04341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 Agent产品设计：输入、工具、输出、人审与兜底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CA775-A7B2-488F-8E4F-ACC4A62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AI设计要讲清楚输入是什么、调用什么、输出如何进入流程、错误怎么处理。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682DF-BEC3-4D28-A9C5-46C9836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FAAE-ADD3-4F55-A846-A7D3AAAF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7DA0C-4DFE-428E-A4A1-599265D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C8294-DD45-4CA9-A633-3F4D5F2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6CDFE-EA16-405F-B3BB-F43B916F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alert_id / device_id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CFC3C-CA4C-43C7-9A21-2F0DA8E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398A7-8BD7-40A7-B034-6A3B8745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时序数据 / 台账 / 历史工单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B4890-7754-4C77-BB53-729C84C1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AE629-3EEC-407C-A378-1958FC2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 / 知识库 / 3D位置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264B9-09C3-49BD-BF8A-8976D993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C8B5A-6B03-4207-820F-7FC78795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646E1-DC25-477B-9377-2CC250F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F024F-7491-4C06-8EB6-BEBB124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遥测查询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A7EEC-FC07-440C-8755-F526E0F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6B92E-B10F-4349-9769-B547DE32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维修履历查询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EC3FA-795C-4952-A2BB-63165133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74944-27AE-40F8-90EB-61F8591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RAG检索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2151A-4646-4B9B-BBCC-36F424C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F96FE-0239-40AC-858C-EADAD21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模板 / 库存 / 排班 / 草稿保存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57464-0EAA-43AA-890B-6BDF111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8E077-A27A-47AA-B880-0B3D81F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1B1BA-B609-4FD1-AF1C-1A5D5B1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0B22B-3A37-443E-8101-8E98380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可能根因 / 证据 / 排除项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36A20-3C51-4A9E-9E1D-6B8612B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882B9-DF47-4A65-AD74-0DFBE35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置信度 / 缺失信息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E716B-0114-443A-ACD3-0FEF98F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1C615-81DF-4567-9A67-E7327C3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步骤 / 备件 / 安全提示 / 草稿字段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6361F-E232-4189-AFB6-8B65C6D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4A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1A0A6-1700-4D3E-8FA5-F649A39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人审与兜底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7B1CF-0674-4057-82D9-9512656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8109A2-3C9D-4665-AF10-B69A9273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主管确认后派发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E53D13-0F40-496F-AAFF-60EA8A33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4880C-D49A-4692-A638-E16A2AFD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053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低置信度转人工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CE43E5-8BE6-4A47-840B-72E422F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743480-0E01-4214-9919-A2016609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910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缺数据只输出检查项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23FE9-101E-44CC-9945-288B37D2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PM重点：定义Agent的触发、上下文、结构化输出、人工确认点与失败降级。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4F88C-DE90-40D5-9FF7-03E4ADC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738629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25E9E-4C95-40CC-B8F4-8CEFA76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F6271-AF69-448C-AEF6-B83568F6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工单与SOP产品化：状态机、模板库、审批与知识沉淀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34A28-EB4D-463F-8108-A717C5C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AI的输出必须落到工单、SOP、审批和复盘里，否则无法产品化。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B767E-6675-41FF-BF2E-0112EC2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7B7D5-4288-4BAC-B42E-1FE631D3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F2C1-0D36-4AFD-A748-0EC3DD45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0BF6D-420D-4819-8BBC-10D78919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2A351-507F-41DF-8030-BCB47EEC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5B371-25DD-43D4-A6E6-698D8B6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待指派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7621E-7DCC-4B89-8AA5-D69ED3D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E348D-E375-45FD-B71B-DD871D3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FE69-9C6A-4481-8D72-29F803D2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待执行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57428-C1A4-4704-8823-E33E3ED9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4FA68-FA95-4AB7-8142-A4C0A95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1054-9908-4103-9EA0-95FFBE65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164C1-1736-4D58-A9E1-26B9D64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9AD7B-ACD1-442D-81D3-A38AD53C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C894F-4AAC-4870-8033-7F9A82C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待验收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B4559-FEA1-4A41-8058-E9E9E1C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99172-B3D4-463E-B221-2602968F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55E39-26AC-422A-8AD6-863BF3C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已关闭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36463-4E6C-461A-BDB6-8974876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715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75252-BC67-4185-9524-72C2CF8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来源：手动、告警、故障提报、点巡检、预防性维护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56754-2A9E-403E-9EEF-46337A8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64CED-605D-467B-AFC8-3C262B6F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模板库：有效步骤可一键沉淀，支持版本、发布、停用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2B556-2D19-4594-9F81-DFF289FF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E04FD-CE6E-4B89-AD0E-B60F723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回写字段：真实根因、处置方式、耗时、备件、SOP是否有效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A26D7-7038-45D5-B81D-0DD3CEA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283F3-BAD8-40C1-8716-F00963A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81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AI不能止于“回答”，必须转成任务、责任人、步骤和验收标准。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E5974E-C91F-4BCB-9FC7-60806AB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542026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DB2F8-358D-4437-873A-621BEAE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6988-388C-4140-ABE0-1089F2F8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数据与系统架构：IoT、资产、知识库、工单、3D、DFS关系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3FD51-3096-4544-925E-55FBF22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AI Agent依赖数字孪生和数据底座提供上下文，不是凭空生成建议。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8B985-92D4-40A9-912C-C1AD9AFD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5CE8D-363C-4A1F-8000-65443D98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596EA-25A5-4BD5-B7C3-104E2E9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物理与数据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75551-E86B-4D23-9470-C22B34F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02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 / BMS / DFS / 时序 / 告警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EC197-6568-4899-A5DC-362B028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C2CEC-DE6C-4B8D-928A-41C5F9D5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C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7762D-D740-4EFB-929D-D32D7019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业务对象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7432E-1874-493A-B585-A59BB44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765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设备资产 / 空间 / 台账 / 历史工单 / SOP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B6194-6792-461C-B305-0FB5F89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5753B-700B-4958-A3AA-66D48DA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69CC0-EEE2-4323-A37D-F2D0E27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2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AI编排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BB2B8-D218-4BB1-B5C2-81C0076C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528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诊断Agent / 方案Agent / 工单Agent /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C7C67-CBB0-4A35-AA6E-38105B42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B4CC4-62FE-4833-B782-958CE366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3E560-A203-46C9-8F8C-33AE150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29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业务执行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9CEC1-5936-4279-9D13-B9A43D1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Inspector工单 / 3D定位 / 移动执行 / 回写复盘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20E76-68C4-4E6D-8A26-F7E0391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表达边界：DFS/Designer是数据与空间语义底座，不包装成独立AI主案例。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724BA-B432-4BE2-A0C5-102E30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749779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2A874-CCD5-46F4-A67C-C1BEF0E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6E424-F81B-4F9B-B3A6-7C8DD00E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交互与可视化：看板、诊断面板、工单草稿、3D定位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8B8D-4143-429B-AC52-9D4CAE2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B端AI交互要让用户快速判断：哪里出问题、为什么、下一步怎么做、是否可信。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7001-43E4-47A1-AF95-1E2479A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9A712-A864-419C-9CC0-279C3B7B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07F4E-C33D-42A4-AA1A-1338F76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4589B-EECD-474A-83F6-6BC9D53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C61B4-10D6-4F5E-8FB8-462BC4F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运维看板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592B4-21CF-4512-B936-45A9B2F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异常事件、风险等级、影响区域、响应时限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70536-559D-4B87-A1DA-A85F550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5A013-F5D2-4C16-A3EF-A593265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0E3F7-0B01-4C5F-B3CC-2AED6E5A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ABFF2-AEE1-45BE-8941-3B77C706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设备详情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A14DC-4C0C-4DFE-841D-D4FB2A1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实时/历史曲线、台账、历史工单、3D位置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0430A-4569-4196-B874-B50D676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21D7D-4287-4EE8-BD20-6894B661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93195-DBAB-405D-982F-8C3D9B4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49FCC-F9A5-45D0-9F6F-727C16E7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诊断面板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ACB1B-5AD1-4266-A9D1-4C4380BC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结论、证据、排除项、置信度、引用来源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63B5B-E3D8-4B2C-8C0C-A774277D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C4507-8B16-4C16-AA4F-F480006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B2B72-606B-4A62-8926-A73E0D1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0D6E3-C59B-48EB-8FB8-6745B73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62917-471D-4B90-824B-9C52185E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字段预填、SOP步骤、备件、执行人、验收标准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FA23D-D032-433B-B556-DECF29F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现场人员更需要“结论、证据、下一步动作”，而不是一整段AI长报告。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5569E-6F12-4270-87D0-2AF2B38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818622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392E4-7FD6-4ABC-A5E6-15901438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48BAC-72AA-4C05-9BE6-13029CD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Vibe Coding实践：产品验证工具，而非替代研发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8D41F-CE8C-4110-AFE2-C6104AF1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Vibe Coding用于快速验证流程、状态机、页面交互和需求遗漏，不是生产交付方式。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FF106-12E0-4FEF-BDAA-33DFADA4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C5703-F5E5-43E1-84E4-6DEFEE5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63714-C3AF-4E56-94A9-BEF2A78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20AFB-03AA-47D7-9E3B-E18D894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AE990-0C8E-481A-9B22-FD39DB4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输入物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63731-CFD9-4A51-9B01-454483F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验证过程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496E8-518B-4404-BB55-8DA19DC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输出物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2CA8F-0FFD-4089-A0F9-39B4F3A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2F10B-4E13-4029-BA66-5C1929AC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FD1CE-CD71-484E-89D5-E911CFC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B6010-E97A-49C0-8AEF-3FEFA225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43225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流程图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33358-064F-4F1B-A2F5-CEC45E8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C28AA-2817-419D-BCE3-B13A44F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D130A-6418-493C-B3E9-8E52371B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A66A3-802F-44FA-85E8-77610E4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33775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字段假设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CC168-924A-4E4B-B4C9-3145DF0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503C4-A793-4B5D-8860-C0133E1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UI规则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059BC-566A-4098-A89F-907C734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09A88-3C4F-4E81-8BD6-9770F19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24325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SOP步骤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02D58-28D2-46B5-BA0E-8ECF2874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71974-B4DC-4215-B50D-853B6ED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工单状态是否闭合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7E132-7449-44EC-BCB9-22948F10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8B6E7-9C92-4223-9194-CFF0B7A2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AI输出字段是否足够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3BB5B-B146-4B03-B876-167AC66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392A0-BBB8-4CE1-87B4-217A868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低置信度/加载/异常状态是否遗漏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C03F0-97E0-4F23-9C72-8AD4B44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29325-2466-4EA9-83B3-7E1A361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可交互原型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8743A-6B8B-49B7-8658-142583AE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296D4-C89C-44AA-A277-DF06C6FC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流程验证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78EFC-6D48-4357-90D2-023250B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BC210-FC2F-4426-87F7-1D70984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边界问题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46C9C0-21A5-4F7D-BEE6-4B29B3F7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7F7BDB-E232-4587-B4A2-C5211E34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状态遗漏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21AA61-01AA-41A8-B4FB-7CC2F1FE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8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BE2E80-3EFC-452B-BD10-291AA52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研发对齐材料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BEAF13-D862-4F71-8865-EEBA622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A36A7E-BE8B-4ECF-8F8E-EC9331C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F10C03-0D09-4C8A-A054-6414934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00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保守口径：产品原型验证 / 方案可行性验证 / PRD到交互原型的快速闭环方法。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69D569-D4DC-4EA9-A876-997BE0B6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4242965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055C9-3C48-45D2-9640-71EEB2D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AA771-74D0-4191-A246-8C8F51F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支撑案例：DFS / Designer / 3D / IoT数字孪生底座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6AA27-1AAA-4C00-9579-8BE9B60B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支撑案例证明我理解AI Agent背后的物理世界数字化底座。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EAC0B-AADC-4B41-A51B-A6ABC22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6D390-69B9-494E-93AE-ABDC8D9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2DFAC-FD53-4A02-8649-659BC56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物理设备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F193F-D99F-4A38-BE53-55E2112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4AD9D-A6DF-4865-8F87-3FDB3D9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2B8E4-6668-4B48-A4C4-23FBFA7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IoT/MQTT/Node-RED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D9CAF-66F9-4279-91ED-548BF72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C70B8-A0E0-4D78-B1C6-14556E81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CEA35-53F2-4922-9066-28DAB6D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DFS接入与清洗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133F7-1995-4EC7-9230-8F055FAD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C572C-8C31-4092-A673-47249E14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F2DE0-7901-41BF-A00A-E790D09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孪生体属性绑定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C7C47-EBB8-4D7D-A53E-021B7F79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76468-2D0C-4E85-A009-1A6D4C4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18EC0-5533-45ED-A2D4-CE4B81E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3D场景/看板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F0388-0E83-4BED-BBD7-1966EEBB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CEC5C-BEBC-4162-9AC4-CA8A1F6B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306F1-9F5F-46E7-8B9B-3DCE078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AI诊断上下文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965E8-EA41-4FDC-9C5F-959D1A63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857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F5D7F-54B5-4A60-92D4-B2536BD8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EAB67-A834-4A92-9C6E-DFDAE5D5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Designer：3D场景、设备/孪生体、空间语义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F736E-44EC-46EA-AAE7-851577E4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1E2FE-A179-419E-973E-249CB9C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960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DFS：数据接入、时序、看板、数据探索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7CC30-251D-4D25-82FB-7C78AA7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44E3F-D0E2-4F4B-B5EF-A3ABC677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价值：为Inspector Agent提供设备上下文、空间定位和数据来源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676A7-02A4-43E0-A57A-9A3924A0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讲法：不是第二个主案例，而是说明AI诊断需要数据、空间和业务对象上下文。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CB47F-A71B-4638-AF24-59F8E101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842250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109B0-D7B7-4C4C-A121-4BF7D981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D7D01-3C48-4FF6-9CA7-2E7E467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总结与证据：为什么我适合这个岗位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FFA5-4F85-486D-B81E-4C8F9CA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我能把场景、数据、AI、流程和交付边界连起来，并主动区分已验证事实与待补数据。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2A24C-4044-4F23-ADAC-212C9C3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FFA2A-BE74-471E-907E-FEC1D0CA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ABA8A-68EF-41A6-96A9-0DC17361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岗位匹配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0398E-E71F-4BF6-92A7-F6EE4EA8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7D717-2D50-4CD0-AF19-BD1A247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设施运维 / 工业互联网业务闭环理解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E323-32D2-427F-8ABF-366A9E7D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76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AE9A9-F26B-4BCC-A23A-09FCAB03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IoT、设备资产、3D、DFS、数字孪生底座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A733A-18A1-485E-AE8B-FB77329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22CAF-2592-4ABC-8249-ACF790A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 Agent输入输出、人审、审计、兜底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64DE6-C306-4755-B237-20ECD03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BA176-4C00-4A6D-8F3C-6CC40C7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Vibe Coding提升产品验证效率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80AD1-5890-44EE-A2E7-0C41780C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3F68F-634D-4154-9CF8-F26EF71B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证据充分性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64981-8841-4D56-A6D9-C2B630F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已有资料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164B0-9A4D-4EEC-9BE9-CAC6874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PRD、工单/模板库资料、DFS/Designer资料、面试复盘稿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186AE-504A-41B6-ACA8-B756421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需补充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71B2B-AFFC-4C8B-9A34-0006B452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脱敏截图、客户反馈、验收记录、可公开指标、过程记录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5D409-9198-4D56-8E60-0226645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rPr>
              <a:t>保守表达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034BF-133D-4725-B8DB-48A229B6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48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Demo/MVP/产品化分层；无证据指标标注待补充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C39E9-1151-4AE7-9CD9-BDCD6AD9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不写无法证明的ROI、准确率和成本下降；需要时标注“待补充验证数据”。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E36AC-1EC1-41AC-851F-29A374E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739034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2026-06-16T07:20:58.9940000Z</dcterms:created>
  <dcterms:modified xsi:type="dcterms:W3CDTF">2026-06-16T07:20:58.9940000Z</dcterms:modified>
</coreProperties>
</file>